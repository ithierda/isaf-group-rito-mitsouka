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client is Les Rito Mitsouka, a dating app. We build the engine that decides which pairs it recommends.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THE PROBLEM. Who should the app recommend, and what exactly do we predict?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 interpretability, stability, fairness. The whole talk is about which of the three the client should put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Predicting the match directly loses six points of top decile rate. The two stage form is both more accurate and easier to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DATA AND METHOD. What we use, and how we make sure the number we promise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rated during the date leaks the answer. Removing those 108 columns costs nothing: the grouped score even improves.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is launching, so every user is new. The grouped number is the only one that describes that situation.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PERFORMANCE. What the engine is worth, in match rate and in euros.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one pair takes 2.4 microseconds, so compute is not the constraint. The price is set by what users will pay, and we model the low end of the market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to close the performance question. Say plainly that the three engines tie, then move on to what actually separates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economic performance lives: a cost matrix turns these rows into euros once the client gives us the value of a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INTERPRETABILITY. Why a pair reaches the shortlist, globally and one pair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female is the one large effect: women say yes far less often. Everything else is small and additive, which is exactly what a transparent baseline should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global method has to be picked it is XPER: the client asks where the skill comes from, not where the tree looked. Permutation importance puts race first for TabPFN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STABILITY. Does the engine say the same thing after a retraining?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anchored retraining costs almost nothing in accuracy and halves the drift, which is the trade off we recommend.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6: FAIRNESS. Who gets recommended, and does the engine amplify what users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Descriptive preference is data about users. Amplification is a property of our engine, and that is the part we are accountable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before the jury asks: XGBoost is the fairest of the three, and switching costs about one point of top decile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7: RECOMMENDATION. What to deploy, and how you can test it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in order. The first three are what we would do on day one, the last four are how the client keeps the engine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move the shortlist length and watch the match rate and the amplification move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3C8"/>
        </a:solidFill>
      </p:bgPr>
    </p:bg>
    <p:spTree>
      <p:nvGrpSpPr>
        <p:cNvPr id="1" name=""/>
        <p:cNvGrpSpPr/>
        <p:nvPr/>
      </p:nvGrpSpPr>
      <p:grpSpPr>
        <a:xfrm>
          <a:off x="0" y="0"/>
          <a:ext cx="0" cy="0"/>
          <a:chOff x="0" y="0"/>
          <a:chExt cx="0" cy="0"/>
        </a:xfrm>
      </p:grpSpPr>
      <p:pic>
        <p:nvPicPr>
          <p:cNvPr id="2" name="Image 0" descr="/home/claude/isaf-group-rito-mitsouka/assets/logo/horizontal_transparent.png">    </p:cNvPr>
          <p:cNvPicPr>
            <a:picLocks noChangeAspect="1"/>
          </p:cNvPicPr>
          <p:nvPr/>
        </p:nvPicPr>
        <p:blipFill>
          <a:blip r:embed="rId1"/>
          <a:stretch>
            <a:fillRect/>
          </a:stretch>
        </p:blipFill>
        <p:spPr>
          <a:xfrm>
            <a:off x="3108960" y="1051560"/>
            <a:ext cx="5943600" cy="1801368"/>
          </a:xfrm>
          <a:prstGeom prst="rect">
            <a:avLst/>
          </a:prstGeom>
        </p:spPr>
      </p:pic>
      <p:sp>
        <p:nvSpPr>
          <p:cNvPr id="3" name="Text 0"/>
          <p:cNvSpPr txBox="1"/>
          <p:nvPr/>
        </p:nvSpPr>
        <p:spPr>
          <a:xfrm>
            <a:off x="731520" y="3246120"/>
            <a:ext cx="10725912" cy="1005840"/>
          </a:xfrm>
          <a:prstGeom prst="rect">
            <a:avLst/>
          </a:prstGeom>
          <a:noFill/>
          <a:ln/>
        </p:spPr>
        <p:txBody>
          <a:bodyPr wrap="square" lIns="0" tIns="0" rIns="0" bIns="0" rtlCol="0" anchor="ctr"/>
          <a:lstStyle/>
          <a:p>
            <a:pPr algn="ctr" indent="0" marL="0">
              <a:lnSpc>
                <a:spcPct val="125000"/>
              </a:lnSpc>
              <a:buNone/>
            </a:pPr>
            <a:r>
              <a:rPr lang="en-US" sz="2000" dirty="0">
                <a:solidFill>
                  <a:srgbClr val="FFFFFF"/>
                </a:solidFill>
                <a:latin typeface="Impact" pitchFamily="34" charset="0"/>
                <a:ea typeface="Impact" pitchFamily="34" charset="-122"/>
                <a:cs typeface="Impact" pitchFamily="34" charset="-120"/>
              </a:rPr>
              <a:t>HOW DATA-DRIVEN RECOMMENDATIONS CAN IMPROVE MATCH QUALITY</a:t>
            </a:r>
            <a:endParaRPr lang="en-US" sz="2000" dirty="0"/>
          </a:p>
          <a:p>
            <a:pPr algn="ctr" indent="0" marL="0">
              <a:lnSpc>
                <a:spcPct val="125000"/>
              </a:lnSpc>
              <a:buNone/>
            </a:pPr>
            <a:r>
              <a:rPr lang="en-US" sz="2000" dirty="0">
                <a:solidFill>
                  <a:srgbClr val="FFFFFF"/>
                </a:solidFill>
                <a:latin typeface="Impact" pitchFamily="34" charset="0"/>
                <a:ea typeface="Impact" pitchFamily="34" charset="-122"/>
                <a:cs typeface="Impact" pitchFamily="34" charset="-120"/>
              </a:rPr>
              <a:t>WHILE PROTECTING USER TRUST ?</a:t>
            </a:r>
            <a:endParaRPr lang="en-US" sz="2000" dirty="0"/>
          </a:p>
        </p:txBody>
      </p:sp>
      <p:sp>
        <p:nvSpPr>
          <p:cNvPr id="4" name="Text 1"/>
          <p:cNvSpPr txBox="1"/>
          <p:nvPr/>
        </p:nvSpPr>
        <p:spPr>
          <a:xfrm>
            <a:off x="1097280" y="4434840"/>
            <a:ext cx="9994392" cy="320040"/>
          </a:xfrm>
          <a:prstGeom prst="rect">
            <a:avLst/>
          </a:prstGeom>
          <a:noFill/>
          <a:ln/>
        </p:spPr>
        <p:txBody>
          <a:bodyPr wrap="square" lIns="0" tIns="0" rIns="0" bIns="0" rtlCol="0" anchor="ctr"/>
          <a:lstStyle/>
          <a:p>
            <a:pPr algn="ctr" indent="0" marL="0">
              <a:buNone/>
            </a:pPr>
            <a:r>
              <a:rPr lang="en-US" sz="1400" dirty="0">
                <a:solidFill>
                  <a:srgbClr val="FFD709"/>
                </a:solidFill>
                <a:latin typeface="Trebuchet MS" pitchFamily="34" charset="0"/>
                <a:ea typeface="Trebuchet MS" pitchFamily="34" charset="-122"/>
                <a:cs typeface="Trebuchet MS" pitchFamily="34" charset="-120"/>
              </a:rPr>
              <a:t>Interpretability, Stability &amp; Algorithmic Fairness  ·  X-HEC M2</a:t>
            </a:r>
            <a:endParaRPr lang="en-US" sz="1400" dirty="0"/>
          </a:p>
        </p:txBody>
      </p:sp>
      <p:sp>
        <p:nvSpPr>
          <p:cNvPr id="5" name="Text 2"/>
          <p:cNvSpPr txBox="1"/>
          <p:nvPr/>
        </p:nvSpPr>
        <p:spPr>
          <a:xfrm>
            <a:off x="1097280" y="5029200"/>
            <a:ext cx="9994392" cy="274320"/>
          </a:xfrm>
          <a:prstGeom prst="rect">
            <a:avLst/>
          </a:prstGeom>
          <a:noFill/>
          <a:ln/>
        </p:spPr>
        <p:txBody>
          <a:bodyPr wrap="square" lIns="0" tIns="0" rIns="0" bIns="0" rtlCol="0" anchor="ctr"/>
          <a:lstStyle/>
          <a:p>
            <a:pPr algn="ctr" indent="0" marL="0">
              <a:buNone/>
            </a:pPr>
            <a:r>
              <a:rPr lang="en-US" sz="1250" dirty="0">
                <a:solidFill>
                  <a:srgbClr val="FFFFFF"/>
                </a:solidFill>
                <a:latin typeface="Trebuchet MS" pitchFamily="34" charset="0"/>
                <a:ea typeface="Trebuchet MS" pitchFamily="34" charset="-122"/>
                <a:cs typeface="Trebuchet MS" pitchFamily="34" charset="-120"/>
              </a:rPr>
              <a:t>Alec Seugnet · Simone Capizzi · Celia Morais · Julian Fix · Ithier d'Aramon · Justin Martin</a:t>
            </a:r>
            <a:endParaRPr lang="en-US" sz="1250" dirty="0"/>
          </a:p>
        </p:txBody>
      </p:sp>
      <p:sp>
        <p:nvSpPr>
          <p:cNvPr id="6" name="Text 3"/>
          <p:cNvSpPr txBox="1"/>
          <p:nvPr/>
        </p:nvSpPr>
        <p:spPr>
          <a:xfrm>
            <a:off x="1097280" y="5349240"/>
            <a:ext cx="9994392" cy="274320"/>
          </a:xfrm>
          <a:prstGeom prst="rect">
            <a:avLst/>
          </a:prstGeom>
          <a:noFill/>
          <a:ln/>
        </p:spPr>
        <p:txBody>
          <a:bodyPr wrap="square" lIns="0" tIns="0" rIns="0" bIns="0" rtlCol="0" anchor="ctr"/>
          <a:lstStyle/>
          <a:p>
            <a:pPr algn="ctr" indent="0" marL="0">
              <a:buNone/>
            </a:pPr>
            <a:r>
              <a:rPr lang="en-US" sz="1250" dirty="0">
                <a:solidFill>
                  <a:srgbClr val="FFFFFF"/>
                </a:solidFill>
                <a:latin typeface="Trebuchet MS" pitchFamily="34" charset="0"/>
                <a:ea typeface="Trebuchet MS" pitchFamily="34" charset="-122"/>
                <a:cs typeface="Trebuchet MS" pitchFamily="34" charset="-120"/>
              </a:rPr>
              <a:t>28 September 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33C8"/>
        </a:solidFill>
      </p:bgPr>
    </p:bg>
    <p:spTree>
      <p:nvGrpSpPr>
        <p:cNvPr id="1" name=""/>
        <p:cNvGrpSpPr/>
        <p:nvPr/>
      </p:nvGrpSpPr>
      <p:grpSpPr>
        <a:xfrm>
          <a:off x="0" y="0"/>
          <a:ext cx="0" cy="0"/>
          <a:chOff x="0" y="0"/>
          <a:chExt cx="0" cy="0"/>
        </a:xfrm>
      </p:grpSpPr>
      <p:sp>
        <p:nvSpPr>
          <p:cNvPr id="2" name="Text 0"/>
          <p:cNvSpPr txBox="1"/>
          <p:nvPr/>
        </p:nvSpPr>
        <p:spPr>
          <a:xfrm>
            <a:off x="640080" y="2240280"/>
            <a:ext cx="2011680" cy="1737360"/>
          </a:xfrm>
          <a:prstGeom prst="rect">
            <a:avLst/>
          </a:prstGeom>
          <a:noFill/>
          <a:ln/>
        </p:spPr>
        <p:txBody>
          <a:bodyPr wrap="square" lIns="0" tIns="0" rIns="0" bIns="0" rtlCol="0" anchor="ctr"/>
          <a:lstStyle/>
          <a:p>
            <a:pPr indent="0" marL="0">
              <a:buNone/>
            </a:pPr>
            <a:r>
              <a:rPr lang="en-US" sz="9600" dirty="0">
                <a:solidFill>
                  <a:srgbClr val="FFD709"/>
                </a:solidFill>
                <a:latin typeface="Impact" pitchFamily="34" charset="0"/>
                <a:ea typeface="Impact" pitchFamily="34" charset="-122"/>
                <a:cs typeface="Impact" pitchFamily="34" charset="-120"/>
              </a:rPr>
              <a:t>01</a:t>
            </a:r>
            <a:endParaRPr lang="en-US" sz="9600" dirty="0"/>
          </a:p>
        </p:txBody>
      </p:sp>
      <p:sp>
        <p:nvSpPr>
          <p:cNvPr id="3" name="Text 1"/>
          <p:cNvSpPr txBox="1"/>
          <p:nvPr/>
        </p:nvSpPr>
        <p:spPr>
          <a:xfrm>
            <a:off x="2651760" y="2468880"/>
            <a:ext cx="5120640" cy="822960"/>
          </a:xfrm>
          <a:prstGeom prst="rect">
            <a:avLst/>
          </a:prstGeom>
          <a:noFill/>
          <a:ln/>
        </p:spPr>
        <p:txBody>
          <a:bodyPr wrap="square" lIns="0" tIns="0" rIns="0" bIns="0" rtlCol="0" anchor="ctr"/>
          <a:lstStyle/>
          <a:p>
            <a:pPr indent="0" marL="0">
              <a:buNone/>
            </a:pPr>
            <a:r>
              <a:rPr lang="en-US" sz="3600" dirty="0">
                <a:solidFill>
                  <a:srgbClr val="FFFFFF"/>
                </a:solidFill>
                <a:latin typeface="Impact" pitchFamily="34" charset="0"/>
                <a:ea typeface="Impact" pitchFamily="34" charset="-122"/>
                <a:cs typeface="Impact" pitchFamily="34" charset="-120"/>
              </a:rPr>
              <a:t>THE PROBLEM</a:t>
            </a:r>
            <a:endParaRPr lang="en-US" sz="3600" dirty="0"/>
          </a:p>
        </p:txBody>
      </p:sp>
      <p:sp>
        <p:nvSpPr>
          <p:cNvPr id="4" name="Text 2"/>
          <p:cNvSpPr txBox="1"/>
          <p:nvPr/>
        </p:nvSpPr>
        <p:spPr>
          <a:xfrm>
            <a:off x="2697480" y="3310128"/>
            <a:ext cx="5120640" cy="731520"/>
          </a:xfrm>
          <a:prstGeom prst="rect">
            <a:avLst/>
          </a:prstGeom>
          <a:noFill/>
          <a:ln/>
        </p:spPr>
        <p:txBody>
          <a:bodyPr wrap="square" lIns="0" tIns="0" rIns="0" bIns="0" rtlCol="0" anchor="ctr"/>
          <a:lstStyle/>
          <a:p>
            <a:pPr indent="0" marL="0">
              <a:buNone/>
            </a:pPr>
            <a:r>
              <a:rPr lang="en-US" sz="1400" dirty="0">
                <a:solidFill>
                  <a:srgbClr val="C9CFF5"/>
                </a:solidFill>
                <a:latin typeface="Trebuchet MS" pitchFamily="34" charset="0"/>
                <a:ea typeface="Trebuchet MS" pitchFamily="34" charset="-122"/>
                <a:cs typeface="Trebuchet MS" pitchFamily="34" charset="-120"/>
              </a:rPr>
              <a:t>Who should the app recommend, and what exactly do we predict?</a:t>
            </a:r>
            <a:endParaRPr lang="en-US" sz="1400" dirty="0"/>
          </a:p>
        </p:txBody>
      </p:sp>
      <p:sp>
        <p:nvSpPr>
          <p:cNvPr id="5" name="Shape 3"/>
          <p:cNvSpPr/>
          <p:nvPr/>
        </p:nvSpPr>
        <p:spPr>
          <a:xfrm>
            <a:off x="7635240" y="1344168"/>
            <a:ext cx="3913632" cy="475488"/>
          </a:xfrm>
          <a:prstGeom prst="roundRect">
            <a:avLst>
              <a:gd name="adj" fmla="val 15385"/>
            </a:avLst>
          </a:prstGeom>
          <a:solidFill>
            <a:srgbClr val="FFD709"/>
          </a:solidFill>
          <a:ln w="12700">
            <a:solidFill>
              <a:srgbClr val="FFD709"/>
            </a:solidFill>
            <a:prstDash val="solid"/>
          </a:ln>
        </p:spPr>
      </p:sp>
      <p:sp>
        <p:nvSpPr>
          <p:cNvPr id="6" name="Text 4"/>
          <p:cNvSpPr txBox="1"/>
          <p:nvPr/>
        </p:nvSpPr>
        <p:spPr>
          <a:xfrm>
            <a:off x="7863840" y="1344168"/>
            <a:ext cx="3657600" cy="475488"/>
          </a:xfrm>
          <a:prstGeom prst="rect">
            <a:avLst/>
          </a:prstGeom>
          <a:noFill/>
          <a:ln/>
        </p:spPr>
        <p:txBody>
          <a:bodyPr wrap="square" lIns="0" tIns="0" rIns="0" bIns="0" rtlCol="0" anchor="ctr"/>
          <a:lstStyle/>
          <a:p>
            <a:pPr indent="0" marL="0">
              <a:buNone/>
            </a:pPr>
            <a:r>
              <a:rPr lang="en-US" sz="1300" b="1" dirty="0">
                <a:solidFill>
                  <a:srgbClr val="101014"/>
                </a:solidFill>
                <a:latin typeface="Trebuchet MS" pitchFamily="34" charset="0"/>
                <a:ea typeface="Trebuchet MS" pitchFamily="34" charset="-122"/>
                <a:cs typeface="Trebuchet MS" pitchFamily="34" charset="-120"/>
              </a:rPr>
              <a:t>01   THE PROBLEM</a:t>
            </a:r>
            <a:endParaRPr lang="en-US" sz="1300" dirty="0"/>
          </a:p>
        </p:txBody>
      </p:sp>
      <p:sp>
        <p:nvSpPr>
          <p:cNvPr id="7" name="Text 5"/>
          <p:cNvSpPr txBox="1"/>
          <p:nvPr/>
        </p:nvSpPr>
        <p:spPr>
          <a:xfrm>
            <a:off x="7863840" y="1911096"/>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02   DATA AND METHOD</a:t>
            </a:r>
            <a:endParaRPr lang="en-US" sz="1300" dirty="0"/>
          </a:p>
        </p:txBody>
      </p:sp>
      <p:sp>
        <p:nvSpPr>
          <p:cNvPr id="8" name="Text 6"/>
          <p:cNvSpPr txBox="1"/>
          <p:nvPr/>
        </p:nvSpPr>
        <p:spPr>
          <a:xfrm>
            <a:off x="7863840" y="2478024"/>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03   PERFORMANCE</a:t>
            </a:r>
            <a:endParaRPr lang="en-US" sz="1300" dirty="0"/>
          </a:p>
        </p:txBody>
      </p:sp>
      <p:sp>
        <p:nvSpPr>
          <p:cNvPr id="9" name="Text 7"/>
          <p:cNvSpPr txBox="1"/>
          <p:nvPr/>
        </p:nvSpPr>
        <p:spPr>
          <a:xfrm>
            <a:off x="7863840" y="3044952"/>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04   INTERPRETABILITY</a:t>
            </a:r>
            <a:endParaRPr lang="en-US" sz="1300" dirty="0"/>
          </a:p>
        </p:txBody>
      </p:sp>
      <p:sp>
        <p:nvSpPr>
          <p:cNvPr id="10" name="Text 8"/>
          <p:cNvSpPr txBox="1"/>
          <p:nvPr/>
        </p:nvSpPr>
        <p:spPr>
          <a:xfrm>
            <a:off x="7863840" y="3611880"/>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05   STABILITY</a:t>
            </a:r>
            <a:endParaRPr lang="en-US" sz="1300" dirty="0"/>
          </a:p>
        </p:txBody>
      </p:sp>
      <p:sp>
        <p:nvSpPr>
          <p:cNvPr id="11" name="Text 9"/>
          <p:cNvSpPr txBox="1"/>
          <p:nvPr/>
        </p:nvSpPr>
        <p:spPr>
          <a:xfrm>
            <a:off x="7863840" y="4178808"/>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06   FAIRNESS</a:t>
            </a:r>
            <a:endParaRPr lang="en-US" sz="1300" dirty="0"/>
          </a:p>
        </p:txBody>
      </p:sp>
      <p:sp>
        <p:nvSpPr>
          <p:cNvPr id="12" name="Text 10"/>
          <p:cNvSpPr txBox="1"/>
          <p:nvPr/>
        </p:nvSpPr>
        <p:spPr>
          <a:xfrm>
            <a:off x="7863840" y="4745736"/>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07   RECOMMENDATION</a:t>
            </a:r>
            <a:endParaRPr lang="en-US" sz="1300" dirty="0"/>
          </a:p>
        </p:txBody>
      </p:sp>
      <p:pic>
        <p:nvPicPr>
          <p:cNvPr id="13" name="Image 0" descr="/home/claude/isaf-group-rito-mitsouka/assets/logo/icon_transparent.png">    </p:cNvPr>
          <p:cNvPicPr>
            <a:picLocks noChangeAspect="1"/>
          </p:cNvPicPr>
          <p:nvPr/>
        </p:nvPicPr>
        <p:blipFill>
          <a:blip r:embed="rId1"/>
          <a:stretch>
            <a:fillRect/>
          </a:stretch>
        </p:blipFill>
        <p:spPr>
          <a:xfrm>
            <a:off x="10771632" y="6035040"/>
            <a:ext cx="777240" cy="3200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57200"/>
            <a:ext cx="9994392" cy="512064"/>
          </a:xfrm>
          <a:prstGeom prst="rect">
            <a:avLst/>
          </a:prstGeom>
          <a:noFill/>
          <a:ln/>
        </p:spPr>
        <p:txBody>
          <a:bodyPr wrap="square" lIns="0" tIns="0" rIns="0" bIns="0" rtlCol="0" anchor="ctr"/>
          <a:lstStyle/>
          <a:p>
            <a:pPr indent="0" marL="0">
              <a:buNone/>
            </a:pPr>
            <a:r>
              <a:rPr lang="en-US" sz="2600" dirty="0">
                <a:solidFill>
                  <a:srgbClr val="1E33C8"/>
                </a:solidFill>
                <a:latin typeface="Impact" pitchFamily="34" charset="0"/>
                <a:ea typeface="Impact" pitchFamily="34" charset="-122"/>
                <a:cs typeface="Impact" pitchFamily="34" charset="-120"/>
              </a:rPr>
              <a:t>RECOMMENDING WELL NEARLY DOUBLES THE MATCH RATE</a:t>
            </a:r>
            <a:endParaRPr lang="en-US" sz="2600" dirty="0"/>
          </a:p>
        </p:txBody>
      </p:sp>
      <p:pic>
        <p:nvPicPr>
          <p:cNvPr id="3" name="Image 0" descr="/home/claude/isaf-group-rito-mitsouka/assets/logo/icon_transparent.png">    </p:cNvPr>
          <p:cNvPicPr>
            <a:picLocks noChangeAspect="1"/>
          </p:cNvPicPr>
          <p:nvPr/>
        </p:nvPicPr>
        <p:blipFill>
          <a:blip r:embed="rId1"/>
          <a:stretch>
            <a:fillRect/>
          </a:stretch>
        </p:blipFill>
        <p:spPr>
          <a:xfrm>
            <a:off x="10771632" y="411480"/>
            <a:ext cx="777240" cy="320040"/>
          </a:xfrm>
          <a:prstGeom prst="rect">
            <a:avLst/>
          </a:prstGeom>
        </p:spPr>
      </p:pic>
      <p:sp>
        <p:nvSpPr>
          <p:cNvPr id="4" name="Text 1"/>
          <p:cNvSpPr txBox="1"/>
          <p:nvPr/>
        </p:nvSpPr>
        <p:spPr>
          <a:xfrm>
            <a:off x="640080" y="969264"/>
            <a:ext cx="10908792" cy="365760"/>
          </a:xfrm>
          <a:prstGeom prst="rect">
            <a:avLst/>
          </a:prstGeom>
          <a:noFill/>
          <a:ln/>
        </p:spPr>
        <p:txBody>
          <a:bodyPr wrap="square" lIns="0" tIns="0" rIns="0" bIns="0" rtlCol="0" anchor="ctr"/>
          <a:lstStyle/>
          <a:p>
            <a:pPr indent="0" marL="0">
              <a:buNone/>
            </a:pPr>
            <a:r>
              <a:rPr lang="en-US" sz="1500" dirty="0">
                <a:solidFill>
                  <a:srgbClr val="6B6F80"/>
                </a:solidFill>
                <a:latin typeface="Trebuchet MS" pitchFamily="34" charset="0"/>
                <a:ea typeface="Trebuchet MS" pitchFamily="34" charset="-122"/>
                <a:cs typeface="Trebuchet MS" pitchFamily="34" charset="-120"/>
              </a:rPr>
              <a:t>Who should the app recommend to whom?</a:t>
            </a:r>
            <a:endParaRPr lang="en-US" sz="1500" dirty="0"/>
          </a:p>
        </p:txBody>
      </p:sp>
      <p:sp>
        <p:nvSpPr>
          <p:cNvPr id="5" name="Shape 2"/>
          <p:cNvSpPr/>
          <p:nvPr/>
        </p:nvSpPr>
        <p:spPr>
          <a:xfrm>
            <a:off x="640080" y="5760720"/>
            <a:ext cx="10908792" cy="731520"/>
          </a:xfrm>
          <a:prstGeom prst="roundRect">
            <a:avLst>
              <a:gd name="adj" fmla="val 15000"/>
            </a:avLst>
          </a:prstGeom>
          <a:solidFill>
            <a:srgbClr val="FFD709"/>
          </a:solidFill>
          <a:ln w="12700">
            <a:solidFill>
              <a:srgbClr val="FFD709"/>
            </a:solidFill>
            <a:prstDash val="solid"/>
          </a:ln>
        </p:spPr>
      </p:sp>
      <p:sp>
        <p:nvSpPr>
          <p:cNvPr id="6" name="Text 3"/>
          <p:cNvSpPr txBox="1"/>
          <p:nvPr/>
        </p:nvSpPr>
        <p:spPr>
          <a:xfrm>
            <a:off x="914400" y="5760720"/>
            <a:ext cx="10360152" cy="731520"/>
          </a:xfrm>
          <a:prstGeom prst="rect">
            <a:avLst/>
          </a:prstGeom>
          <a:noFill/>
          <a:ln/>
        </p:spPr>
        <p:txBody>
          <a:bodyPr wrap="square" lIns="0" tIns="0" rIns="0" bIns="0" rtlCol="0" anchor="ctr"/>
          <a:lstStyle/>
          <a:p>
            <a:pPr algn="ctr" indent="0" marL="0">
              <a:buNone/>
            </a:pPr>
            <a:r>
              <a:rPr lang="en-US" sz="1400" b="1" dirty="0">
                <a:solidFill>
                  <a:srgbClr val="101014"/>
                </a:solidFill>
                <a:latin typeface="Trebuchet MS" pitchFamily="34" charset="0"/>
                <a:ea typeface="Trebuchet MS" pitchFamily="34" charset="-122"/>
                <a:cs typeface="Trebuchet MS" pitchFamily="34" charset="-120"/>
              </a:rPr>
              <a:t>MATCHING IS SUBJECTIVE, BUT LONG: USERS JUST NEED A BETTER SHORTLIST.</a:t>
            </a:r>
            <a:endParaRPr lang="en-US" sz="1400" dirty="0"/>
          </a:p>
        </p:txBody>
      </p:sp>
      <p:sp>
        <p:nvSpPr>
          <p:cNvPr id="7" name="Shape 4"/>
          <p:cNvSpPr/>
          <p:nvPr/>
        </p:nvSpPr>
        <p:spPr>
          <a:xfrm>
            <a:off x="640080" y="1645920"/>
            <a:ext cx="4206240" cy="3566160"/>
          </a:xfrm>
          <a:prstGeom prst="roundRect">
            <a:avLst>
              <a:gd name="adj" fmla="val 2051"/>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8" name="Text 5"/>
          <p:cNvSpPr txBox="1"/>
          <p:nvPr/>
        </p:nvSpPr>
        <p:spPr>
          <a:xfrm>
            <a:off x="868680" y="1828800"/>
            <a:ext cx="3749040" cy="320040"/>
          </a:xfrm>
          <a:prstGeom prst="rect">
            <a:avLst/>
          </a:prstGeom>
          <a:noFill/>
          <a:ln/>
        </p:spPr>
        <p:txBody>
          <a:bodyPr wrap="square" lIns="0" tIns="0" rIns="0" bIns="0" rtlCol="0" anchor="ctr"/>
          <a:lstStyle/>
          <a:p>
            <a:pPr algn="ctr" indent="0" marL="0">
              <a:buNone/>
            </a:pPr>
            <a:r>
              <a:rPr lang="en-US" sz="1300" b="1" dirty="0">
                <a:solidFill>
                  <a:srgbClr val="101014"/>
                </a:solidFill>
                <a:latin typeface="Trebuchet MS" pitchFamily="34" charset="0"/>
                <a:ea typeface="Trebuchet MS" pitchFamily="34" charset="-122"/>
                <a:cs typeface="Trebuchet MS" pitchFamily="34" charset="-120"/>
              </a:rPr>
              <a:t>Large catalogue of profiles</a:t>
            </a:r>
            <a:endParaRPr lang="en-US" sz="1300" dirty="0"/>
          </a:p>
        </p:txBody>
      </p:sp>
      <p:sp>
        <p:nvSpPr>
          <p:cNvPr id="9" name="Shape 6"/>
          <p:cNvSpPr/>
          <p:nvPr/>
        </p:nvSpPr>
        <p:spPr>
          <a:xfrm flipV="1">
            <a:off x="1508760" y="2286000"/>
            <a:ext cx="2468880" cy="1600200"/>
          </a:xfrm>
          <a:prstGeom prst="trapezoid">
            <a:avLst/>
          </a:prstGeom>
          <a:solidFill>
            <a:srgbClr val="1E33C8"/>
          </a:solidFill>
          <a:ln w="12700">
            <a:solidFill>
              <a:srgbClr val="1E33C8"/>
            </a:solidFill>
            <a:prstDash val="solid"/>
          </a:ln>
        </p:spPr>
      </p:sp>
      <p:sp>
        <p:nvSpPr>
          <p:cNvPr id="10" name="Text 7"/>
          <p:cNvSpPr txBox="1"/>
          <p:nvPr/>
        </p:nvSpPr>
        <p:spPr>
          <a:xfrm>
            <a:off x="1508760" y="2514600"/>
            <a:ext cx="2468880" cy="731520"/>
          </a:xfrm>
          <a:prstGeom prst="rect">
            <a:avLst/>
          </a:prstGeom>
          <a:noFill/>
          <a:ln/>
        </p:spPr>
        <p:txBody>
          <a:bodyPr wrap="square" lIns="0" tIns="0" rIns="0" bIns="0" rtlCol="0" anchor="ctr"/>
          <a:lstStyle/>
          <a:p>
            <a:pPr algn="ctr" indent="0" marL="0">
              <a:buNone/>
            </a:pPr>
            <a:r>
              <a:rPr lang="en-US" sz="1250" b="1" dirty="0">
                <a:solidFill>
                  <a:srgbClr val="FFFFFF"/>
                </a:solidFill>
                <a:latin typeface="Trebuchet MS" pitchFamily="34" charset="0"/>
                <a:ea typeface="Trebuchet MS" pitchFamily="34" charset="-122"/>
                <a:cs typeface="Trebuchet MS" pitchFamily="34" charset="-120"/>
              </a:rPr>
              <a:t>RECOMMENDATION</a:t>
            </a:r>
            <a:endParaRPr lang="en-US" sz="1250" dirty="0"/>
          </a:p>
          <a:p>
            <a:pPr algn="ctr" indent="0" marL="0">
              <a:buNone/>
            </a:pPr>
            <a:r>
              <a:rPr lang="en-US" sz="1250" b="1" dirty="0">
                <a:solidFill>
                  <a:srgbClr val="FFFFFF"/>
                </a:solidFill>
                <a:latin typeface="Trebuchet MS" pitchFamily="34" charset="0"/>
                <a:ea typeface="Trebuchet MS" pitchFamily="34" charset="-122"/>
                <a:cs typeface="Trebuchet MS" pitchFamily="34" charset="-120"/>
              </a:rPr>
              <a:t>ENGINE</a:t>
            </a:r>
            <a:endParaRPr lang="en-US" sz="1250" dirty="0"/>
          </a:p>
        </p:txBody>
      </p:sp>
      <p:sp>
        <p:nvSpPr>
          <p:cNvPr id="11" name="Shape 8"/>
          <p:cNvSpPr/>
          <p:nvPr/>
        </p:nvSpPr>
        <p:spPr>
          <a:xfrm>
            <a:off x="2514600" y="3931920"/>
            <a:ext cx="457200" cy="502920"/>
          </a:xfrm>
          <a:prstGeom prst="downArrow">
            <a:avLst/>
          </a:prstGeom>
          <a:solidFill>
            <a:srgbClr val="1E33C8"/>
          </a:solidFill>
          <a:ln w="12700">
            <a:solidFill>
              <a:srgbClr val="1E33C8"/>
            </a:solidFill>
            <a:prstDash val="solid"/>
          </a:ln>
        </p:spPr>
      </p:sp>
      <p:sp>
        <p:nvSpPr>
          <p:cNvPr id="12" name="Shape 9"/>
          <p:cNvSpPr/>
          <p:nvPr/>
        </p:nvSpPr>
        <p:spPr>
          <a:xfrm>
            <a:off x="2148840" y="4480560"/>
            <a:ext cx="1188720" cy="411480"/>
          </a:xfrm>
          <a:prstGeom prst="rect">
            <a:avLst/>
          </a:prstGeom>
          <a:solidFill>
            <a:srgbClr val="FFD709"/>
          </a:solidFill>
          <a:ln w="12700">
            <a:solidFill>
              <a:srgbClr val="FFD709"/>
            </a:solidFill>
            <a:prstDash val="solid"/>
          </a:ln>
        </p:spPr>
      </p:sp>
      <p:sp>
        <p:nvSpPr>
          <p:cNvPr id="13" name="Text 10"/>
          <p:cNvSpPr txBox="1"/>
          <p:nvPr/>
        </p:nvSpPr>
        <p:spPr>
          <a:xfrm>
            <a:off x="2057400" y="4480560"/>
            <a:ext cx="1371600" cy="411480"/>
          </a:xfrm>
          <a:prstGeom prst="rect">
            <a:avLst/>
          </a:prstGeom>
          <a:noFill/>
          <a:ln/>
        </p:spPr>
        <p:txBody>
          <a:bodyPr wrap="square" lIns="0" tIns="0" rIns="0" bIns="0" rtlCol="0" anchor="ctr"/>
          <a:lstStyle/>
          <a:p>
            <a:pPr algn="ctr" indent="0" marL="0">
              <a:buNone/>
            </a:pPr>
            <a:r>
              <a:rPr lang="en-US" sz="1150" b="1" dirty="0">
                <a:solidFill>
                  <a:srgbClr val="101014"/>
                </a:solidFill>
                <a:latin typeface="Trebuchet MS" pitchFamily="34" charset="0"/>
                <a:ea typeface="Trebuchet MS" pitchFamily="34" charset="-122"/>
                <a:cs typeface="Trebuchet MS" pitchFamily="34" charset="-120"/>
              </a:rPr>
              <a:t>SHORTLIST</a:t>
            </a:r>
            <a:endParaRPr lang="en-US" sz="1150" dirty="0"/>
          </a:p>
        </p:txBody>
      </p:sp>
      <p:sp>
        <p:nvSpPr>
          <p:cNvPr id="14" name="Text 11"/>
          <p:cNvSpPr txBox="1"/>
          <p:nvPr/>
        </p:nvSpPr>
        <p:spPr>
          <a:xfrm>
            <a:off x="5120640" y="1645920"/>
            <a:ext cx="6428232" cy="411480"/>
          </a:xfrm>
          <a:prstGeom prst="rect">
            <a:avLst/>
          </a:prstGeom>
          <a:noFill/>
          <a:ln/>
        </p:spPr>
        <p:txBody>
          <a:bodyPr wrap="square" lIns="0" tIns="0" rIns="0" bIns="0" rtlCol="0" anchor="ctr"/>
          <a:lstStyle/>
          <a:p>
            <a:pPr algn="ctr" indent="0" marL="0">
              <a:buNone/>
            </a:pPr>
            <a:r>
              <a:rPr lang="en-US" sz="2000" dirty="0">
                <a:solidFill>
                  <a:srgbClr val="1E33C8"/>
                </a:solidFill>
                <a:latin typeface="Impact" pitchFamily="34" charset="0"/>
                <a:ea typeface="Impact" pitchFamily="34" charset="-122"/>
                <a:cs typeface="Impact" pitchFamily="34" charset="-120"/>
              </a:rPr>
              <a:t>3 CANDIDATE ENGINES</a:t>
            </a:r>
            <a:endParaRPr lang="en-US" sz="2000" dirty="0"/>
          </a:p>
        </p:txBody>
      </p:sp>
      <p:sp>
        <p:nvSpPr>
          <p:cNvPr id="15" name="Shape 12"/>
          <p:cNvSpPr/>
          <p:nvPr/>
        </p:nvSpPr>
        <p:spPr>
          <a:xfrm>
            <a:off x="5120640" y="2148840"/>
            <a:ext cx="2011680" cy="914400"/>
          </a:xfrm>
          <a:prstGeom prst="roundRect">
            <a:avLst>
              <a:gd name="adj" fmla="val 8000"/>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6" name="Text 13"/>
          <p:cNvSpPr txBox="1"/>
          <p:nvPr/>
        </p:nvSpPr>
        <p:spPr>
          <a:xfrm>
            <a:off x="5120640" y="2148840"/>
            <a:ext cx="2011680" cy="914400"/>
          </a:xfrm>
          <a:prstGeom prst="rect">
            <a:avLst/>
          </a:prstGeom>
          <a:noFill/>
          <a:ln/>
        </p:spPr>
        <p:txBody>
          <a:bodyPr wrap="square" lIns="0" tIns="0" rIns="0" bIns="0" rtlCol="0" anchor="ctr"/>
          <a:lstStyle/>
          <a:p>
            <a:pPr algn="ctr" indent="0" marL="0">
              <a:buNone/>
            </a:pPr>
            <a:r>
              <a:rPr lang="en-US" sz="1200" b="1" dirty="0">
                <a:solidFill>
                  <a:srgbClr val="1E33C8"/>
                </a:solidFill>
                <a:latin typeface="Trebuchet MS" pitchFamily="34" charset="0"/>
                <a:ea typeface="Trebuchet MS" pitchFamily="34" charset="-122"/>
                <a:cs typeface="Trebuchet MS" pitchFamily="34" charset="-120"/>
              </a:rPr>
              <a:t>LASSO LOGISTIC</a:t>
            </a:r>
            <a:endParaRPr lang="en-US" sz="1200" dirty="0"/>
          </a:p>
          <a:p>
            <a:pPr algn="ctr" indent="0" marL="0">
              <a:buNone/>
            </a:pPr>
            <a:r>
              <a:rPr lang="en-US" sz="1200" b="1" dirty="0">
                <a:solidFill>
                  <a:srgbClr val="1E33C8"/>
                </a:solidFill>
                <a:latin typeface="Trebuchet MS" pitchFamily="34" charset="0"/>
                <a:ea typeface="Trebuchet MS" pitchFamily="34" charset="-122"/>
                <a:cs typeface="Trebuchet MS" pitchFamily="34" charset="-120"/>
              </a:rPr>
              <a:t>REGRESSION</a:t>
            </a:r>
            <a:endParaRPr lang="en-US" sz="1200" dirty="0"/>
          </a:p>
        </p:txBody>
      </p:sp>
      <p:sp>
        <p:nvSpPr>
          <p:cNvPr id="17" name="Shape 14"/>
          <p:cNvSpPr/>
          <p:nvPr/>
        </p:nvSpPr>
        <p:spPr>
          <a:xfrm>
            <a:off x="7328916" y="2148840"/>
            <a:ext cx="2011680" cy="914400"/>
          </a:xfrm>
          <a:prstGeom prst="roundRect">
            <a:avLst>
              <a:gd name="adj" fmla="val 8000"/>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8" name="Text 15"/>
          <p:cNvSpPr txBox="1"/>
          <p:nvPr/>
        </p:nvSpPr>
        <p:spPr>
          <a:xfrm>
            <a:off x="7328916" y="2148840"/>
            <a:ext cx="2011680" cy="914400"/>
          </a:xfrm>
          <a:prstGeom prst="rect">
            <a:avLst/>
          </a:prstGeom>
          <a:noFill/>
          <a:ln/>
        </p:spPr>
        <p:txBody>
          <a:bodyPr wrap="square" lIns="0" tIns="0" rIns="0" bIns="0" rtlCol="0" anchor="ctr"/>
          <a:lstStyle/>
          <a:p>
            <a:pPr algn="ctr" indent="0" marL="0">
              <a:buNone/>
            </a:pPr>
            <a:r>
              <a:rPr lang="en-US" sz="1200" b="1" dirty="0">
                <a:solidFill>
                  <a:srgbClr val="1E33C8"/>
                </a:solidFill>
                <a:latin typeface="Trebuchet MS" pitchFamily="34" charset="0"/>
                <a:ea typeface="Trebuchet MS" pitchFamily="34" charset="-122"/>
                <a:cs typeface="Trebuchet MS" pitchFamily="34" charset="-120"/>
              </a:rPr>
              <a:t>XGBOOST</a:t>
            </a:r>
            <a:endParaRPr lang="en-US" sz="1200" dirty="0"/>
          </a:p>
        </p:txBody>
      </p:sp>
      <p:sp>
        <p:nvSpPr>
          <p:cNvPr id="19" name="Shape 16"/>
          <p:cNvSpPr/>
          <p:nvPr/>
        </p:nvSpPr>
        <p:spPr>
          <a:xfrm>
            <a:off x="9537192" y="2148840"/>
            <a:ext cx="2011680" cy="914400"/>
          </a:xfrm>
          <a:prstGeom prst="roundRect">
            <a:avLst>
              <a:gd name="adj" fmla="val 8000"/>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20" name="Text 17"/>
          <p:cNvSpPr txBox="1"/>
          <p:nvPr/>
        </p:nvSpPr>
        <p:spPr>
          <a:xfrm>
            <a:off x="9537192" y="2148840"/>
            <a:ext cx="2011680" cy="914400"/>
          </a:xfrm>
          <a:prstGeom prst="rect">
            <a:avLst/>
          </a:prstGeom>
          <a:noFill/>
          <a:ln/>
        </p:spPr>
        <p:txBody>
          <a:bodyPr wrap="square" lIns="0" tIns="0" rIns="0" bIns="0" rtlCol="0" anchor="ctr"/>
          <a:lstStyle/>
          <a:p>
            <a:pPr algn="ctr" indent="0" marL="0">
              <a:buNone/>
            </a:pPr>
            <a:r>
              <a:rPr lang="en-US" sz="1200" b="1" dirty="0">
                <a:solidFill>
                  <a:srgbClr val="1E33C8"/>
                </a:solidFill>
                <a:latin typeface="Trebuchet MS" pitchFamily="34" charset="0"/>
                <a:ea typeface="Trebuchet MS" pitchFamily="34" charset="-122"/>
                <a:cs typeface="Trebuchet MS" pitchFamily="34" charset="-120"/>
              </a:rPr>
              <a:t>TABPFN</a:t>
            </a:r>
            <a:endParaRPr lang="en-US" sz="1200" dirty="0"/>
          </a:p>
        </p:txBody>
      </p:sp>
      <p:sp>
        <p:nvSpPr>
          <p:cNvPr id="21" name="Text 18"/>
          <p:cNvSpPr txBox="1"/>
          <p:nvPr/>
        </p:nvSpPr>
        <p:spPr>
          <a:xfrm>
            <a:off x="5120640" y="3154680"/>
            <a:ext cx="6428232" cy="274320"/>
          </a:xfrm>
          <a:prstGeom prst="rect">
            <a:avLst/>
          </a:prstGeom>
          <a:noFill/>
          <a:ln/>
        </p:spPr>
        <p:txBody>
          <a:bodyPr wrap="square" lIns="0" tIns="0" rIns="0" bIns="0" rtlCol="0" anchor="ctr"/>
          <a:lstStyle/>
          <a:p>
            <a:pPr algn="ctr" indent="0" marL="0">
              <a:buNone/>
            </a:pPr>
            <a:r>
              <a:rPr lang="en-US" sz="1200" dirty="0">
                <a:solidFill>
                  <a:srgbClr val="6B6F80"/>
                </a:solidFill>
                <a:latin typeface="Trebuchet MS" pitchFamily="34" charset="0"/>
                <a:ea typeface="Trebuchet MS" pitchFamily="34" charset="-122"/>
                <a:cs typeface="Trebuchet MS" pitchFamily="34" charset="-120"/>
              </a:rPr>
              <a:t>Judged on 4 dimensions: performance, interpretability, stability, fairness.</a:t>
            </a:r>
            <a:endParaRPr lang="en-US" sz="1200" dirty="0"/>
          </a:p>
        </p:txBody>
      </p:sp>
      <p:sp>
        <p:nvSpPr>
          <p:cNvPr id="22" name="Text 19"/>
          <p:cNvSpPr txBox="1"/>
          <p:nvPr/>
        </p:nvSpPr>
        <p:spPr>
          <a:xfrm>
            <a:off x="5120640" y="3566160"/>
            <a:ext cx="6428232" cy="411480"/>
          </a:xfrm>
          <a:prstGeom prst="rect">
            <a:avLst/>
          </a:prstGeom>
          <a:noFill/>
          <a:ln/>
        </p:spPr>
        <p:txBody>
          <a:bodyPr wrap="square" lIns="0" tIns="0" rIns="0" bIns="0" rtlCol="0" anchor="ctr"/>
          <a:lstStyle/>
          <a:p>
            <a:pPr algn="ctr" indent="0" marL="0">
              <a:buNone/>
            </a:pPr>
            <a:r>
              <a:rPr lang="en-US" sz="2000" dirty="0">
                <a:solidFill>
                  <a:srgbClr val="1E33C8"/>
                </a:solidFill>
                <a:latin typeface="Impact" pitchFamily="34" charset="0"/>
                <a:ea typeface="Impact" pitchFamily="34" charset="-122"/>
                <a:cs typeface="Impact" pitchFamily="34" charset="-120"/>
              </a:rPr>
              <a:t>MATCH RATE AMONG THE SHORTLIST</a:t>
            </a:r>
            <a:endParaRPr lang="en-US" sz="2000" dirty="0"/>
          </a:p>
        </p:txBody>
      </p:sp>
      <p:sp>
        <p:nvSpPr>
          <p:cNvPr id="23" name="Shape 20"/>
          <p:cNvSpPr/>
          <p:nvPr/>
        </p:nvSpPr>
        <p:spPr>
          <a:xfrm>
            <a:off x="5120640" y="4069080"/>
            <a:ext cx="3108960" cy="1234440"/>
          </a:xfrm>
          <a:prstGeom prst="roundRect">
            <a:avLst>
              <a:gd name="adj" fmla="val 5926"/>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24" name="Text 21"/>
          <p:cNvSpPr txBox="1"/>
          <p:nvPr/>
        </p:nvSpPr>
        <p:spPr>
          <a:xfrm>
            <a:off x="5120640" y="4187952"/>
            <a:ext cx="3108960" cy="640080"/>
          </a:xfrm>
          <a:prstGeom prst="rect">
            <a:avLst/>
          </a:prstGeom>
          <a:noFill/>
          <a:ln/>
        </p:spPr>
        <p:txBody>
          <a:bodyPr wrap="square" lIns="0" tIns="0" rIns="0" bIns="0" rtlCol="0" anchor="ctr"/>
          <a:lstStyle/>
          <a:p>
            <a:pPr algn="ctr" indent="0" marL="0">
              <a:buNone/>
            </a:pPr>
            <a:r>
              <a:rPr lang="en-US" sz="3000" dirty="0">
                <a:solidFill>
                  <a:srgbClr val="1E33C8"/>
                </a:solidFill>
                <a:latin typeface="Impact" pitchFamily="34" charset="0"/>
                <a:ea typeface="Impact" pitchFamily="34" charset="-122"/>
                <a:cs typeface="Impact" pitchFamily="34" charset="-120"/>
              </a:rPr>
              <a:t>16.5%</a:t>
            </a:r>
            <a:endParaRPr lang="en-US" sz="3000" dirty="0"/>
          </a:p>
        </p:txBody>
      </p:sp>
      <p:sp>
        <p:nvSpPr>
          <p:cNvPr id="25" name="Text 22"/>
          <p:cNvSpPr txBox="1"/>
          <p:nvPr/>
        </p:nvSpPr>
        <p:spPr>
          <a:xfrm>
            <a:off x="5257800" y="4818888"/>
            <a:ext cx="2834640" cy="365760"/>
          </a:xfrm>
          <a:prstGeom prst="rect">
            <a:avLst/>
          </a:prstGeom>
          <a:noFill/>
          <a:ln/>
        </p:spPr>
        <p:txBody>
          <a:bodyPr wrap="square" lIns="0" tIns="0" rIns="0" bIns="0" rtlCol="0" anchor="t"/>
          <a:lstStyle/>
          <a:p>
            <a:pPr algn="ctr" indent="0" marL="0">
              <a:buNone/>
            </a:pPr>
            <a:r>
              <a:rPr lang="en-US" sz="1150" dirty="0">
                <a:solidFill>
                  <a:srgbClr val="6B6F80"/>
                </a:solidFill>
                <a:latin typeface="Trebuchet MS" pitchFamily="34" charset="0"/>
                <a:ea typeface="Trebuchet MS" pitchFamily="34" charset="-122"/>
                <a:cs typeface="Trebuchet MS" pitchFamily="34" charset="-120"/>
              </a:rPr>
              <a:t>with random recommendations</a:t>
            </a:r>
            <a:endParaRPr lang="en-US" sz="1150" dirty="0"/>
          </a:p>
        </p:txBody>
      </p:sp>
      <p:sp>
        <p:nvSpPr>
          <p:cNvPr id="26" name="Shape 23"/>
          <p:cNvSpPr/>
          <p:nvPr/>
        </p:nvSpPr>
        <p:spPr>
          <a:xfrm>
            <a:off x="8439912" y="4069080"/>
            <a:ext cx="3108960" cy="1234440"/>
          </a:xfrm>
          <a:prstGeom prst="roundRect">
            <a:avLst>
              <a:gd name="adj" fmla="val 5926"/>
            </a:avLst>
          </a:prstGeom>
          <a:solidFill>
            <a:srgbClr val="FFD709"/>
          </a:solidFill>
          <a:ln w="12700">
            <a:solidFill>
              <a:srgbClr val="FFD709"/>
            </a:solidFill>
            <a:prstDash val="solid"/>
          </a:ln>
          <a:effectLst>
            <a:outerShdw sx="100000" sy="100000" kx="0" ky="0" algn="bl" rotWithShape="0" blurRad="76200" dist="381" dir="5400000">
              <a:srgbClr val="9096B8">
                <a:alpha val="22000"/>
              </a:srgbClr>
            </a:outerShdw>
          </a:effectLst>
        </p:spPr>
      </p:sp>
      <p:sp>
        <p:nvSpPr>
          <p:cNvPr id="27" name="Text 24"/>
          <p:cNvSpPr txBox="1"/>
          <p:nvPr/>
        </p:nvSpPr>
        <p:spPr>
          <a:xfrm>
            <a:off x="8439912" y="4187952"/>
            <a:ext cx="3108960" cy="640080"/>
          </a:xfrm>
          <a:prstGeom prst="rect">
            <a:avLst/>
          </a:prstGeom>
          <a:noFill/>
          <a:ln/>
        </p:spPr>
        <p:txBody>
          <a:bodyPr wrap="square" lIns="0" tIns="0" rIns="0" bIns="0" rtlCol="0" anchor="ctr"/>
          <a:lstStyle/>
          <a:p>
            <a:pPr algn="ctr" indent="0" marL="0">
              <a:buNone/>
            </a:pPr>
            <a:r>
              <a:rPr lang="en-US" sz="3000" dirty="0">
                <a:solidFill>
                  <a:srgbClr val="101014"/>
                </a:solidFill>
                <a:latin typeface="Impact" pitchFamily="34" charset="0"/>
                <a:ea typeface="Impact" pitchFamily="34" charset="-122"/>
                <a:cs typeface="Impact" pitchFamily="34" charset="-120"/>
              </a:rPr>
              <a:t>up to 29.8%</a:t>
            </a:r>
            <a:endParaRPr lang="en-US" sz="3000" dirty="0"/>
          </a:p>
        </p:txBody>
      </p:sp>
      <p:sp>
        <p:nvSpPr>
          <p:cNvPr id="28" name="Text 25"/>
          <p:cNvSpPr txBox="1"/>
          <p:nvPr/>
        </p:nvSpPr>
        <p:spPr>
          <a:xfrm>
            <a:off x="8577072" y="4818888"/>
            <a:ext cx="2834640" cy="365760"/>
          </a:xfrm>
          <a:prstGeom prst="rect">
            <a:avLst/>
          </a:prstGeom>
          <a:noFill/>
          <a:ln/>
        </p:spPr>
        <p:txBody>
          <a:bodyPr wrap="square" lIns="0" tIns="0" rIns="0" bIns="0" rtlCol="0" anchor="t"/>
          <a:lstStyle/>
          <a:p>
            <a:pPr algn="ctr" indent="0" marL="0">
              <a:buNone/>
            </a:pPr>
            <a:r>
              <a:rPr lang="en-US" sz="1150" dirty="0">
                <a:solidFill>
                  <a:srgbClr val="101014"/>
                </a:solidFill>
                <a:latin typeface="Trebuchet MS" pitchFamily="34" charset="0"/>
                <a:ea typeface="Trebuchet MS" pitchFamily="34" charset="-122"/>
                <a:cs typeface="Trebuchet MS" pitchFamily="34" charset="-120"/>
              </a:rPr>
              <a:t>with our recommendation engine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57200"/>
            <a:ext cx="9994392" cy="512064"/>
          </a:xfrm>
          <a:prstGeom prst="rect">
            <a:avLst/>
          </a:prstGeom>
          <a:noFill/>
          <a:ln/>
        </p:spPr>
        <p:txBody>
          <a:bodyPr wrap="square" lIns="0" tIns="0" rIns="0" bIns="0" rtlCol="0" anchor="ctr"/>
          <a:lstStyle/>
          <a:p>
            <a:pPr indent="0" marL="0">
              <a:buNone/>
            </a:pPr>
            <a:r>
              <a:rPr lang="en-US" sz="2600" dirty="0">
                <a:solidFill>
                  <a:srgbClr val="1E33C8"/>
                </a:solidFill>
                <a:latin typeface="Impact" pitchFamily="34" charset="0"/>
                <a:ea typeface="Impact" pitchFamily="34" charset="-122"/>
                <a:cs typeface="Impact" pitchFamily="34" charset="-120"/>
              </a:rPr>
              <a:t>A MATCH IS 2 DECISIONS, NOT 1</a:t>
            </a:r>
            <a:endParaRPr lang="en-US" sz="2600" dirty="0"/>
          </a:p>
        </p:txBody>
      </p:sp>
      <p:pic>
        <p:nvPicPr>
          <p:cNvPr id="3" name="Image 0" descr="/home/claude/isaf-group-rito-mitsouka/assets/logo/icon_transparent.png">    </p:cNvPr>
          <p:cNvPicPr>
            <a:picLocks noChangeAspect="1"/>
          </p:cNvPicPr>
          <p:nvPr/>
        </p:nvPicPr>
        <p:blipFill>
          <a:blip r:embed="rId1"/>
          <a:stretch>
            <a:fillRect/>
          </a:stretch>
        </p:blipFill>
        <p:spPr>
          <a:xfrm>
            <a:off x="10771632" y="411480"/>
            <a:ext cx="777240" cy="320040"/>
          </a:xfrm>
          <a:prstGeom prst="rect">
            <a:avLst/>
          </a:prstGeom>
        </p:spPr>
      </p:pic>
      <p:sp>
        <p:nvSpPr>
          <p:cNvPr id="4" name="Text 1"/>
          <p:cNvSpPr txBox="1"/>
          <p:nvPr/>
        </p:nvSpPr>
        <p:spPr>
          <a:xfrm>
            <a:off x="640080" y="969264"/>
            <a:ext cx="10908792" cy="365760"/>
          </a:xfrm>
          <a:prstGeom prst="rect">
            <a:avLst/>
          </a:prstGeom>
          <a:noFill/>
          <a:ln/>
        </p:spPr>
        <p:txBody>
          <a:bodyPr wrap="square" lIns="0" tIns="0" rIns="0" bIns="0" rtlCol="0" anchor="ctr"/>
          <a:lstStyle/>
          <a:p>
            <a:pPr indent="0" marL="0">
              <a:buNone/>
            </a:pPr>
            <a:r>
              <a:rPr lang="en-US" sz="1500" dirty="0">
                <a:solidFill>
                  <a:srgbClr val="6B6F80"/>
                </a:solidFill>
                <a:latin typeface="Trebuchet MS" pitchFamily="34" charset="0"/>
                <a:ea typeface="Trebuchet MS" pitchFamily="34" charset="-122"/>
                <a:cs typeface="Trebuchet MS" pitchFamily="34" charset="-120"/>
              </a:rPr>
              <a:t>What exactly does the model predict?</a:t>
            </a:r>
            <a:endParaRPr lang="en-US" sz="1500" dirty="0"/>
          </a:p>
        </p:txBody>
      </p:sp>
      <p:sp>
        <p:nvSpPr>
          <p:cNvPr id="5" name="Shape 2"/>
          <p:cNvSpPr/>
          <p:nvPr/>
        </p:nvSpPr>
        <p:spPr>
          <a:xfrm>
            <a:off x="640080" y="5760720"/>
            <a:ext cx="10908792" cy="731520"/>
          </a:xfrm>
          <a:prstGeom prst="roundRect">
            <a:avLst>
              <a:gd name="adj" fmla="val 15000"/>
            </a:avLst>
          </a:prstGeom>
          <a:solidFill>
            <a:srgbClr val="FFD709"/>
          </a:solidFill>
          <a:ln w="12700">
            <a:solidFill>
              <a:srgbClr val="FFD709"/>
            </a:solidFill>
            <a:prstDash val="solid"/>
          </a:ln>
        </p:spPr>
      </p:sp>
      <p:sp>
        <p:nvSpPr>
          <p:cNvPr id="6" name="Text 3"/>
          <p:cNvSpPr txBox="1"/>
          <p:nvPr/>
        </p:nvSpPr>
        <p:spPr>
          <a:xfrm>
            <a:off x="914400" y="5760720"/>
            <a:ext cx="10360152" cy="731520"/>
          </a:xfrm>
          <a:prstGeom prst="rect">
            <a:avLst/>
          </a:prstGeom>
          <a:noFill/>
          <a:ln/>
        </p:spPr>
        <p:txBody>
          <a:bodyPr wrap="square" lIns="0" tIns="0" rIns="0" bIns="0" rtlCol="0" anchor="ctr"/>
          <a:lstStyle/>
          <a:p>
            <a:pPr algn="ctr" indent="0" marL="0">
              <a:buNone/>
            </a:pPr>
            <a:r>
              <a:rPr lang="en-US" sz="1400" b="1" dirty="0">
                <a:solidFill>
                  <a:srgbClr val="101014"/>
                </a:solidFill>
                <a:latin typeface="Trebuchet MS" pitchFamily="34" charset="0"/>
                <a:ea typeface="Trebuchet MS" pitchFamily="34" charset="-122"/>
                <a:cs typeface="Trebuchet MS" pitchFamily="34" charset="-120"/>
              </a:rPr>
              <a:t>WE PREDICT EACH PERSON SEPARATELY THEN MULTIPLY THE TWO CHANCES.</a:t>
            </a:r>
            <a:endParaRPr lang="en-US" sz="1400" dirty="0"/>
          </a:p>
        </p:txBody>
      </p:sp>
      <p:sp>
        <p:nvSpPr>
          <p:cNvPr id="7" name="Shape 4"/>
          <p:cNvSpPr/>
          <p:nvPr/>
        </p:nvSpPr>
        <p:spPr>
          <a:xfrm>
            <a:off x="960120" y="1965960"/>
            <a:ext cx="2377440" cy="960120"/>
          </a:xfrm>
          <a:prstGeom prst="roundRect">
            <a:avLst>
              <a:gd name="adj" fmla="val 7619"/>
            </a:avLst>
          </a:prstGeom>
          <a:solidFill>
            <a:srgbClr val="1E33C8"/>
          </a:solidFill>
          <a:ln w="12700">
            <a:solidFill>
              <a:srgbClr val="1E33C8"/>
            </a:solidFill>
            <a:prstDash val="solid"/>
          </a:ln>
          <a:effectLst>
            <a:outerShdw sx="100000" sy="100000" kx="0" ky="0" algn="bl" rotWithShape="0" blurRad="76200" dist="381" dir="5400000">
              <a:srgbClr val="9096B8">
                <a:alpha val="22000"/>
              </a:srgbClr>
            </a:outerShdw>
          </a:effectLst>
        </p:spPr>
      </p:sp>
      <p:sp>
        <p:nvSpPr>
          <p:cNvPr id="8" name="Text 5"/>
          <p:cNvSpPr txBox="1"/>
          <p:nvPr/>
        </p:nvSpPr>
        <p:spPr>
          <a:xfrm>
            <a:off x="960120" y="1965960"/>
            <a:ext cx="2377440" cy="96012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SHE SAYS YES</a:t>
            </a:r>
            <a:endParaRPr lang="en-US" sz="1400" dirty="0"/>
          </a:p>
        </p:txBody>
      </p:sp>
      <p:sp>
        <p:nvSpPr>
          <p:cNvPr id="9" name="Text 6"/>
          <p:cNvSpPr txBox="1"/>
          <p:nvPr/>
        </p:nvSpPr>
        <p:spPr>
          <a:xfrm>
            <a:off x="960120" y="3017520"/>
            <a:ext cx="2377440" cy="320040"/>
          </a:xfrm>
          <a:prstGeom prst="rect">
            <a:avLst/>
          </a:prstGeom>
          <a:noFill/>
          <a:ln/>
        </p:spPr>
        <p:txBody>
          <a:bodyPr wrap="square" lIns="0" tIns="0" rIns="0" bIns="0" rtlCol="0" anchor="ctr"/>
          <a:lstStyle/>
          <a:p>
            <a:pPr algn="ctr" indent="0" marL="0">
              <a:buNone/>
            </a:pPr>
            <a:r>
              <a:rPr lang="en-US" sz="1200" dirty="0">
                <a:solidFill>
                  <a:srgbClr val="6B6F80"/>
                </a:solidFill>
                <a:latin typeface="Trebuchet MS" pitchFamily="34" charset="0"/>
                <a:ea typeface="Trebuchet MS" pitchFamily="34" charset="-122"/>
                <a:cs typeface="Trebuchet MS" pitchFamily="34" charset="-120"/>
              </a:rPr>
              <a:t>Probability 1</a:t>
            </a:r>
            <a:endParaRPr lang="en-US" sz="1200" dirty="0"/>
          </a:p>
        </p:txBody>
      </p:sp>
      <p:sp>
        <p:nvSpPr>
          <p:cNvPr id="10" name="Shape 7"/>
          <p:cNvSpPr/>
          <p:nvPr/>
        </p:nvSpPr>
        <p:spPr>
          <a:xfrm>
            <a:off x="4617720" y="1965960"/>
            <a:ext cx="2377440" cy="960120"/>
          </a:xfrm>
          <a:prstGeom prst="roundRect">
            <a:avLst>
              <a:gd name="adj" fmla="val 7619"/>
            </a:avLst>
          </a:prstGeom>
          <a:solidFill>
            <a:srgbClr val="1E33C8"/>
          </a:solidFill>
          <a:ln w="12700">
            <a:solidFill>
              <a:srgbClr val="1E33C8"/>
            </a:solidFill>
            <a:prstDash val="solid"/>
          </a:ln>
          <a:effectLst>
            <a:outerShdw sx="100000" sy="100000" kx="0" ky="0" algn="bl" rotWithShape="0" blurRad="76200" dist="381" dir="5400000">
              <a:srgbClr val="9096B8">
                <a:alpha val="22000"/>
              </a:srgbClr>
            </a:outerShdw>
          </a:effectLst>
        </p:spPr>
      </p:sp>
      <p:sp>
        <p:nvSpPr>
          <p:cNvPr id="11" name="Text 8"/>
          <p:cNvSpPr txBox="1"/>
          <p:nvPr/>
        </p:nvSpPr>
        <p:spPr>
          <a:xfrm>
            <a:off x="4617720" y="1965960"/>
            <a:ext cx="2377440" cy="96012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HE SAYS YES</a:t>
            </a:r>
            <a:endParaRPr lang="en-US" sz="1400" dirty="0"/>
          </a:p>
        </p:txBody>
      </p:sp>
      <p:sp>
        <p:nvSpPr>
          <p:cNvPr id="12" name="Text 9"/>
          <p:cNvSpPr txBox="1"/>
          <p:nvPr/>
        </p:nvSpPr>
        <p:spPr>
          <a:xfrm>
            <a:off x="4617720" y="3017520"/>
            <a:ext cx="2377440" cy="320040"/>
          </a:xfrm>
          <a:prstGeom prst="rect">
            <a:avLst/>
          </a:prstGeom>
          <a:noFill/>
          <a:ln/>
        </p:spPr>
        <p:txBody>
          <a:bodyPr wrap="square" lIns="0" tIns="0" rIns="0" bIns="0" rtlCol="0" anchor="ctr"/>
          <a:lstStyle/>
          <a:p>
            <a:pPr algn="ctr" indent="0" marL="0">
              <a:buNone/>
            </a:pPr>
            <a:r>
              <a:rPr lang="en-US" sz="1200" dirty="0">
                <a:solidFill>
                  <a:srgbClr val="6B6F80"/>
                </a:solidFill>
                <a:latin typeface="Trebuchet MS" pitchFamily="34" charset="0"/>
                <a:ea typeface="Trebuchet MS" pitchFamily="34" charset="-122"/>
                <a:cs typeface="Trebuchet MS" pitchFamily="34" charset="-120"/>
              </a:rPr>
              <a:t>Probability 2</a:t>
            </a:r>
            <a:endParaRPr lang="en-US" sz="1200" dirty="0"/>
          </a:p>
        </p:txBody>
      </p:sp>
      <p:sp>
        <p:nvSpPr>
          <p:cNvPr id="13" name="Text 10"/>
          <p:cNvSpPr txBox="1"/>
          <p:nvPr/>
        </p:nvSpPr>
        <p:spPr>
          <a:xfrm>
            <a:off x="3383280" y="2103120"/>
            <a:ext cx="1188720" cy="640080"/>
          </a:xfrm>
          <a:prstGeom prst="rect">
            <a:avLst/>
          </a:prstGeom>
          <a:noFill/>
          <a:ln/>
        </p:spPr>
        <p:txBody>
          <a:bodyPr wrap="square" lIns="0" tIns="0" rIns="0" bIns="0" rtlCol="0" anchor="ctr"/>
          <a:lstStyle/>
          <a:p>
            <a:pPr algn="ctr" indent="0" marL="0">
              <a:buNone/>
            </a:pPr>
            <a:r>
              <a:rPr lang="en-US" sz="3200" dirty="0">
                <a:solidFill>
                  <a:srgbClr val="FFD709"/>
                </a:solidFill>
                <a:latin typeface="Impact" pitchFamily="34" charset="0"/>
                <a:ea typeface="Impact" pitchFamily="34" charset="-122"/>
                <a:cs typeface="Impact" pitchFamily="34" charset="-120"/>
              </a:rPr>
              <a:t>×</a:t>
            </a:r>
            <a:endParaRPr lang="en-US" sz="3200" dirty="0"/>
          </a:p>
        </p:txBody>
      </p:sp>
      <p:sp>
        <p:nvSpPr>
          <p:cNvPr id="14" name="Shape 11"/>
          <p:cNvSpPr/>
          <p:nvPr/>
        </p:nvSpPr>
        <p:spPr>
          <a:xfrm>
            <a:off x="3017520" y="3566160"/>
            <a:ext cx="457200" cy="640080"/>
          </a:xfrm>
          <a:prstGeom prst="downArrow">
            <a:avLst/>
          </a:prstGeom>
          <a:solidFill>
            <a:srgbClr val="1E33C8"/>
          </a:solidFill>
          <a:ln w="12700">
            <a:solidFill>
              <a:srgbClr val="1E33C8"/>
            </a:solidFill>
            <a:prstDash val="solid"/>
          </a:ln>
        </p:spPr>
      </p:sp>
      <p:sp>
        <p:nvSpPr>
          <p:cNvPr id="15" name="Shape 12"/>
          <p:cNvSpPr/>
          <p:nvPr/>
        </p:nvSpPr>
        <p:spPr>
          <a:xfrm>
            <a:off x="1417320" y="4389120"/>
            <a:ext cx="3200400" cy="731520"/>
          </a:xfrm>
          <a:prstGeom prst="roundRect">
            <a:avLst>
              <a:gd name="adj" fmla="val 10000"/>
            </a:avLst>
          </a:prstGeom>
          <a:solidFill>
            <a:srgbClr val="FFD709"/>
          </a:solidFill>
          <a:ln w="12700">
            <a:solidFill>
              <a:srgbClr val="FFD709"/>
            </a:solidFill>
            <a:prstDash val="solid"/>
          </a:ln>
          <a:effectLst>
            <a:outerShdw sx="100000" sy="100000" kx="0" ky="0" algn="bl" rotWithShape="0" blurRad="76200" dist="381" dir="5400000">
              <a:srgbClr val="9096B8">
                <a:alpha val="22000"/>
              </a:srgbClr>
            </a:outerShdw>
          </a:effectLst>
        </p:spPr>
      </p:sp>
      <p:sp>
        <p:nvSpPr>
          <p:cNvPr id="16" name="Text 13"/>
          <p:cNvSpPr txBox="1"/>
          <p:nvPr/>
        </p:nvSpPr>
        <p:spPr>
          <a:xfrm>
            <a:off x="1417320" y="4480560"/>
            <a:ext cx="3200400" cy="457200"/>
          </a:xfrm>
          <a:prstGeom prst="rect">
            <a:avLst/>
          </a:prstGeom>
          <a:noFill/>
          <a:ln/>
        </p:spPr>
        <p:txBody>
          <a:bodyPr wrap="square" lIns="0" tIns="0" rIns="0" bIns="0" rtlCol="0" anchor="ctr"/>
          <a:lstStyle/>
          <a:p>
            <a:pPr algn="ctr" indent="0" marL="0">
              <a:buNone/>
            </a:pPr>
            <a:r>
              <a:rPr lang="en-US" sz="1500" b="1" dirty="0">
                <a:solidFill>
                  <a:srgbClr val="101014"/>
                </a:solidFill>
                <a:latin typeface="Trebuchet MS" pitchFamily="34" charset="0"/>
                <a:ea typeface="Trebuchet MS" pitchFamily="34" charset="-122"/>
                <a:cs typeface="Trebuchet MS" pitchFamily="34" charset="-120"/>
              </a:rPr>
              <a:t>PAIR SCORE</a:t>
            </a:r>
            <a:endParaRPr lang="en-US" sz="1500" dirty="0"/>
          </a:p>
        </p:txBody>
      </p:sp>
      <p:sp>
        <p:nvSpPr>
          <p:cNvPr id="17" name="Shape 14"/>
          <p:cNvSpPr/>
          <p:nvPr/>
        </p:nvSpPr>
        <p:spPr>
          <a:xfrm>
            <a:off x="7772400" y="1645920"/>
            <a:ext cx="3776472" cy="3566160"/>
          </a:xfrm>
          <a:prstGeom prst="roundRect">
            <a:avLst>
              <a:gd name="adj" fmla="val 2051"/>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8" name="Text 15"/>
          <p:cNvSpPr txBox="1"/>
          <p:nvPr/>
        </p:nvSpPr>
        <p:spPr>
          <a:xfrm>
            <a:off x="8001000" y="1847088"/>
            <a:ext cx="3291840" cy="320040"/>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Why 2 stages beat 1</a:t>
            </a:r>
            <a:endParaRPr lang="en-US" sz="1400" dirty="0"/>
          </a:p>
        </p:txBody>
      </p:sp>
      <p:sp>
        <p:nvSpPr>
          <p:cNvPr id="19" name="Text 16"/>
          <p:cNvSpPr txBox="1"/>
          <p:nvPr/>
        </p:nvSpPr>
        <p:spPr>
          <a:xfrm>
            <a:off x="8001000" y="2240280"/>
            <a:ext cx="3291840" cy="274320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Each decision is predicted separately, then the 2 probabilities are multiplied.</a:t>
            </a:r>
            <a:endParaRPr lang="en-US" sz="1300" dirty="0"/>
          </a:p>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Realistic outcome: both users must be interested.</a:t>
            </a:r>
            <a:endParaRPr lang="en-US" sz="1300" dirty="0"/>
          </a:p>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 Doubles the training signal: 8,368 decisions instead of 4,184 matches.</a:t>
            </a:r>
            <a:endParaRPr lang="en-US" sz="1300" dirty="0"/>
          </a:p>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Each side can be explained on its own, which is what a user sees.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33C8"/>
        </a:solidFill>
      </p:bgPr>
    </p:bg>
    <p:spTree>
      <p:nvGrpSpPr>
        <p:cNvPr id="1" name=""/>
        <p:cNvGrpSpPr/>
        <p:nvPr/>
      </p:nvGrpSpPr>
      <p:grpSpPr>
        <a:xfrm>
          <a:off x="0" y="0"/>
          <a:ext cx="0" cy="0"/>
          <a:chOff x="0" y="0"/>
          <a:chExt cx="0" cy="0"/>
        </a:xfrm>
      </p:grpSpPr>
      <p:sp>
        <p:nvSpPr>
          <p:cNvPr id="2" name="Text 0"/>
          <p:cNvSpPr txBox="1"/>
          <p:nvPr/>
        </p:nvSpPr>
        <p:spPr>
          <a:xfrm>
            <a:off x="640080" y="2240280"/>
            <a:ext cx="2011680" cy="1737360"/>
          </a:xfrm>
          <a:prstGeom prst="rect">
            <a:avLst/>
          </a:prstGeom>
          <a:noFill/>
          <a:ln/>
        </p:spPr>
        <p:txBody>
          <a:bodyPr wrap="square" lIns="0" tIns="0" rIns="0" bIns="0" rtlCol="0" anchor="ctr"/>
          <a:lstStyle/>
          <a:p>
            <a:pPr indent="0" marL="0">
              <a:buNone/>
            </a:pPr>
            <a:r>
              <a:rPr lang="en-US" sz="9600" dirty="0">
                <a:solidFill>
                  <a:srgbClr val="FFD709"/>
                </a:solidFill>
                <a:latin typeface="Impact" pitchFamily="34" charset="0"/>
                <a:ea typeface="Impact" pitchFamily="34" charset="-122"/>
                <a:cs typeface="Impact" pitchFamily="34" charset="-120"/>
              </a:rPr>
              <a:t>02</a:t>
            </a:r>
            <a:endParaRPr lang="en-US" sz="9600" dirty="0"/>
          </a:p>
        </p:txBody>
      </p:sp>
      <p:sp>
        <p:nvSpPr>
          <p:cNvPr id="3" name="Text 1"/>
          <p:cNvSpPr txBox="1"/>
          <p:nvPr/>
        </p:nvSpPr>
        <p:spPr>
          <a:xfrm>
            <a:off x="2651760" y="2468880"/>
            <a:ext cx="5120640" cy="822960"/>
          </a:xfrm>
          <a:prstGeom prst="rect">
            <a:avLst/>
          </a:prstGeom>
          <a:noFill/>
          <a:ln/>
        </p:spPr>
        <p:txBody>
          <a:bodyPr wrap="square" lIns="0" tIns="0" rIns="0" bIns="0" rtlCol="0" anchor="ctr"/>
          <a:lstStyle/>
          <a:p>
            <a:pPr indent="0" marL="0">
              <a:buNone/>
            </a:pPr>
            <a:r>
              <a:rPr lang="en-US" sz="3600" dirty="0">
                <a:solidFill>
                  <a:srgbClr val="FFFFFF"/>
                </a:solidFill>
                <a:latin typeface="Impact" pitchFamily="34" charset="0"/>
                <a:ea typeface="Impact" pitchFamily="34" charset="-122"/>
                <a:cs typeface="Impact" pitchFamily="34" charset="-120"/>
              </a:rPr>
              <a:t>DATA AND METHOD</a:t>
            </a:r>
            <a:endParaRPr lang="en-US" sz="3600" dirty="0"/>
          </a:p>
        </p:txBody>
      </p:sp>
      <p:sp>
        <p:nvSpPr>
          <p:cNvPr id="4" name="Text 2"/>
          <p:cNvSpPr txBox="1"/>
          <p:nvPr/>
        </p:nvSpPr>
        <p:spPr>
          <a:xfrm>
            <a:off x="2697480" y="3310128"/>
            <a:ext cx="5120640" cy="731520"/>
          </a:xfrm>
          <a:prstGeom prst="rect">
            <a:avLst/>
          </a:prstGeom>
          <a:noFill/>
          <a:ln/>
        </p:spPr>
        <p:txBody>
          <a:bodyPr wrap="square" lIns="0" tIns="0" rIns="0" bIns="0" rtlCol="0" anchor="ctr"/>
          <a:lstStyle/>
          <a:p>
            <a:pPr indent="0" marL="0">
              <a:buNone/>
            </a:pPr>
            <a:r>
              <a:rPr lang="en-US" sz="1400" dirty="0">
                <a:solidFill>
                  <a:srgbClr val="C9CFF5"/>
                </a:solidFill>
                <a:latin typeface="Trebuchet MS" pitchFamily="34" charset="0"/>
                <a:ea typeface="Trebuchet MS" pitchFamily="34" charset="-122"/>
                <a:cs typeface="Trebuchet MS" pitchFamily="34" charset="-120"/>
              </a:rPr>
              <a:t>What we use, and how we make sure the number we promise is real.</a:t>
            </a:r>
            <a:endParaRPr lang="en-US" sz="1400" dirty="0"/>
          </a:p>
        </p:txBody>
      </p:sp>
      <p:sp>
        <p:nvSpPr>
          <p:cNvPr id="5" name="Text 3"/>
          <p:cNvSpPr txBox="1"/>
          <p:nvPr/>
        </p:nvSpPr>
        <p:spPr>
          <a:xfrm>
            <a:off x="7863840" y="1344168"/>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01   THE PROBLEM</a:t>
            </a:r>
            <a:endParaRPr lang="en-US" sz="1300" dirty="0"/>
          </a:p>
        </p:txBody>
      </p:sp>
      <p:sp>
        <p:nvSpPr>
          <p:cNvPr id="6" name="Shape 4"/>
          <p:cNvSpPr/>
          <p:nvPr/>
        </p:nvSpPr>
        <p:spPr>
          <a:xfrm>
            <a:off x="7635240" y="1911096"/>
            <a:ext cx="3913632" cy="475488"/>
          </a:xfrm>
          <a:prstGeom prst="roundRect">
            <a:avLst>
              <a:gd name="adj" fmla="val 15385"/>
            </a:avLst>
          </a:prstGeom>
          <a:solidFill>
            <a:srgbClr val="FFD709"/>
          </a:solidFill>
          <a:ln w="12700">
            <a:solidFill>
              <a:srgbClr val="FFD709"/>
            </a:solidFill>
            <a:prstDash val="solid"/>
          </a:ln>
        </p:spPr>
      </p:sp>
      <p:sp>
        <p:nvSpPr>
          <p:cNvPr id="7" name="Text 5"/>
          <p:cNvSpPr txBox="1"/>
          <p:nvPr/>
        </p:nvSpPr>
        <p:spPr>
          <a:xfrm>
            <a:off x="7863840" y="1911096"/>
            <a:ext cx="3657600" cy="475488"/>
          </a:xfrm>
          <a:prstGeom prst="rect">
            <a:avLst/>
          </a:prstGeom>
          <a:noFill/>
          <a:ln/>
        </p:spPr>
        <p:txBody>
          <a:bodyPr wrap="square" lIns="0" tIns="0" rIns="0" bIns="0" rtlCol="0" anchor="ctr"/>
          <a:lstStyle/>
          <a:p>
            <a:pPr indent="0" marL="0">
              <a:buNone/>
            </a:pPr>
            <a:r>
              <a:rPr lang="en-US" sz="1300" b="1" dirty="0">
                <a:solidFill>
                  <a:srgbClr val="101014"/>
                </a:solidFill>
                <a:latin typeface="Trebuchet MS" pitchFamily="34" charset="0"/>
                <a:ea typeface="Trebuchet MS" pitchFamily="34" charset="-122"/>
                <a:cs typeface="Trebuchet MS" pitchFamily="34" charset="-120"/>
              </a:rPr>
              <a:t>02   DATA AND METHOD</a:t>
            </a:r>
            <a:endParaRPr lang="en-US" sz="1300" dirty="0"/>
          </a:p>
        </p:txBody>
      </p:sp>
      <p:sp>
        <p:nvSpPr>
          <p:cNvPr id="8" name="Text 6"/>
          <p:cNvSpPr txBox="1"/>
          <p:nvPr/>
        </p:nvSpPr>
        <p:spPr>
          <a:xfrm>
            <a:off x="7863840" y="2478024"/>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03   PERFORMANCE</a:t>
            </a:r>
            <a:endParaRPr lang="en-US" sz="1300" dirty="0"/>
          </a:p>
        </p:txBody>
      </p:sp>
      <p:sp>
        <p:nvSpPr>
          <p:cNvPr id="9" name="Text 7"/>
          <p:cNvSpPr txBox="1"/>
          <p:nvPr/>
        </p:nvSpPr>
        <p:spPr>
          <a:xfrm>
            <a:off x="7863840" y="3044952"/>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04   INTERPRETABILITY</a:t>
            </a:r>
            <a:endParaRPr lang="en-US" sz="1300" dirty="0"/>
          </a:p>
        </p:txBody>
      </p:sp>
      <p:sp>
        <p:nvSpPr>
          <p:cNvPr id="10" name="Text 8"/>
          <p:cNvSpPr txBox="1"/>
          <p:nvPr/>
        </p:nvSpPr>
        <p:spPr>
          <a:xfrm>
            <a:off x="7863840" y="3611880"/>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05   STABILITY</a:t>
            </a:r>
            <a:endParaRPr lang="en-US" sz="1300" dirty="0"/>
          </a:p>
        </p:txBody>
      </p:sp>
      <p:sp>
        <p:nvSpPr>
          <p:cNvPr id="11" name="Text 9"/>
          <p:cNvSpPr txBox="1"/>
          <p:nvPr/>
        </p:nvSpPr>
        <p:spPr>
          <a:xfrm>
            <a:off x="7863840" y="4178808"/>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06   FAIRNESS</a:t>
            </a:r>
            <a:endParaRPr lang="en-US" sz="1300" dirty="0"/>
          </a:p>
        </p:txBody>
      </p:sp>
      <p:sp>
        <p:nvSpPr>
          <p:cNvPr id="12" name="Text 10"/>
          <p:cNvSpPr txBox="1"/>
          <p:nvPr/>
        </p:nvSpPr>
        <p:spPr>
          <a:xfrm>
            <a:off x="7863840" y="4745736"/>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07   RECOMMENDATION</a:t>
            </a:r>
            <a:endParaRPr lang="en-US" sz="1300" dirty="0"/>
          </a:p>
        </p:txBody>
      </p:sp>
      <p:pic>
        <p:nvPicPr>
          <p:cNvPr id="13" name="Image 0" descr="/home/claude/isaf-group-rito-mitsouka/assets/logo/icon_transparent.png">    </p:cNvPr>
          <p:cNvPicPr>
            <a:picLocks noChangeAspect="1"/>
          </p:cNvPicPr>
          <p:nvPr/>
        </p:nvPicPr>
        <p:blipFill>
          <a:blip r:embed="rId1"/>
          <a:stretch>
            <a:fillRect/>
          </a:stretch>
        </p:blipFill>
        <p:spPr>
          <a:xfrm>
            <a:off x="10771632" y="6035040"/>
            <a:ext cx="777240" cy="3200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57200"/>
            <a:ext cx="9994392" cy="512064"/>
          </a:xfrm>
          <a:prstGeom prst="rect">
            <a:avLst/>
          </a:prstGeom>
          <a:noFill/>
          <a:ln/>
        </p:spPr>
        <p:txBody>
          <a:bodyPr wrap="square" lIns="0" tIns="0" rIns="0" bIns="0" rtlCol="0" anchor="ctr"/>
          <a:lstStyle/>
          <a:p>
            <a:pPr indent="0" marL="0">
              <a:buNone/>
            </a:pPr>
            <a:r>
              <a:rPr lang="en-US" sz="2600" dirty="0">
                <a:solidFill>
                  <a:srgbClr val="1E33C8"/>
                </a:solidFill>
                <a:latin typeface="Impact" pitchFamily="34" charset="0"/>
                <a:ea typeface="Impact" pitchFamily="34" charset="-122"/>
                <a:cs typeface="Impact" pitchFamily="34" charset="-120"/>
              </a:rPr>
              <a:t>WHAT A PROFILE KNOWS BEFORE THE DATE</a:t>
            </a:r>
            <a:endParaRPr lang="en-US" sz="2600" dirty="0"/>
          </a:p>
        </p:txBody>
      </p:sp>
      <p:pic>
        <p:nvPicPr>
          <p:cNvPr id="3" name="Image 0" descr="/home/claude/isaf-group-rito-mitsouka/assets/logo/icon_transparent.png">    </p:cNvPr>
          <p:cNvPicPr>
            <a:picLocks noChangeAspect="1"/>
          </p:cNvPicPr>
          <p:nvPr/>
        </p:nvPicPr>
        <p:blipFill>
          <a:blip r:embed="rId1"/>
          <a:stretch>
            <a:fillRect/>
          </a:stretch>
        </p:blipFill>
        <p:spPr>
          <a:xfrm>
            <a:off x="10771632" y="411480"/>
            <a:ext cx="777240" cy="320040"/>
          </a:xfrm>
          <a:prstGeom prst="rect">
            <a:avLst/>
          </a:prstGeom>
        </p:spPr>
      </p:pic>
      <p:sp>
        <p:nvSpPr>
          <p:cNvPr id="4" name="Text 1"/>
          <p:cNvSpPr txBox="1"/>
          <p:nvPr/>
        </p:nvSpPr>
        <p:spPr>
          <a:xfrm>
            <a:off x="640080" y="969264"/>
            <a:ext cx="10908792" cy="365760"/>
          </a:xfrm>
          <a:prstGeom prst="rect">
            <a:avLst/>
          </a:prstGeom>
          <a:noFill/>
          <a:ln/>
        </p:spPr>
        <p:txBody>
          <a:bodyPr wrap="square" lIns="0" tIns="0" rIns="0" bIns="0" rtlCol="0" anchor="ctr"/>
          <a:lstStyle/>
          <a:p>
            <a:pPr indent="0" marL="0">
              <a:buNone/>
            </a:pPr>
            <a:r>
              <a:rPr lang="en-US" sz="1500" dirty="0">
                <a:solidFill>
                  <a:srgbClr val="6B6F80"/>
                </a:solidFill>
                <a:latin typeface="Trebuchet MS" pitchFamily="34" charset="0"/>
                <a:ea typeface="Trebuchet MS" pitchFamily="34" charset="-122"/>
                <a:cs typeface="Trebuchet MS" pitchFamily="34" charset="-120"/>
              </a:rPr>
              <a:t>Which data do we actually have, and which do we refuse to use?</a:t>
            </a:r>
            <a:endParaRPr lang="en-US" sz="1500" dirty="0"/>
          </a:p>
        </p:txBody>
      </p:sp>
      <p:sp>
        <p:nvSpPr>
          <p:cNvPr id="5" name="Shape 2"/>
          <p:cNvSpPr/>
          <p:nvPr/>
        </p:nvSpPr>
        <p:spPr>
          <a:xfrm>
            <a:off x="640080" y="5760720"/>
            <a:ext cx="10908792" cy="731520"/>
          </a:xfrm>
          <a:prstGeom prst="roundRect">
            <a:avLst>
              <a:gd name="adj" fmla="val 15000"/>
            </a:avLst>
          </a:prstGeom>
          <a:solidFill>
            <a:srgbClr val="FFD709"/>
          </a:solidFill>
          <a:ln w="12700">
            <a:solidFill>
              <a:srgbClr val="FFD709"/>
            </a:solidFill>
            <a:prstDash val="solid"/>
          </a:ln>
        </p:spPr>
      </p:sp>
      <p:sp>
        <p:nvSpPr>
          <p:cNvPr id="6" name="Text 3"/>
          <p:cNvSpPr txBox="1"/>
          <p:nvPr/>
        </p:nvSpPr>
        <p:spPr>
          <a:xfrm>
            <a:off x="914400" y="5760720"/>
            <a:ext cx="10360152" cy="731520"/>
          </a:xfrm>
          <a:prstGeom prst="rect">
            <a:avLst/>
          </a:prstGeom>
          <a:noFill/>
          <a:ln/>
        </p:spPr>
        <p:txBody>
          <a:bodyPr wrap="square" lIns="0" tIns="0" rIns="0" bIns="0" rtlCol="0" anchor="ctr"/>
          <a:lstStyle/>
          <a:p>
            <a:pPr algn="ctr" indent="0" marL="0">
              <a:buNone/>
            </a:pPr>
            <a:r>
              <a:rPr lang="en-US" sz="1400" b="1" dirty="0">
                <a:solidFill>
                  <a:srgbClr val="101014"/>
                </a:solidFill>
                <a:latin typeface="Trebuchet MS" pitchFamily="34" charset="0"/>
                <a:ea typeface="Trebuchet MS" pitchFamily="34" charset="-122"/>
                <a:cs typeface="Trebuchet MS" pitchFamily="34" charset="-120"/>
              </a:rPr>
              <a:t>1 ROW PER PAIR, 101 FEATURES, ALL AVAILABLE BEFORE THE TWO PEOPLE MEET.</a:t>
            </a:r>
            <a:endParaRPr lang="en-US" sz="1400" dirty="0"/>
          </a:p>
        </p:txBody>
      </p:sp>
      <p:sp>
        <p:nvSpPr>
          <p:cNvPr id="7" name="Text 4"/>
          <p:cNvSpPr txBox="1"/>
          <p:nvPr/>
        </p:nvSpPr>
        <p:spPr>
          <a:xfrm>
            <a:off x="640080" y="1371600"/>
            <a:ext cx="10908792" cy="274320"/>
          </a:xfrm>
          <a:prstGeom prst="rect">
            <a:avLst/>
          </a:prstGeom>
          <a:noFill/>
          <a:ln/>
        </p:spPr>
        <p:txBody>
          <a:bodyPr wrap="square" lIns="0" tIns="0" rIns="0" bIns="0" rtlCol="0" anchor="ctr"/>
          <a:lstStyle/>
          <a:p>
            <a:pPr indent="0" marL="0">
              <a:buNone/>
            </a:pPr>
            <a:r>
              <a:rPr lang="en-US" sz="1200" dirty="0">
                <a:solidFill>
                  <a:srgbClr val="6B6F80"/>
                </a:solidFill>
                <a:latin typeface="Trebuchet MS" pitchFamily="34" charset="0"/>
                <a:ea typeface="Trebuchet MS" pitchFamily="34" charset="-122"/>
                <a:cs typeface="Trebuchet MS" pitchFamily="34" charset="-120"/>
              </a:rPr>
              <a:t>Speed Dating Experiment, Columbia University. Fisman, Iyengar, Kamenica &amp; Simonson (2006), QJE.</a:t>
            </a:r>
            <a:endParaRPr lang="en-US" sz="1200" dirty="0"/>
          </a:p>
        </p:txBody>
      </p:sp>
      <p:sp>
        <p:nvSpPr>
          <p:cNvPr id="8" name="Shape 5"/>
          <p:cNvSpPr/>
          <p:nvPr/>
        </p:nvSpPr>
        <p:spPr>
          <a:xfrm>
            <a:off x="640080" y="1645920"/>
            <a:ext cx="2560320" cy="1600200"/>
          </a:xfrm>
          <a:prstGeom prst="roundRect">
            <a:avLst>
              <a:gd name="adj" fmla="val 4571"/>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9" name="Text 6"/>
          <p:cNvSpPr txBox="1"/>
          <p:nvPr/>
        </p:nvSpPr>
        <p:spPr>
          <a:xfrm>
            <a:off x="640080" y="1764792"/>
            <a:ext cx="2560320" cy="640080"/>
          </a:xfrm>
          <a:prstGeom prst="rect">
            <a:avLst/>
          </a:prstGeom>
          <a:noFill/>
          <a:ln/>
        </p:spPr>
        <p:txBody>
          <a:bodyPr wrap="square" lIns="0" tIns="0" rIns="0" bIns="0" rtlCol="0" anchor="ctr"/>
          <a:lstStyle/>
          <a:p>
            <a:pPr algn="ctr" indent="0" marL="0">
              <a:buNone/>
            </a:pPr>
            <a:r>
              <a:rPr lang="en-US" sz="3200" dirty="0">
                <a:solidFill>
                  <a:srgbClr val="1E33C8"/>
                </a:solidFill>
                <a:latin typeface="Impact" pitchFamily="34" charset="0"/>
                <a:ea typeface="Impact" pitchFamily="34" charset="-122"/>
                <a:cs typeface="Impact" pitchFamily="34" charset="-120"/>
              </a:rPr>
              <a:t>4,184</a:t>
            </a:r>
            <a:endParaRPr lang="en-US" sz="3200" dirty="0"/>
          </a:p>
        </p:txBody>
      </p:sp>
      <p:sp>
        <p:nvSpPr>
          <p:cNvPr id="10" name="Text 7"/>
          <p:cNvSpPr txBox="1"/>
          <p:nvPr/>
        </p:nvSpPr>
        <p:spPr>
          <a:xfrm>
            <a:off x="777240" y="2395728"/>
            <a:ext cx="2286000" cy="731520"/>
          </a:xfrm>
          <a:prstGeom prst="rect">
            <a:avLst/>
          </a:prstGeom>
          <a:noFill/>
          <a:ln/>
        </p:spPr>
        <p:txBody>
          <a:bodyPr wrap="square" lIns="0" tIns="0" rIns="0" bIns="0" rtlCol="0" anchor="t"/>
          <a:lstStyle/>
          <a:p>
            <a:pPr algn="ctr" indent="0" marL="0">
              <a:buNone/>
            </a:pPr>
            <a:r>
              <a:rPr lang="en-US" sz="1150" dirty="0">
                <a:solidFill>
                  <a:srgbClr val="6B6F80"/>
                </a:solidFill>
                <a:latin typeface="Trebuchet MS" pitchFamily="34" charset="0"/>
                <a:ea typeface="Trebuchet MS" pitchFamily="34" charset="-122"/>
                <a:cs typeface="Trebuchet MS" pitchFamily="34" charset="-120"/>
              </a:rPr>
              <a:t>pairs, each date folded</a:t>
            </a:r>
            <a:endParaRPr lang="en-US" sz="1150" dirty="0"/>
          </a:p>
          <a:p>
            <a:pPr algn="ctr" indent="0" marL="0">
              <a:buNone/>
            </a:pPr>
            <a:r>
              <a:rPr lang="en-US" sz="1150" dirty="0">
                <a:solidFill>
                  <a:srgbClr val="6B6F80"/>
                </a:solidFill>
                <a:latin typeface="Trebuchet MS" pitchFamily="34" charset="0"/>
                <a:ea typeface="Trebuchet MS" pitchFamily="34" charset="-122"/>
                <a:cs typeface="Trebuchet MS" pitchFamily="34" charset="-120"/>
              </a:rPr>
              <a:t>into a single row</a:t>
            </a:r>
            <a:endParaRPr lang="en-US" sz="1150" dirty="0"/>
          </a:p>
        </p:txBody>
      </p:sp>
      <p:sp>
        <p:nvSpPr>
          <p:cNvPr id="11" name="Shape 8"/>
          <p:cNvSpPr/>
          <p:nvPr/>
        </p:nvSpPr>
        <p:spPr>
          <a:xfrm>
            <a:off x="3422874" y="1645920"/>
            <a:ext cx="2560320" cy="1600200"/>
          </a:xfrm>
          <a:prstGeom prst="roundRect">
            <a:avLst>
              <a:gd name="adj" fmla="val 4571"/>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2" name="Text 9"/>
          <p:cNvSpPr txBox="1"/>
          <p:nvPr/>
        </p:nvSpPr>
        <p:spPr>
          <a:xfrm>
            <a:off x="3422874" y="1764792"/>
            <a:ext cx="2560320" cy="640080"/>
          </a:xfrm>
          <a:prstGeom prst="rect">
            <a:avLst/>
          </a:prstGeom>
          <a:noFill/>
          <a:ln/>
        </p:spPr>
        <p:txBody>
          <a:bodyPr wrap="square" lIns="0" tIns="0" rIns="0" bIns="0" rtlCol="0" anchor="ctr"/>
          <a:lstStyle/>
          <a:p>
            <a:pPr algn="ctr" indent="0" marL="0">
              <a:buNone/>
            </a:pPr>
            <a:r>
              <a:rPr lang="en-US" sz="3200" dirty="0">
                <a:solidFill>
                  <a:srgbClr val="1E33C8"/>
                </a:solidFill>
                <a:latin typeface="Impact" pitchFamily="34" charset="0"/>
                <a:ea typeface="Impact" pitchFamily="34" charset="-122"/>
                <a:cs typeface="Impact" pitchFamily="34" charset="-120"/>
              </a:rPr>
              <a:t>551</a:t>
            </a:r>
            <a:endParaRPr lang="en-US" sz="3200" dirty="0"/>
          </a:p>
        </p:txBody>
      </p:sp>
      <p:sp>
        <p:nvSpPr>
          <p:cNvPr id="13" name="Text 10"/>
          <p:cNvSpPr txBox="1"/>
          <p:nvPr/>
        </p:nvSpPr>
        <p:spPr>
          <a:xfrm>
            <a:off x="3560034" y="2395728"/>
            <a:ext cx="2286000" cy="731520"/>
          </a:xfrm>
          <a:prstGeom prst="rect">
            <a:avLst/>
          </a:prstGeom>
          <a:noFill/>
          <a:ln/>
        </p:spPr>
        <p:txBody>
          <a:bodyPr wrap="square" lIns="0" tIns="0" rIns="0" bIns="0" rtlCol="0" anchor="t"/>
          <a:lstStyle/>
          <a:p>
            <a:pPr algn="ctr" indent="0" marL="0">
              <a:buNone/>
            </a:pPr>
            <a:r>
              <a:rPr lang="en-US" sz="1150" dirty="0">
                <a:solidFill>
                  <a:srgbClr val="6B6F80"/>
                </a:solidFill>
                <a:latin typeface="Trebuchet MS" pitchFamily="34" charset="0"/>
                <a:ea typeface="Trebuchet MS" pitchFamily="34" charset="-122"/>
                <a:cs typeface="Trebuchet MS" pitchFamily="34" charset="-120"/>
              </a:rPr>
              <a:t>participants who</a:t>
            </a:r>
            <a:endParaRPr lang="en-US" sz="1150" dirty="0"/>
          </a:p>
          <a:p>
            <a:pPr algn="ctr" indent="0" marL="0">
              <a:buNone/>
            </a:pPr>
            <a:r>
              <a:rPr lang="en-US" sz="1150" dirty="0">
                <a:solidFill>
                  <a:srgbClr val="6B6F80"/>
                </a:solidFill>
                <a:latin typeface="Trebuchet MS" pitchFamily="34" charset="0"/>
                <a:ea typeface="Trebuchet MS" pitchFamily="34" charset="-122"/>
                <a:cs typeface="Trebuchet MS" pitchFamily="34" charset="-120"/>
              </a:rPr>
              <a:t>dated each other</a:t>
            </a:r>
            <a:endParaRPr lang="en-US" sz="1150" dirty="0"/>
          </a:p>
        </p:txBody>
      </p:sp>
      <p:sp>
        <p:nvSpPr>
          <p:cNvPr id="14" name="Shape 11"/>
          <p:cNvSpPr/>
          <p:nvPr/>
        </p:nvSpPr>
        <p:spPr>
          <a:xfrm>
            <a:off x="6205667" y="1645920"/>
            <a:ext cx="2560320" cy="1600200"/>
          </a:xfrm>
          <a:prstGeom prst="roundRect">
            <a:avLst>
              <a:gd name="adj" fmla="val 4571"/>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5" name="Text 12"/>
          <p:cNvSpPr txBox="1"/>
          <p:nvPr/>
        </p:nvSpPr>
        <p:spPr>
          <a:xfrm>
            <a:off x="6205667" y="1764792"/>
            <a:ext cx="2560320" cy="640080"/>
          </a:xfrm>
          <a:prstGeom prst="rect">
            <a:avLst/>
          </a:prstGeom>
          <a:noFill/>
          <a:ln/>
        </p:spPr>
        <p:txBody>
          <a:bodyPr wrap="square" lIns="0" tIns="0" rIns="0" bIns="0" rtlCol="0" anchor="ctr"/>
          <a:lstStyle/>
          <a:p>
            <a:pPr algn="ctr" indent="0" marL="0">
              <a:buNone/>
            </a:pPr>
            <a:r>
              <a:rPr lang="en-US" sz="3200" dirty="0">
                <a:solidFill>
                  <a:srgbClr val="1E33C8"/>
                </a:solidFill>
                <a:latin typeface="Impact" pitchFamily="34" charset="0"/>
                <a:ea typeface="Impact" pitchFamily="34" charset="-122"/>
                <a:cs typeface="Impact" pitchFamily="34" charset="-120"/>
              </a:rPr>
              <a:t>108</a:t>
            </a:r>
            <a:endParaRPr lang="en-US" sz="3200" dirty="0"/>
          </a:p>
        </p:txBody>
      </p:sp>
      <p:sp>
        <p:nvSpPr>
          <p:cNvPr id="16" name="Text 13"/>
          <p:cNvSpPr txBox="1"/>
          <p:nvPr/>
        </p:nvSpPr>
        <p:spPr>
          <a:xfrm>
            <a:off x="6342827" y="2395728"/>
            <a:ext cx="2286000" cy="731520"/>
          </a:xfrm>
          <a:prstGeom prst="rect">
            <a:avLst/>
          </a:prstGeom>
          <a:noFill/>
          <a:ln/>
        </p:spPr>
        <p:txBody>
          <a:bodyPr wrap="square" lIns="0" tIns="0" rIns="0" bIns="0" rtlCol="0" anchor="t"/>
          <a:lstStyle/>
          <a:p>
            <a:pPr algn="ctr" indent="0" marL="0">
              <a:buNone/>
            </a:pPr>
            <a:r>
              <a:rPr lang="en-US" sz="1150" dirty="0">
                <a:solidFill>
                  <a:srgbClr val="6B6F80"/>
                </a:solidFill>
                <a:latin typeface="Trebuchet MS" pitchFamily="34" charset="0"/>
                <a:ea typeface="Trebuchet MS" pitchFamily="34" charset="-122"/>
                <a:cs typeface="Trebuchet MS" pitchFamily="34" charset="-120"/>
              </a:rPr>
              <a:t>columns known only during or</a:t>
            </a:r>
            <a:endParaRPr lang="en-US" sz="1150" dirty="0"/>
          </a:p>
          <a:p>
            <a:pPr algn="ctr" indent="0" marL="0">
              <a:buNone/>
            </a:pPr>
            <a:r>
              <a:rPr lang="en-US" sz="1150" dirty="0">
                <a:solidFill>
                  <a:srgbClr val="6B6F80"/>
                </a:solidFill>
                <a:latin typeface="Trebuchet MS" pitchFamily="34" charset="0"/>
                <a:ea typeface="Trebuchet MS" pitchFamily="34" charset="-122"/>
                <a:cs typeface="Trebuchet MS" pitchFamily="34" charset="-120"/>
              </a:rPr>
              <a:t>after the date, all removed</a:t>
            </a:r>
            <a:endParaRPr lang="en-US" sz="1150" dirty="0"/>
          </a:p>
        </p:txBody>
      </p:sp>
      <p:sp>
        <p:nvSpPr>
          <p:cNvPr id="17" name="Shape 14"/>
          <p:cNvSpPr/>
          <p:nvPr/>
        </p:nvSpPr>
        <p:spPr>
          <a:xfrm>
            <a:off x="8988461" y="1645920"/>
            <a:ext cx="2560320" cy="1600200"/>
          </a:xfrm>
          <a:prstGeom prst="roundRect">
            <a:avLst>
              <a:gd name="adj" fmla="val 4571"/>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8" name="Text 15"/>
          <p:cNvSpPr txBox="1"/>
          <p:nvPr/>
        </p:nvSpPr>
        <p:spPr>
          <a:xfrm>
            <a:off x="8988461" y="1764792"/>
            <a:ext cx="2560320" cy="640080"/>
          </a:xfrm>
          <a:prstGeom prst="rect">
            <a:avLst/>
          </a:prstGeom>
          <a:noFill/>
          <a:ln/>
        </p:spPr>
        <p:txBody>
          <a:bodyPr wrap="square" lIns="0" tIns="0" rIns="0" bIns="0" rtlCol="0" anchor="ctr"/>
          <a:lstStyle/>
          <a:p>
            <a:pPr algn="ctr" indent="0" marL="0">
              <a:buNone/>
            </a:pPr>
            <a:r>
              <a:rPr lang="en-US" sz="3200" dirty="0">
                <a:solidFill>
                  <a:srgbClr val="1E33C8"/>
                </a:solidFill>
                <a:latin typeface="Impact" pitchFamily="34" charset="0"/>
                <a:ea typeface="Impact" pitchFamily="34" charset="-122"/>
                <a:cs typeface="Impact" pitchFamily="34" charset="-120"/>
              </a:rPr>
              <a:t>101</a:t>
            </a:r>
            <a:endParaRPr lang="en-US" sz="3200" dirty="0"/>
          </a:p>
        </p:txBody>
      </p:sp>
      <p:sp>
        <p:nvSpPr>
          <p:cNvPr id="19" name="Text 16"/>
          <p:cNvSpPr txBox="1"/>
          <p:nvPr/>
        </p:nvSpPr>
        <p:spPr>
          <a:xfrm>
            <a:off x="9125621" y="2395728"/>
            <a:ext cx="2286000" cy="731520"/>
          </a:xfrm>
          <a:prstGeom prst="rect">
            <a:avLst/>
          </a:prstGeom>
          <a:noFill/>
          <a:ln/>
        </p:spPr>
        <p:txBody>
          <a:bodyPr wrap="square" lIns="0" tIns="0" rIns="0" bIns="0" rtlCol="0" anchor="t"/>
          <a:lstStyle/>
          <a:p>
            <a:pPr algn="ctr" indent="0" marL="0">
              <a:buNone/>
            </a:pPr>
            <a:r>
              <a:rPr lang="en-US" sz="1150" dirty="0">
                <a:solidFill>
                  <a:srgbClr val="6B6F80"/>
                </a:solidFill>
                <a:latin typeface="Trebuchet MS" pitchFamily="34" charset="0"/>
                <a:ea typeface="Trebuchet MS" pitchFamily="34" charset="-122"/>
                <a:cs typeface="Trebuchet MS" pitchFamily="34" charset="-120"/>
              </a:rPr>
              <a:t>features kept for</a:t>
            </a:r>
            <a:endParaRPr lang="en-US" sz="1150" dirty="0"/>
          </a:p>
          <a:p>
            <a:pPr algn="ctr" indent="0" marL="0">
              <a:buNone/>
            </a:pPr>
            <a:r>
              <a:rPr lang="en-US" sz="1150" dirty="0">
                <a:solidFill>
                  <a:srgbClr val="6B6F80"/>
                </a:solidFill>
                <a:latin typeface="Trebuchet MS" pitchFamily="34" charset="0"/>
                <a:ea typeface="Trebuchet MS" pitchFamily="34" charset="-122"/>
                <a:cs typeface="Trebuchet MS" pitchFamily="34" charset="-120"/>
              </a:rPr>
              <a:t>the 3 engines</a:t>
            </a:r>
            <a:endParaRPr lang="en-US" sz="1150" dirty="0"/>
          </a:p>
        </p:txBody>
      </p:sp>
      <p:sp>
        <p:nvSpPr>
          <p:cNvPr id="20" name="Shape 17"/>
          <p:cNvSpPr/>
          <p:nvPr/>
        </p:nvSpPr>
        <p:spPr>
          <a:xfrm>
            <a:off x="640080" y="3657600"/>
            <a:ext cx="5394960" cy="1828800"/>
          </a:xfrm>
          <a:prstGeom prst="roundRect">
            <a:avLst>
              <a:gd name="adj" fmla="val 4000"/>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21" name="Text 18"/>
          <p:cNvSpPr txBox="1"/>
          <p:nvPr/>
        </p:nvSpPr>
        <p:spPr>
          <a:xfrm>
            <a:off x="868680" y="3840480"/>
            <a:ext cx="4937760" cy="320040"/>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Target and protected attribute</a:t>
            </a:r>
            <a:endParaRPr lang="en-US" sz="1400" dirty="0"/>
          </a:p>
        </p:txBody>
      </p:sp>
      <p:sp>
        <p:nvSpPr>
          <p:cNvPr id="22" name="Text 19"/>
          <p:cNvSpPr txBox="1"/>
          <p:nvPr/>
        </p:nvSpPr>
        <p:spPr>
          <a:xfrm>
            <a:off x="868680" y="4206240"/>
            <a:ext cx="4937760" cy="10972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Target: match = 1 when both said yes.</a:t>
            </a:r>
            <a:endParaRPr lang="en-US" sz="1300" dirty="0"/>
          </a:p>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Protected attribute: ETHNICITY, for her and for him.</a:t>
            </a:r>
            <a:endParaRPr lang="en-US" sz="1300" dirty="0"/>
          </a:p>
        </p:txBody>
      </p:sp>
      <p:sp>
        <p:nvSpPr>
          <p:cNvPr id="23" name="Shape 20"/>
          <p:cNvSpPr/>
          <p:nvPr/>
        </p:nvSpPr>
        <p:spPr>
          <a:xfrm>
            <a:off x="6309360" y="3657600"/>
            <a:ext cx="5239512" cy="1828800"/>
          </a:xfrm>
          <a:prstGeom prst="roundRect">
            <a:avLst>
              <a:gd name="adj" fmla="val 4000"/>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24" name="Text 21"/>
          <p:cNvSpPr txBox="1"/>
          <p:nvPr/>
        </p:nvSpPr>
        <p:spPr>
          <a:xfrm>
            <a:off x="6537960" y="3840480"/>
            <a:ext cx="4754880" cy="320040"/>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A warning sign already in the raw data</a:t>
            </a:r>
            <a:endParaRPr lang="en-US" sz="1400" dirty="0"/>
          </a:p>
        </p:txBody>
      </p:sp>
      <p:sp>
        <p:nvSpPr>
          <p:cNvPr id="25" name="Text 22"/>
          <p:cNvSpPr txBox="1"/>
          <p:nvPr/>
        </p:nvSpPr>
        <p:spPr>
          <a:xfrm>
            <a:off x="6537960" y="4206240"/>
            <a:ext cx="4754880" cy="10972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Income is missing for 62% of Latino and 60% of Asian participants, against 31% of Black ones.</a:t>
            </a:r>
            <a:endParaRPr lang="en-US" sz="1300" dirty="0"/>
          </a:p>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Keep a missing income flag rather than silence.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57200"/>
            <a:ext cx="9994392" cy="512064"/>
          </a:xfrm>
          <a:prstGeom prst="rect">
            <a:avLst/>
          </a:prstGeom>
          <a:noFill/>
          <a:ln/>
        </p:spPr>
        <p:txBody>
          <a:bodyPr wrap="square" lIns="0" tIns="0" rIns="0" bIns="0" rtlCol="0" anchor="ctr"/>
          <a:lstStyle/>
          <a:p>
            <a:pPr indent="0" marL="0">
              <a:buNone/>
            </a:pPr>
            <a:r>
              <a:rPr lang="en-US" sz="2600" dirty="0">
                <a:solidFill>
                  <a:srgbClr val="1E33C8"/>
                </a:solidFill>
                <a:latin typeface="Impact" pitchFamily="34" charset="0"/>
                <a:ea typeface="Impact" pitchFamily="34" charset="-122"/>
                <a:cs typeface="Impact" pitchFamily="34" charset="-120"/>
              </a:rPr>
              <a:t>A RANDOM SPLIT WOULD FLATTER US BY 12 POINTS</a:t>
            </a:r>
            <a:endParaRPr lang="en-US" sz="2600" dirty="0"/>
          </a:p>
        </p:txBody>
      </p:sp>
      <p:pic>
        <p:nvPicPr>
          <p:cNvPr id="3" name="Image 0" descr="/home/claude/isaf-group-rito-mitsouka/assets/logo/icon_transparent.png">    </p:cNvPr>
          <p:cNvPicPr>
            <a:picLocks noChangeAspect="1"/>
          </p:cNvPicPr>
          <p:nvPr/>
        </p:nvPicPr>
        <p:blipFill>
          <a:blip r:embed="rId1"/>
          <a:stretch>
            <a:fillRect/>
          </a:stretch>
        </p:blipFill>
        <p:spPr>
          <a:xfrm>
            <a:off x="10771632" y="411480"/>
            <a:ext cx="777240" cy="320040"/>
          </a:xfrm>
          <a:prstGeom prst="rect">
            <a:avLst/>
          </a:prstGeom>
        </p:spPr>
      </p:pic>
      <p:sp>
        <p:nvSpPr>
          <p:cNvPr id="4" name="Text 1"/>
          <p:cNvSpPr txBox="1"/>
          <p:nvPr/>
        </p:nvSpPr>
        <p:spPr>
          <a:xfrm>
            <a:off x="640080" y="969264"/>
            <a:ext cx="10908792" cy="365760"/>
          </a:xfrm>
          <a:prstGeom prst="rect">
            <a:avLst/>
          </a:prstGeom>
          <a:noFill/>
          <a:ln/>
        </p:spPr>
        <p:txBody>
          <a:bodyPr wrap="square" lIns="0" tIns="0" rIns="0" bIns="0" rtlCol="0" anchor="ctr"/>
          <a:lstStyle/>
          <a:p>
            <a:pPr indent="0" marL="0">
              <a:buNone/>
            </a:pPr>
            <a:r>
              <a:rPr lang="en-US" sz="1500" dirty="0">
                <a:solidFill>
                  <a:srgbClr val="6B6F80"/>
                </a:solidFill>
                <a:latin typeface="Trebuchet MS" pitchFamily="34" charset="0"/>
                <a:ea typeface="Trebuchet MS" pitchFamily="34" charset="-122"/>
                <a:cs typeface="Trebuchet MS" pitchFamily="34" charset="-120"/>
              </a:rPr>
              <a:t>How do we know the number we promise is real?</a:t>
            </a:r>
            <a:endParaRPr lang="en-US" sz="1500" dirty="0"/>
          </a:p>
        </p:txBody>
      </p:sp>
      <p:sp>
        <p:nvSpPr>
          <p:cNvPr id="5" name="Shape 2"/>
          <p:cNvSpPr/>
          <p:nvPr/>
        </p:nvSpPr>
        <p:spPr>
          <a:xfrm>
            <a:off x="640080" y="5760720"/>
            <a:ext cx="10908792" cy="731520"/>
          </a:xfrm>
          <a:prstGeom prst="roundRect">
            <a:avLst>
              <a:gd name="adj" fmla="val 15000"/>
            </a:avLst>
          </a:prstGeom>
          <a:solidFill>
            <a:srgbClr val="FFD709"/>
          </a:solidFill>
          <a:ln w="12700">
            <a:solidFill>
              <a:srgbClr val="FFD709"/>
            </a:solidFill>
            <a:prstDash val="solid"/>
          </a:ln>
        </p:spPr>
      </p:sp>
      <p:sp>
        <p:nvSpPr>
          <p:cNvPr id="6" name="Text 3"/>
          <p:cNvSpPr txBox="1"/>
          <p:nvPr/>
        </p:nvSpPr>
        <p:spPr>
          <a:xfrm>
            <a:off x="914400" y="5760720"/>
            <a:ext cx="10360152" cy="731520"/>
          </a:xfrm>
          <a:prstGeom prst="rect">
            <a:avLst/>
          </a:prstGeom>
          <a:noFill/>
          <a:ln/>
        </p:spPr>
        <p:txBody>
          <a:bodyPr wrap="square" lIns="0" tIns="0" rIns="0" bIns="0" rtlCol="0" anchor="ctr"/>
          <a:lstStyle/>
          <a:p>
            <a:pPr algn="ctr" indent="0" marL="0">
              <a:buNone/>
            </a:pPr>
            <a:r>
              <a:rPr lang="en-US" sz="1400" b="1" dirty="0">
                <a:solidFill>
                  <a:srgbClr val="101014"/>
                </a:solidFill>
                <a:latin typeface="Trebuchet MS" pitchFamily="34" charset="0"/>
                <a:ea typeface="Trebuchet MS" pitchFamily="34" charset="-122"/>
                <a:cs typeface="Trebuchet MS" pitchFamily="34" charset="-120"/>
              </a:rPr>
              <a:t>0.60 IS THE NUMBER YOU WILL ACTUALLY GET ON NEW USERS.</a:t>
            </a:r>
            <a:endParaRPr lang="en-US" sz="1400" dirty="0"/>
          </a:p>
          <a:p>
            <a:pPr algn="ctr" indent="0" marL="0">
              <a:buNone/>
            </a:pPr>
            <a:r>
              <a:rPr lang="en-US" sz="1400" b="1" dirty="0">
                <a:solidFill>
                  <a:srgbClr val="101014"/>
                </a:solidFill>
                <a:latin typeface="Trebuchet MS" pitchFamily="34" charset="0"/>
                <a:ea typeface="Trebuchet MS" pitchFamily="34" charset="-122"/>
                <a:cs typeface="Trebuchet MS" pitchFamily="34" charset="-120"/>
              </a:rPr>
              <a:t>THEN, YOU COULD REACH A HIGHER SCORE WITH USER HISTORY.</a:t>
            </a:r>
            <a:endParaRPr lang="en-US" sz="1400" dirty="0"/>
          </a:p>
        </p:txBody>
      </p:sp>
      <p:sp>
        <p:nvSpPr>
          <p:cNvPr id="7" name="Text 4"/>
          <p:cNvSpPr txBox="1"/>
          <p:nvPr/>
        </p:nvSpPr>
        <p:spPr>
          <a:xfrm>
            <a:off x="640080" y="1371600"/>
            <a:ext cx="10908792" cy="320040"/>
          </a:xfrm>
          <a:prstGeom prst="rect">
            <a:avLst/>
          </a:prstGeom>
          <a:noFill/>
          <a:ln/>
        </p:spPr>
        <p:txBody>
          <a:bodyPr wrap="square" lIns="0" tIns="0" rIns="0" bIns="0" rtlCol="0" anchor="ctr"/>
          <a:lstStyle/>
          <a:p>
            <a:pPr indent="0" marL="0">
              <a:buNone/>
            </a:pPr>
            <a:r>
              <a:rPr lang="en-US" sz="1250" dirty="0">
                <a:solidFill>
                  <a:srgbClr val="101014"/>
                </a:solidFill>
                <a:latin typeface="Trebuchet MS" pitchFamily="34" charset="0"/>
                <a:ea typeface="Trebuchet MS" pitchFamily="34" charset="-122"/>
                <a:cs typeface="Trebuchet MS" pitchFamily="34" charset="-120"/>
              </a:rPr>
              <a:t>Everyone meets everyone of the opposite sex in the same evening, so the data comes in 21 closed groups.</a:t>
            </a:r>
            <a:endParaRPr lang="en-US" sz="1250" dirty="0"/>
          </a:p>
        </p:txBody>
      </p:sp>
      <p:sp>
        <p:nvSpPr>
          <p:cNvPr id="8" name="Shape 5"/>
          <p:cNvSpPr/>
          <p:nvPr/>
        </p:nvSpPr>
        <p:spPr>
          <a:xfrm>
            <a:off x="640080" y="1783080"/>
            <a:ext cx="3520440" cy="1645920"/>
          </a:xfrm>
          <a:prstGeom prst="roundRect">
            <a:avLst>
              <a:gd name="adj" fmla="val 4444"/>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9" name="Text 6"/>
          <p:cNvSpPr txBox="1"/>
          <p:nvPr/>
        </p:nvSpPr>
        <p:spPr>
          <a:xfrm>
            <a:off x="640080" y="1901952"/>
            <a:ext cx="3520440" cy="640080"/>
          </a:xfrm>
          <a:prstGeom prst="rect">
            <a:avLst/>
          </a:prstGeom>
          <a:noFill/>
          <a:ln/>
        </p:spPr>
        <p:txBody>
          <a:bodyPr wrap="square" lIns="0" tIns="0" rIns="0" bIns="0" rtlCol="0" anchor="ctr"/>
          <a:lstStyle/>
          <a:p>
            <a:pPr algn="ctr" indent="0" marL="0">
              <a:buNone/>
            </a:pPr>
            <a:r>
              <a:rPr lang="en-US" sz="3200" dirty="0">
                <a:solidFill>
                  <a:srgbClr val="1E33C8"/>
                </a:solidFill>
                <a:latin typeface="Impact" pitchFamily="34" charset="0"/>
                <a:ea typeface="Impact" pitchFamily="34" charset="-122"/>
                <a:cs typeface="Impact" pitchFamily="34" charset="-120"/>
              </a:rPr>
              <a:t>0.72</a:t>
            </a:r>
            <a:endParaRPr lang="en-US" sz="3200" dirty="0"/>
          </a:p>
        </p:txBody>
      </p:sp>
      <p:sp>
        <p:nvSpPr>
          <p:cNvPr id="10" name="Text 7"/>
          <p:cNvSpPr txBox="1"/>
          <p:nvPr/>
        </p:nvSpPr>
        <p:spPr>
          <a:xfrm>
            <a:off x="777240" y="2532888"/>
            <a:ext cx="3246120" cy="777240"/>
          </a:xfrm>
          <a:prstGeom prst="rect">
            <a:avLst/>
          </a:prstGeom>
          <a:noFill/>
          <a:ln/>
        </p:spPr>
        <p:txBody>
          <a:bodyPr wrap="square" lIns="0" tIns="0" rIns="0" bIns="0" rtlCol="0" anchor="t"/>
          <a:lstStyle/>
          <a:p>
            <a:pPr algn="ctr" indent="0" marL="0">
              <a:buNone/>
            </a:pPr>
            <a:r>
              <a:rPr lang="en-US" sz="1150" dirty="0">
                <a:solidFill>
                  <a:srgbClr val="6B6F80"/>
                </a:solidFill>
                <a:latin typeface="Trebuchet MS" pitchFamily="34" charset="0"/>
                <a:ea typeface="Trebuchet MS" pitchFamily="34" charset="-122"/>
                <a:cs typeface="Trebuchet MS" pitchFamily="34" charset="-120"/>
              </a:rPr>
              <a:t>ROC-AUC with a random split</a:t>
            </a:r>
            <a:endParaRPr lang="en-US" sz="1150" dirty="0"/>
          </a:p>
          <a:p>
            <a:pPr algn="ctr" indent="0" marL="0">
              <a:buNone/>
            </a:pPr>
            <a:r>
              <a:rPr lang="en-US" sz="1150" dirty="0">
                <a:solidFill>
                  <a:srgbClr val="6B6F80"/>
                </a:solidFill>
                <a:latin typeface="Trebuchet MS" pitchFamily="34" charset="0"/>
                <a:ea typeface="Trebuchet MS" pitchFamily="34" charset="-122"/>
                <a:cs typeface="Trebuchet MS" pitchFamily="34" charset="-120"/>
              </a:rPr>
              <a:t>→ Model recognizes people from their profile</a:t>
            </a:r>
            <a:endParaRPr lang="en-US" sz="1150" dirty="0"/>
          </a:p>
        </p:txBody>
      </p:sp>
      <p:sp>
        <p:nvSpPr>
          <p:cNvPr id="11" name="Shape 8"/>
          <p:cNvSpPr/>
          <p:nvPr/>
        </p:nvSpPr>
        <p:spPr>
          <a:xfrm>
            <a:off x="4343400" y="1783080"/>
            <a:ext cx="3520440" cy="1645920"/>
          </a:xfrm>
          <a:prstGeom prst="roundRect">
            <a:avLst>
              <a:gd name="adj" fmla="val 4444"/>
            </a:avLst>
          </a:prstGeom>
          <a:solidFill>
            <a:srgbClr val="FFD709"/>
          </a:solidFill>
          <a:ln w="12700">
            <a:solidFill>
              <a:srgbClr val="FFD709"/>
            </a:solidFill>
            <a:prstDash val="solid"/>
          </a:ln>
          <a:effectLst>
            <a:outerShdw sx="100000" sy="100000" kx="0" ky="0" algn="bl" rotWithShape="0" blurRad="76200" dist="381" dir="5400000">
              <a:srgbClr val="9096B8">
                <a:alpha val="22000"/>
              </a:srgbClr>
            </a:outerShdw>
          </a:effectLst>
        </p:spPr>
      </p:sp>
      <p:sp>
        <p:nvSpPr>
          <p:cNvPr id="12" name="Text 9"/>
          <p:cNvSpPr txBox="1"/>
          <p:nvPr/>
        </p:nvSpPr>
        <p:spPr>
          <a:xfrm>
            <a:off x="4343400" y="1901952"/>
            <a:ext cx="3520440" cy="640080"/>
          </a:xfrm>
          <a:prstGeom prst="rect">
            <a:avLst/>
          </a:prstGeom>
          <a:noFill/>
          <a:ln/>
        </p:spPr>
        <p:txBody>
          <a:bodyPr wrap="square" lIns="0" tIns="0" rIns="0" bIns="0" rtlCol="0" anchor="ctr"/>
          <a:lstStyle/>
          <a:p>
            <a:pPr algn="ctr" indent="0" marL="0">
              <a:buNone/>
            </a:pPr>
            <a:r>
              <a:rPr lang="en-US" sz="3200" dirty="0">
                <a:solidFill>
                  <a:srgbClr val="101014"/>
                </a:solidFill>
                <a:latin typeface="Impact" pitchFamily="34" charset="0"/>
                <a:ea typeface="Impact" pitchFamily="34" charset="-122"/>
                <a:cs typeface="Impact" pitchFamily="34" charset="-120"/>
              </a:rPr>
              <a:t>0.60</a:t>
            </a:r>
            <a:endParaRPr lang="en-US" sz="3200" dirty="0"/>
          </a:p>
        </p:txBody>
      </p:sp>
      <p:sp>
        <p:nvSpPr>
          <p:cNvPr id="13" name="Text 10"/>
          <p:cNvSpPr txBox="1"/>
          <p:nvPr/>
        </p:nvSpPr>
        <p:spPr>
          <a:xfrm>
            <a:off x="4480560" y="2532888"/>
            <a:ext cx="3246120" cy="777240"/>
          </a:xfrm>
          <a:prstGeom prst="rect">
            <a:avLst/>
          </a:prstGeom>
          <a:noFill/>
          <a:ln/>
        </p:spPr>
        <p:txBody>
          <a:bodyPr wrap="square" lIns="0" tIns="0" rIns="0" bIns="0" rtlCol="0" anchor="t"/>
          <a:lstStyle/>
          <a:p>
            <a:pPr algn="ctr" indent="0" marL="0">
              <a:buNone/>
            </a:pPr>
            <a:r>
              <a:rPr lang="en-US" sz="1150" dirty="0">
                <a:solidFill>
                  <a:srgbClr val="101014"/>
                </a:solidFill>
                <a:latin typeface="Trebuchet MS" pitchFamily="34" charset="0"/>
                <a:ea typeface="Trebuchet MS" pitchFamily="34" charset="-122"/>
                <a:cs typeface="Trebuchet MS" pitchFamily="34" charset="-120"/>
              </a:rPr>
              <a:t>ROC-AUC with a grouped split</a:t>
            </a:r>
            <a:endParaRPr lang="en-US" sz="1150" dirty="0"/>
          </a:p>
          <a:p>
            <a:pPr algn="ctr" indent="0" marL="0">
              <a:buNone/>
            </a:pPr>
            <a:r>
              <a:rPr lang="en-US" sz="1150" dirty="0">
                <a:solidFill>
                  <a:srgbClr val="101014"/>
                </a:solidFill>
                <a:latin typeface="Trebuchet MS" pitchFamily="34" charset="0"/>
                <a:ea typeface="Trebuchet MS" pitchFamily="34" charset="-122"/>
                <a:cs typeface="Trebuchet MS" pitchFamily="34" charset="-120"/>
              </a:rPr>
              <a:t>→ The number a new user will have</a:t>
            </a:r>
            <a:endParaRPr lang="en-US" sz="1150" dirty="0"/>
          </a:p>
        </p:txBody>
      </p:sp>
      <p:sp>
        <p:nvSpPr>
          <p:cNvPr id="14" name="Shape 11"/>
          <p:cNvSpPr/>
          <p:nvPr/>
        </p:nvSpPr>
        <p:spPr>
          <a:xfrm>
            <a:off x="8046720" y="1783080"/>
            <a:ext cx="3502152" cy="1645920"/>
          </a:xfrm>
          <a:prstGeom prst="roundRect">
            <a:avLst>
              <a:gd name="adj" fmla="val 4444"/>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5" name="Text 12"/>
          <p:cNvSpPr txBox="1"/>
          <p:nvPr/>
        </p:nvSpPr>
        <p:spPr>
          <a:xfrm>
            <a:off x="8046720" y="1901952"/>
            <a:ext cx="3502152" cy="640080"/>
          </a:xfrm>
          <a:prstGeom prst="rect">
            <a:avLst/>
          </a:prstGeom>
          <a:noFill/>
          <a:ln/>
        </p:spPr>
        <p:txBody>
          <a:bodyPr wrap="square" lIns="0" tIns="0" rIns="0" bIns="0" rtlCol="0" anchor="ctr"/>
          <a:lstStyle/>
          <a:p>
            <a:pPr algn="ctr" indent="0" marL="0">
              <a:buNone/>
            </a:pPr>
            <a:r>
              <a:rPr lang="en-US" sz="3200" dirty="0">
                <a:solidFill>
                  <a:srgbClr val="1E33C8"/>
                </a:solidFill>
                <a:latin typeface="Impact" pitchFamily="34" charset="0"/>
                <a:ea typeface="Impact" pitchFamily="34" charset="-122"/>
                <a:cs typeface="Impact" pitchFamily="34" charset="-120"/>
              </a:rPr>
              <a:t>21</a:t>
            </a:r>
            <a:endParaRPr lang="en-US" sz="3200" dirty="0"/>
          </a:p>
        </p:txBody>
      </p:sp>
      <p:sp>
        <p:nvSpPr>
          <p:cNvPr id="16" name="Text 13"/>
          <p:cNvSpPr txBox="1"/>
          <p:nvPr/>
        </p:nvSpPr>
        <p:spPr>
          <a:xfrm>
            <a:off x="8183880" y="2532888"/>
            <a:ext cx="3227832" cy="777240"/>
          </a:xfrm>
          <a:prstGeom prst="rect">
            <a:avLst/>
          </a:prstGeom>
          <a:noFill/>
          <a:ln/>
        </p:spPr>
        <p:txBody>
          <a:bodyPr wrap="square" lIns="0" tIns="0" rIns="0" bIns="0" rtlCol="0" anchor="t"/>
          <a:lstStyle/>
          <a:p>
            <a:pPr algn="ctr" indent="0" marL="0">
              <a:buNone/>
            </a:pPr>
            <a:r>
              <a:rPr lang="en-US" sz="1150" dirty="0">
                <a:solidFill>
                  <a:srgbClr val="6B6F80"/>
                </a:solidFill>
                <a:latin typeface="Trebuchet MS" pitchFamily="34" charset="0"/>
                <a:ea typeface="Trebuchet MS" pitchFamily="34" charset="-122"/>
                <a:cs typeface="Trebuchet MS" pitchFamily="34" charset="-120"/>
              </a:rPr>
              <a:t>closed groups of daters:</a:t>
            </a:r>
            <a:endParaRPr lang="en-US" sz="1150" dirty="0"/>
          </a:p>
          <a:p>
            <a:pPr algn="ctr" indent="0" marL="0">
              <a:buNone/>
            </a:pPr>
            <a:r>
              <a:rPr lang="en-US" sz="1150" dirty="0">
                <a:solidFill>
                  <a:srgbClr val="6B6F80"/>
                </a:solidFill>
                <a:latin typeface="Trebuchet MS" pitchFamily="34" charset="0"/>
                <a:ea typeface="Trebuchet MS" pitchFamily="34" charset="-122"/>
                <a:cs typeface="Trebuchet MS" pitchFamily="34" charset="-120"/>
              </a:rPr>
              <a:t>no finer cut exists</a:t>
            </a:r>
            <a:endParaRPr lang="en-US" sz="1150" dirty="0"/>
          </a:p>
        </p:txBody>
      </p:sp>
      <p:sp>
        <p:nvSpPr>
          <p:cNvPr id="17" name="Shape 14"/>
          <p:cNvSpPr/>
          <p:nvPr/>
        </p:nvSpPr>
        <p:spPr>
          <a:xfrm>
            <a:off x="640080" y="3794760"/>
            <a:ext cx="5394960" cy="1737360"/>
          </a:xfrm>
          <a:prstGeom prst="roundRect">
            <a:avLst>
              <a:gd name="adj" fmla="val 4211"/>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8" name="Text 15"/>
          <p:cNvSpPr txBox="1"/>
          <p:nvPr/>
        </p:nvSpPr>
        <p:spPr>
          <a:xfrm>
            <a:off x="868680" y="3950208"/>
            <a:ext cx="4937760" cy="320040"/>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Our rules</a:t>
            </a:r>
            <a:endParaRPr lang="en-US" sz="1400" dirty="0"/>
          </a:p>
        </p:txBody>
      </p:sp>
      <p:sp>
        <p:nvSpPr>
          <p:cNvPr id="19" name="Text 16"/>
          <p:cNvSpPr txBox="1"/>
          <p:nvPr/>
        </p:nvSpPr>
        <p:spPr>
          <a:xfrm>
            <a:off x="868680" y="4297680"/>
            <a:ext cx="4937760" cy="11430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01014"/>
                </a:solidFill>
                <a:latin typeface="Trebuchet MS" pitchFamily="34" charset="0"/>
                <a:ea typeface="Trebuchet MS" pitchFamily="34" charset="-122"/>
                <a:cs typeface="Trebuchet MS" pitchFamily="34" charset="-120"/>
              </a:rPr>
              <a:t>We split between groups, never inside a group.</a:t>
            </a:r>
            <a:endParaRPr lang="en-US" sz="1250" dirty="0"/>
          </a:p>
          <a:p>
            <a:pPr marL="342900" indent="-342900">
              <a:spcAft>
                <a:spcPts val="600"/>
              </a:spcAft>
              <a:buSzPct val="100000"/>
              <a:buChar char="■"/>
            </a:pPr>
            <a:r>
              <a:rPr lang="en-US" sz="1250" dirty="0">
                <a:solidFill>
                  <a:srgbClr val="101014"/>
                </a:solidFill>
                <a:latin typeface="Trebuchet MS" pitchFamily="34" charset="0"/>
                <a:ea typeface="Trebuchet MS" pitchFamily="34" charset="-122"/>
                <a:cs typeface="Trebuchet MS" pitchFamily="34" charset="-120"/>
              </a:rPr>
              <a:t>The group splits the data, it is never a feature.</a:t>
            </a:r>
            <a:endParaRPr lang="en-US" sz="1250" dirty="0"/>
          </a:p>
          <a:p>
            <a:pPr marL="342900" indent="-342900">
              <a:spcAft>
                <a:spcPts val="600"/>
              </a:spcAft>
              <a:buSzPct val="100000"/>
              <a:buChar char="■"/>
            </a:pPr>
            <a:r>
              <a:rPr lang="en-US" sz="1250" dirty="0">
                <a:solidFill>
                  <a:srgbClr val="101014"/>
                </a:solidFill>
                <a:latin typeface="Trebuchet MS" pitchFamily="34" charset="0"/>
                <a:ea typeface="Trebuchet MS" pitchFamily="34" charset="-122"/>
                <a:cs typeface="Trebuchet MS" pitchFamily="34" charset="-120"/>
              </a:rPr>
              <a:t>Every engine, TabPFN included, is scored on the same folds.</a:t>
            </a:r>
            <a:endParaRPr lang="en-US" sz="1250" dirty="0"/>
          </a:p>
        </p:txBody>
      </p:sp>
      <p:sp>
        <p:nvSpPr>
          <p:cNvPr id="20" name="Shape 17"/>
          <p:cNvSpPr/>
          <p:nvPr/>
        </p:nvSpPr>
        <p:spPr>
          <a:xfrm>
            <a:off x="6309360" y="3794760"/>
            <a:ext cx="5239512" cy="1737360"/>
          </a:xfrm>
          <a:prstGeom prst="roundRect">
            <a:avLst>
              <a:gd name="adj" fmla="val 4211"/>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21" name="Text 18"/>
          <p:cNvSpPr txBox="1"/>
          <p:nvPr/>
        </p:nvSpPr>
        <p:spPr>
          <a:xfrm>
            <a:off x="6537960" y="3950208"/>
            <a:ext cx="4754880" cy="320040"/>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Dropping the identifiers is not enough</a:t>
            </a:r>
            <a:endParaRPr lang="en-US" sz="1400" dirty="0"/>
          </a:p>
        </p:txBody>
      </p:sp>
      <p:sp>
        <p:nvSpPr>
          <p:cNvPr id="22" name="Text 19"/>
          <p:cNvSpPr txBox="1"/>
          <p:nvPr/>
        </p:nvSpPr>
        <p:spPr>
          <a:xfrm>
            <a:off x="6537960" y="4297680"/>
            <a:ext cx="4754880" cy="11430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01014"/>
                </a:solidFill>
                <a:latin typeface="Trebuchet MS" pitchFamily="34" charset="0"/>
                <a:ea typeface="Trebuchet MS" pitchFamily="34" charset="-122"/>
                <a:cs typeface="Trebuchet MS" pitchFamily="34" charset="-120"/>
              </a:rPr>
              <a:t>4 profile columns identify 90% of participants.</a:t>
            </a:r>
            <a:endParaRPr lang="en-US" sz="1250" dirty="0"/>
          </a:p>
          <a:p>
            <a:pPr marL="342900" indent="-342900">
              <a:spcAft>
                <a:spcPts val="600"/>
              </a:spcAft>
              <a:buSzPct val="100000"/>
              <a:buChar char="■"/>
            </a:pPr>
            <a:r>
              <a:rPr lang="en-US" sz="1250" dirty="0">
                <a:solidFill>
                  <a:srgbClr val="101014"/>
                </a:solidFill>
                <a:latin typeface="Trebuchet MS" pitchFamily="34" charset="0"/>
                <a:ea typeface="Trebuchet MS" pitchFamily="34" charset="-122"/>
                <a:cs typeface="Trebuchet MS" pitchFamily="34" charset="-120"/>
              </a:rPr>
              <a:t>A random split lets the model memorise a person, then reuse them.</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33C8"/>
        </a:solidFill>
      </p:bgPr>
    </p:bg>
    <p:spTree>
      <p:nvGrpSpPr>
        <p:cNvPr id="1" name=""/>
        <p:cNvGrpSpPr/>
        <p:nvPr/>
      </p:nvGrpSpPr>
      <p:grpSpPr>
        <a:xfrm>
          <a:off x="0" y="0"/>
          <a:ext cx="0" cy="0"/>
          <a:chOff x="0" y="0"/>
          <a:chExt cx="0" cy="0"/>
        </a:xfrm>
      </p:grpSpPr>
      <p:sp>
        <p:nvSpPr>
          <p:cNvPr id="2" name="Text 0"/>
          <p:cNvSpPr txBox="1"/>
          <p:nvPr/>
        </p:nvSpPr>
        <p:spPr>
          <a:xfrm>
            <a:off x="640080" y="2240280"/>
            <a:ext cx="2011680" cy="1737360"/>
          </a:xfrm>
          <a:prstGeom prst="rect">
            <a:avLst/>
          </a:prstGeom>
          <a:noFill/>
          <a:ln/>
        </p:spPr>
        <p:txBody>
          <a:bodyPr wrap="square" lIns="0" tIns="0" rIns="0" bIns="0" rtlCol="0" anchor="ctr"/>
          <a:lstStyle/>
          <a:p>
            <a:pPr indent="0" marL="0">
              <a:buNone/>
            </a:pPr>
            <a:r>
              <a:rPr lang="en-US" sz="9600" dirty="0">
                <a:solidFill>
                  <a:srgbClr val="FFD709"/>
                </a:solidFill>
                <a:latin typeface="Impact" pitchFamily="34" charset="0"/>
                <a:ea typeface="Impact" pitchFamily="34" charset="-122"/>
                <a:cs typeface="Impact" pitchFamily="34" charset="-120"/>
              </a:rPr>
              <a:t>03</a:t>
            </a:r>
            <a:endParaRPr lang="en-US" sz="9600" dirty="0"/>
          </a:p>
        </p:txBody>
      </p:sp>
      <p:sp>
        <p:nvSpPr>
          <p:cNvPr id="3" name="Text 1"/>
          <p:cNvSpPr txBox="1"/>
          <p:nvPr/>
        </p:nvSpPr>
        <p:spPr>
          <a:xfrm>
            <a:off x="2651760" y="2468880"/>
            <a:ext cx="5120640" cy="822960"/>
          </a:xfrm>
          <a:prstGeom prst="rect">
            <a:avLst/>
          </a:prstGeom>
          <a:noFill/>
          <a:ln/>
        </p:spPr>
        <p:txBody>
          <a:bodyPr wrap="square" lIns="0" tIns="0" rIns="0" bIns="0" rtlCol="0" anchor="ctr"/>
          <a:lstStyle/>
          <a:p>
            <a:pPr indent="0" marL="0">
              <a:buNone/>
            </a:pPr>
            <a:r>
              <a:rPr lang="en-US" sz="3600" dirty="0">
                <a:solidFill>
                  <a:srgbClr val="FFFFFF"/>
                </a:solidFill>
                <a:latin typeface="Impact" pitchFamily="34" charset="0"/>
                <a:ea typeface="Impact" pitchFamily="34" charset="-122"/>
                <a:cs typeface="Impact" pitchFamily="34" charset="-120"/>
              </a:rPr>
              <a:t>PERFORMANCE</a:t>
            </a:r>
            <a:endParaRPr lang="en-US" sz="3600" dirty="0"/>
          </a:p>
        </p:txBody>
      </p:sp>
      <p:sp>
        <p:nvSpPr>
          <p:cNvPr id="4" name="Text 2"/>
          <p:cNvSpPr txBox="1"/>
          <p:nvPr/>
        </p:nvSpPr>
        <p:spPr>
          <a:xfrm>
            <a:off x="2697480" y="3310128"/>
            <a:ext cx="5120640" cy="731520"/>
          </a:xfrm>
          <a:prstGeom prst="rect">
            <a:avLst/>
          </a:prstGeom>
          <a:noFill/>
          <a:ln/>
        </p:spPr>
        <p:txBody>
          <a:bodyPr wrap="square" lIns="0" tIns="0" rIns="0" bIns="0" rtlCol="0" anchor="ctr"/>
          <a:lstStyle/>
          <a:p>
            <a:pPr indent="0" marL="0">
              <a:buNone/>
            </a:pPr>
            <a:r>
              <a:rPr lang="en-US" sz="1400" dirty="0">
                <a:solidFill>
                  <a:srgbClr val="C9CFF5"/>
                </a:solidFill>
                <a:latin typeface="Trebuchet MS" pitchFamily="34" charset="0"/>
                <a:ea typeface="Trebuchet MS" pitchFamily="34" charset="-122"/>
                <a:cs typeface="Trebuchet MS" pitchFamily="34" charset="-120"/>
              </a:rPr>
              <a:t>What the engine is worth, in match rate and in euros.</a:t>
            </a:r>
            <a:endParaRPr lang="en-US" sz="1400" dirty="0"/>
          </a:p>
        </p:txBody>
      </p:sp>
      <p:sp>
        <p:nvSpPr>
          <p:cNvPr id="5" name="Text 3"/>
          <p:cNvSpPr txBox="1"/>
          <p:nvPr/>
        </p:nvSpPr>
        <p:spPr>
          <a:xfrm>
            <a:off x="7863840" y="1344168"/>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01   THE PROBLEM</a:t>
            </a:r>
            <a:endParaRPr lang="en-US" sz="1300" dirty="0"/>
          </a:p>
        </p:txBody>
      </p:sp>
      <p:sp>
        <p:nvSpPr>
          <p:cNvPr id="6" name="Text 4"/>
          <p:cNvSpPr txBox="1"/>
          <p:nvPr/>
        </p:nvSpPr>
        <p:spPr>
          <a:xfrm>
            <a:off x="7863840" y="1911096"/>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02   DATA AND METHOD</a:t>
            </a:r>
            <a:endParaRPr lang="en-US" sz="1300" dirty="0"/>
          </a:p>
        </p:txBody>
      </p:sp>
      <p:sp>
        <p:nvSpPr>
          <p:cNvPr id="7" name="Shape 5"/>
          <p:cNvSpPr/>
          <p:nvPr/>
        </p:nvSpPr>
        <p:spPr>
          <a:xfrm>
            <a:off x="7635240" y="2478024"/>
            <a:ext cx="3913632" cy="475488"/>
          </a:xfrm>
          <a:prstGeom prst="roundRect">
            <a:avLst>
              <a:gd name="adj" fmla="val 15385"/>
            </a:avLst>
          </a:prstGeom>
          <a:solidFill>
            <a:srgbClr val="FFD709"/>
          </a:solidFill>
          <a:ln w="12700">
            <a:solidFill>
              <a:srgbClr val="FFD709"/>
            </a:solidFill>
            <a:prstDash val="solid"/>
          </a:ln>
        </p:spPr>
      </p:sp>
      <p:sp>
        <p:nvSpPr>
          <p:cNvPr id="8" name="Text 6"/>
          <p:cNvSpPr txBox="1"/>
          <p:nvPr/>
        </p:nvSpPr>
        <p:spPr>
          <a:xfrm>
            <a:off x="7863840" y="2478024"/>
            <a:ext cx="3657600" cy="475488"/>
          </a:xfrm>
          <a:prstGeom prst="rect">
            <a:avLst/>
          </a:prstGeom>
          <a:noFill/>
          <a:ln/>
        </p:spPr>
        <p:txBody>
          <a:bodyPr wrap="square" lIns="0" tIns="0" rIns="0" bIns="0" rtlCol="0" anchor="ctr"/>
          <a:lstStyle/>
          <a:p>
            <a:pPr indent="0" marL="0">
              <a:buNone/>
            </a:pPr>
            <a:r>
              <a:rPr lang="en-US" sz="1300" b="1" dirty="0">
                <a:solidFill>
                  <a:srgbClr val="101014"/>
                </a:solidFill>
                <a:latin typeface="Trebuchet MS" pitchFamily="34" charset="0"/>
                <a:ea typeface="Trebuchet MS" pitchFamily="34" charset="-122"/>
                <a:cs typeface="Trebuchet MS" pitchFamily="34" charset="-120"/>
              </a:rPr>
              <a:t>03   PERFORMANCE</a:t>
            </a:r>
            <a:endParaRPr lang="en-US" sz="1300" dirty="0"/>
          </a:p>
        </p:txBody>
      </p:sp>
      <p:sp>
        <p:nvSpPr>
          <p:cNvPr id="9" name="Text 7"/>
          <p:cNvSpPr txBox="1"/>
          <p:nvPr/>
        </p:nvSpPr>
        <p:spPr>
          <a:xfrm>
            <a:off x="7863840" y="3044952"/>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04   INTERPRETABILITY</a:t>
            </a:r>
            <a:endParaRPr lang="en-US" sz="1300" dirty="0"/>
          </a:p>
        </p:txBody>
      </p:sp>
      <p:sp>
        <p:nvSpPr>
          <p:cNvPr id="10" name="Text 8"/>
          <p:cNvSpPr txBox="1"/>
          <p:nvPr/>
        </p:nvSpPr>
        <p:spPr>
          <a:xfrm>
            <a:off x="7863840" y="3611880"/>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05   STABILITY</a:t>
            </a:r>
            <a:endParaRPr lang="en-US" sz="1300" dirty="0"/>
          </a:p>
        </p:txBody>
      </p:sp>
      <p:sp>
        <p:nvSpPr>
          <p:cNvPr id="11" name="Text 9"/>
          <p:cNvSpPr txBox="1"/>
          <p:nvPr/>
        </p:nvSpPr>
        <p:spPr>
          <a:xfrm>
            <a:off x="7863840" y="4178808"/>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06   FAIRNESS</a:t>
            </a:r>
            <a:endParaRPr lang="en-US" sz="1300" dirty="0"/>
          </a:p>
        </p:txBody>
      </p:sp>
      <p:sp>
        <p:nvSpPr>
          <p:cNvPr id="12" name="Text 10"/>
          <p:cNvSpPr txBox="1"/>
          <p:nvPr/>
        </p:nvSpPr>
        <p:spPr>
          <a:xfrm>
            <a:off x="7863840" y="4745736"/>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07   RECOMMENDATION</a:t>
            </a:r>
            <a:endParaRPr lang="en-US" sz="1300" dirty="0"/>
          </a:p>
        </p:txBody>
      </p:sp>
      <p:pic>
        <p:nvPicPr>
          <p:cNvPr id="13" name="Image 0" descr="/home/claude/isaf-group-rito-mitsouka/assets/logo/icon_transparent.png">    </p:cNvPr>
          <p:cNvPicPr>
            <a:picLocks noChangeAspect="1"/>
          </p:cNvPicPr>
          <p:nvPr/>
        </p:nvPicPr>
        <p:blipFill>
          <a:blip r:embed="rId1"/>
          <a:stretch>
            <a:fillRect/>
          </a:stretch>
        </p:blipFill>
        <p:spPr>
          <a:xfrm>
            <a:off x="10771632" y="6035040"/>
            <a:ext cx="777240" cy="3200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457200"/>
            <a:ext cx="9994392" cy="512064"/>
          </a:xfrm>
          <a:prstGeom prst="rect">
            <a:avLst/>
          </a:prstGeom>
          <a:noFill/>
          <a:ln/>
        </p:spPr>
        <p:txBody>
          <a:bodyPr wrap="square" lIns="0" tIns="0" rIns="0" bIns="0" rtlCol="0" anchor="ctr"/>
          <a:lstStyle/>
          <a:p>
            <a:pPr indent="0" marL="0">
              <a:buNone/>
            </a:pPr>
            <a:r>
              <a:rPr lang="en-US" sz="2600" dirty="0">
                <a:solidFill>
                  <a:srgbClr val="1E33C8"/>
                </a:solidFill>
                <a:latin typeface="Impact" pitchFamily="34" charset="0"/>
                <a:ea typeface="Impact" pitchFamily="34" charset="-122"/>
                <a:cs typeface="Impact" pitchFamily="34" charset="-120"/>
              </a:rPr>
              <a:t>THE ENGINE COSTS CENTS AND SELLS FOR DOLLARS</a:t>
            </a:r>
            <a:endParaRPr lang="en-US" sz="2600" dirty="0"/>
          </a:p>
        </p:txBody>
      </p:sp>
      <p:pic>
        <p:nvPicPr>
          <p:cNvPr id="3" name="Image 0" descr="/home/claude/isaf-group-rito-mitsouka/assets/logo/icon_transparent.png">    </p:cNvPr>
          <p:cNvPicPr>
            <a:picLocks noChangeAspect="1"/>
          </p:cNvPicPr>
          <p:nvPr/>
        </p:nvPicPr>
        <p:blipFill>
          <a:blip r:embed="rId1"/>
          <a:stretch>
            <a:fillRect/>
          </a:stretch>
        </p:blipFill>
        <p:spPr>
          <a:xfrm>
            <a:off x="10771632" y="411480"/>
            <a:ext cx="777240" cy="320040"/>
          </a:xfrm>
          <a:prstGeom prst="rect">
            <a:avLst/>
          </a:prstGeom>
        </p:spPr>
      </p:pic>
      <p:sp>
        <p:nvSpPr>
          <p:cNvPr id="4" name="Text 1"/>
          <p:cNvSpPr txBox="1"/>
          <p:nvPr/>
        </p:nvSpPr>
        <p:spPr>
          <a:xfrm>
            <a:off x="640080" y="969264"/>
            <a:ext cx="10908792" cy="365760"/>
          </a:xfrm>
          <a:prstGeom prst="rect">
            <a:avLst/>
          </a:prstGeom>
          <a:noFill/>
          <a:ln/>
        </p:spPr>
        <p:txBody>
          <a:bodyPr wrap="square" lIns="0" tIns="0" rIns="0" bIns="0" rtlCol="0" anchor="ctr"/>
          <a:lstStyle/>
          <a:p>
            <a:pPr indent="0" marL="0">
              <a:buNone/>
            </a:pPr>
            <a:r>
              <a:rPr lang="en-US" sz="1500" dirty="0">
                <a:solidFill>
                  <a:srgbClr val="6B6F80"/>
                </a:solidFill>
                <a:latin typeface="Trebuchet MS" pitchFamily="34" charset="0"/>
                <a:ea typeface="Trebuchet MS" pitchFamily="34" charset="-122"/>
                <a:cs typeface="Trebuchet MS" pitchFamily="34" charset="-120"/>
              </a:rPr>
              <a:t>How does the client make money out of it?</a:t>
            </a:r>
            <a:endParaRPr lang="en-US" sz="1500" dirty="0"/>
          </a:p>
        </p:txBody>
      </p:sp>
      <p:sp>
        <p:nvSpPr>
          <p:cNvPr id="5" name="Shape 2"/>
          <p:cNvSpPr/>
          <p:nvPr/>
        </p:nvSpPr>
        <p:spPr>
          <a:xfrm>
            <a:off x="640080" y="5760720"/>
            <a:ext cx="10908792" cy="731520"/>
          </a:xfrm>
          <a:prstGeom prst="roundRect">
            <a:avLst>
              <a:gd name="adj" fmla="val 15000"/>
            </a:avLst>
          </a:prstGeom>
          <a:solidFill>
            <a:srgbClr val="FFD709"/>
          </a:solidFill>
          <a:ln w="12700">
            <a:solidFill>
              <a:srgbClr val="FFD709"/>
            </a:solidFill>
            <a:prstDash val="solid"/>
          </a:ln>
        </p:spPr>
      </p:sp>
      <p:sp>
        <p:nvSpPr>
          <p:cNvPr id="6" name="Text 3"/>
          <p:cNvSpPr txBox="1"/>
          <p:nvPr/>
        </p:nvSpPr>
        <p:spPr>
          <a:xfrm>
            <a:off x="914400" y="5760720"/>
            <a:ext cx="10360152" cy="731520"/>
          </a:xfrm>
          <a:prstGeom prst="rect">
            <a:avLst/>
          </a:prstGeom>
          <a:noFill/>
          <a:ln/>
        </p:spPr>
        <p:txBody>
          <a:bodyPr wrap="square" lIns="0" tIns="0" rIns="0" bIns="0" rtlCol="0" anchor="ctr"/>
          <a:lstStyle/>
          <a:p>
            <a:pPr algn="ctr" indent="0" marL="0">
              <a:buNone/>
            </a:pPr>
            <a:r>
              <a:rPr lang="en-US" sz="1400" b="1" dirty="0">
                <a:solidFill>
                  <a:srgbClr val="101014"/>
                </a:solidFill>
                <a:latin typeface="Trebuchet MS" pitchFamily="34" charset="0"/>
                <a:ea typeface="Trebuchet MS" pitchFamily="34" charset="-122"/>
                <a:cs typeface="Trebuchet MS" pitchFamily="34" charset="-120"/>
              </a:rPr>
              <a:t>VALUE COMES FROM RETENTION, NOT FROM RATIONING THE ENGINE.</a:t>
            </a:r>
            <a:endParaRPr lang="en-US" sz="1400" dirty="0"/>
          </a:p>
        </p:txBody>
      </p:sp>
      <p:sp>
        <p:nvSpPr>
          <p:cNvPr id="7" name="Shape 4"/>
          <p:cNvSpPr/>
          <p:nvPr/>
        </p:nvSpPr>
        <p:spPr>
          <a:xfrm>
            <a:off x="640080" y="1645920"/>
            <a:ext cx="3429000" cy="1508760"/>
          </a:xfrm>
          <a:prstGeom prst="roundRect">
            <a:avLst>
              <a:gd name="adj" fmla="val 4848"/>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8" name="Text 5"/>
          <p:cNvSpPr txBox="1"/>
          <p:nvPr/>
        </p:nvSpPr>
        <p:spPr>
          <a:xfrm>
            <a:off x="777240" y="1828800"/>
            <a:ext cx="3154680" cy="365760"/>
          </a:xfrm>
          <a:prstGeom prst="rect">
            <a:avLst/>
          </a:prstGeom>
          <a:noFill/>
          <a:ln/>
        </p:spPr>
        <p:txBody>
          <a:bodyPr wrap="square" lIns="0" tIns="0" rIns="0" bIns="0" rtlCol="0" anchor="ctr"/>
          <a:lstStyle/>
          <a:p>
            <a:pPr algn="ctr" indent="0" marL="0">
              <a:buNone/>
            </a:pPr>
            <a:r>
              <a:rPr lang="en-US" sz="1400" b="1" dirty="0">
                <a:solidFill>
                  <a:srgbClr val="1E33C8"/>
                </a:solidFill>
                <a:latin typeface="Trebuchet MS" pitchFamily="34" charset="0"/>
                <a:ea typeface="Trebuchet MS" pitchFamily="34" charset="-122"/>
                <a:cs typeface="Trebuchet MS" pitchFamily="34" charset="-120"/>
              </a:rPr>
              <a:t>SUBSCRIBES</a:t>
            </a:r>
            <a:endParaRPr lang="en-US" sz="1400" dirty="0"/>
          </a:p>
        </p:txBody>
      </p:sp>
      <p:sp>
        <p:nvSpPr>
          <p:cNvPr id="9" name="Text 6"/>
          <p:cNvSpPr txBox="1"/>
          <p:nvPr/>
        </p:nvSpPr>
        <p:spPr>
          <a:xfrm>
            <a:off x="777240" y="2212848"/>
            <a:ext cx="3154680" cy="777240"/>
          </a:xfrm>
          <a:prstGeom prst="rect">
            <a:avLst/>
          </a:prstGeom>
          <a:noFill/>
          <a:ln/>
        </p:spPr>
        <p:txBody>
          <a:bodyPr wrap="square" lIns="0" tIns="0" rIns="0" bIns="0" rtlCol="0" anchor="ctr"/>
          <a:lstStyle/>
          <a:p>
            <a:pPr algn="ctr" indent="0" marL="0">
              <a:buNone/>
            </a:pPr>
            <a:r>
              <a:rPr lang="en-US" sz="1200" dirty="0">
                <a:solidFill>
                  <a:srgbClr val="6B6F80"/>
                </a:solidFill>
                <a:latin typeface="Trebuchet MS" pitchFamily="34" charset="0"/>
                <a:ea typeface="Trebuchet MS" pitchFamily="34" charset="-122"/>
                <a:cs typeface="Trebuchet MS" pitchFamily="34" charset="-120"/>
              </a:rPr>
              <a:t>The monthly plan unlocks</a:t>
            </a:r>
            <a:endParaRPr lang="en-US" sz="1200" dirty="0"/>
          </a:p>
          <a:p>
            <a:pPr algn="ctr" indent="0" marL="0">
              <a:buNone/>
            </a:pPr>
            <a:r>
              <a:rPr lang="en-US" sz="1200" dirty="0">
                <a:solidFill>
                  <a:srgbClr val="6B6F80"/>
                </a:solidFill>
                <a:latin typeface="Trebuchet MS" pitchFamily="34" charset="0"/>
                <a:ea typeface="Trebuchet MS" pitchFamily="34" charset="-122"/>
                <a:cs typeface="Trebuchet MS" pitchFamily="34" charset="-120"/>
              </a:rPr>
              <a:t>algorithmic recommendations</a:t>
            </a:r>
            <a:endParaRPr lang="en-US" sz="1200" dirty="0"/>
          </a:p>
        </p:txBody>
      </p:sp>
      <p:sp>
        <p:nvSpPr>
          <p:cNvPr id="10" name="Shape 7"/>
          <p:cNvSpPr/>
          <p:nvPr/>
        </p:nvSpPr>
        <p:spPr>
          <a:xfrm>
            <a:off x="4160520" y="2240280"/>
            <a:ext cx="219456" cy="320040"/>
          </a:xfrm>
          <a:prstGeom prst="rightArrow">
            <a:avLst/>
          </a:prstGeom>
          <a:solidFill>
            <a:srgbClr val="FFD709"/>
          </a:solidFill>
          <a:ln w="12700">
            <a:solidFill>
              <a:srgbClr val="FFD709"/>
            </a:solidFill>
            <a:prstDash val="solid"/>
          </a:ln>
        </p:spPr>
      </p:sp>
      <p:sp>
        <p:nvSpPr>
          <p:cNvPr id="11" name="Shape 8"/>
          <p:cNvSpPr/>
          <p:nvPr/>
        </p:nvSpPr>
        <p:spPr>
          <a:xfrm>
            <a:off x="4379976" y="1645920"/>
            <a:ext cx="3429000" cy="1508760"/>
          </a:xfrm>
          <a:prstGeom prst="roundRect">
            <a:avLst>
              <a:gd name="adj" fmla="val 4848"/>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2" name="Text 9"/>
          <p:cNvSpPr txBox="1"/>
          <p:nvPr/>
        </p:nvSpPr>
        <p:spPr>
          <a:xfrm>
            <a:off x="4517136" y="1828800"/>
            <a:ext cx="3154680" cy="365760"/>
          </a:xfrm>
          <a:prstGeom prst="rect">
            <a:avLst/>
          </a:prstGeom>
          <a:noFill/>
          <a:ln/>
        </p:spPr>
        <p:txBody>
          <a:bodyPr wrap="square" lIns="0" tIns="0" rIns="0" bIns="0" rtlCol="0" anchor="ctr"/>
          <a:lstStyle/>
          <a:p>
            <a:pPr algn="ctr" indent="0" marL="0">
              <a:buNone/>
            </a:pPr>
            <a:r>
              <a:rPr lang="en-US" sz="1400" b="1" dirty="0">
                <a:solidFill>
                  <a:srgbClr val="1E33C8"/>
                </a:solidFill>
                <a:latin typeface="Trebuchet MS" pitchFamily="34" charset="0"/>
                <a:ea typeface="Trebuchet MS" pitchFamily="34" charset="-122"/>
                <a:cs typeface="Trebuchet MS" pitchFamily="34" charset="-120"/>
              </a:rPr>
              <a:t>MATCHES SOONER</a:t>
            </a:r>
            <a:endParaRPr lang="en-US" sz="1400" dirty="0"/>
          </a:p>
        </p:txBody>
      </p:sp>
      <p:sp>
        <p:nvSpPr>
          <p:cNvPr id="13" name="Text 10"/>
          <p:cNvSpPr txBox="1"/>
          <p:nvPr/>
        </p:nvSpPr>
        <p:spPr>
          <a:xfrm>
            <a:off x="4517136" y="2212848"/>
            <a:ext cx="3154680" cy="777240"/>
          </a:xfrm>
          <a:prstGeom prst="rect">
            <a:avLst/>
          </a:prstGeom>
          <a:noFill/>
          <a:ln/>
        </p:spPr>
        <p:txBody>
          <a:bodyPr wrap="square" lIns="0" tIns="0" rIns="0" bIns="0" rtlCol="0" anchor="ctr"/>
          <a:lstStyle/>
          <a:p>
            <a:pPr algn="ctr" indent="0" marL="0">
              <a:buNone/>
            </a:pPr>
            <a:r>
              <a:rPr lang="en-US" sz="1200" dirty="0">
                <a:solidFill>
                  <a:srgbClr val="6B6F80"/>
                </a:solidFill>
                <a:latin typeface="Trebuchet MS" pitchFamily="34" charset="0"/>
                <a:ea typeface="Trebuchet MS" pitchFamily="34" charset="-122"/>
                <a:cs typeface="Trebuchet MS" pitchFamily="34" charset="-120"/>
              </a:rPr>
              <a:t>Better pairs at the top</a:t>
            </a:r>
            <a:endParaRPr lang="en-US" sz="1200" dirty="0"/>
          </a:p>
          <a:p>
            <a:pPr algn="ctr" indent="0" marL="0">
              <a:buNone/>
            </a:pPr>
            <a:r>
              <a:rPr lang="en-US" sz="1200" dirty="0">
                <a:solidFill>
                  <a:srgbClr val="6B6F80"/>
                </a:solidFill>
                <a:latin typeface="Trebuchet MS" pitchFamily="34" charset="0"/>
                <a:ea typeface="Trebuchet MS" pitchFamily="34" charset="-122"/>
                <a:cs typeface="Trebuchet MS" pitchFamily="34" charset="-120"/>
              </a:rPr>
              <a:t>of the shortlist</a:t>
            </a:r>
            <a:endParaRPr lang="en-US" sz="1200" dirty="0"/>
          </a:p>
        </p:txBody>
      </p:sp>
      <p:sp>
        <p:nvSpPr>
          <p:cNvPr id="14" name="Shape 11"/>
          <p:cNvSpPr/>
          <p:nvPr/>
        </p:nvSpPr>
        <p:spPr>
          <a:xfrm>
            <a:off x="7900416" y="2240280"/>
            <a:ext cx="219456" cy="320040"/>
          </a:xfrm>
          <a:prstGeom prst="rightArrow">
            <a:avLst/>
          </a:prstGeom>
          <a:solidFill>
            <a:srgbClr val="FFD709"/>
          </a:solidFill>
          <a:ln w="12700">
            <a:solidFill>
              <a:srgbClr val="FFD709"/>
            </a:solidFill>
            <a:prstDash val="solid"/>
          </a:ln>
        </p:spPr>
      </p:sp>
      <p:sp>
        <p:nvSpPr>
          <p:cNvPr id="15" name="Shape 12"/>
          <p:cNvSpPr/>
          <p:nvPr/>
        </p:nvSpPr>
        <p:spPr>
          <a:xfrm>
            <a:off x="8119872" y="1645920"/>
            <a:ext cx="3429000" cy="1508760"/>
          </a:xfrm>
          <a:prstGeom prst="roundRect">
            <a:avLst>
              <a:gd name="adj" fmla="val 4848"/>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6" name="Text 13"/>
          <p:cNvSpPr txBox="1"/>
          <p:nvPr/>
        </p:nvSpPr>
        <p:spPr>
          <a:xfrm>
            <a:off x="8257032" y="1828800"/>
            <a:ext cx="3154680" cy="365760"/>
          </a:xfrm>
          <a:prstGeom prst="rect">
            <a:avLst/>
          </a:prstGeom>
          <a:noFill/>
          <a:ln/>
        </p:spPr>
        <p:txBody>
          <a:bodyPr wrap="square" lIns="0" tIns="0" rIns="0" bIns="0" rtlCol="0" anchor="ctr"/>
          <a:lstStyle/>
          <a:p>
            <a:pPr algn="ctr" indent="0" marL="0">
              <a:buNone/>
            </a:pPr>
            <a:r>
              <a:rPr lang="en-US" sz="1400" b="1" dirty="0">
                <a:solidFill>
                  <a:srgbClr val="1E33C8"/>
                </a:solidFill>
                <a:latin typeface="Trebuchet MS" pitchFamily="34" charset="0"/>
                <a:ea typeface="Trebuchet MS" pitchFamily="34" charset="-122"/>
                <a:cs typeface="Trebuchet MS" pitchFamily="34" charset="-120"/>
              </a:rPr>
              <a:t>STAYS LONGER</a:t>
            </a:r>
            <a:endParaRPr lang="en-US" sz="1400" dirty="0"/>
          </a:p>
        </p:txBody>
      </p:sp>
      <p:sp>
        <p:nvSpPr>
          <p:cNvPr id="17" name="Text 14"/>
          <p:cNvSpPr txBox="1"/>
          <p:nvPr/>
        </p:nvSpPr>
        <p:spPr>
          <a:xfrm>
            <a:off x="8257032" y="2212848"/>
            <a:ext cx="3154680" cy="777240"/>
          </a:xfrm>
          <a:prstGeom prst="rect">
            <a:avLst/>
          </a:prstGeom>
          <a:noFill/>
          <a:ln/>
        </p:spPr>
        <p:txBody>
          <a:bodyPr wrap="square" lIns="0" tIns="0" rIns="0" bIns="0" rtlCol="0" anchor="ctr"/>
          <a:lstStyle/>
          <a:p>
            <a:pPr algn="ctr" indent="0" marL="0">
              <a:buNone/>
            </a:pPr>
            <a:r>
              <a:rPr lang="en-US" sz="1200" dirty="0">
                <a:solidFill>
                  <a:srgbClr val="6B6F80"/>
                </a:solidFill>
                <a:latin typeface="Trebuchet MS" pitchFamily="34" charset="0"/>
                <a:ea typeface="Trebuchet MS" pitchFamily="34" charset="-122"/>
                <a:cs typeface="Trebuchet MS" pitchFamily="34" charset="-120"/>
              </a:rPr>
              <a:t>Longer subscriptions,</a:t>
            </a:r>
            <a:endParaRPr lang="en-US" sz="1200" dirty="0"/>
          </a:p>
          <a:p>
            <a:pPr algn="ctr" indent="0" marL="0">
              <a:buNone/>
            </a:pPr>
            <a:r>
              <a:rPr lang="en-US" sz="1200" dirty="0">
                <a:solidFill>
                  <a:srgbClr val="6B6F80"/>
                </a:solidFill>
                <a:latin typeface="Trebuchet MS" pitchFamily="34" charset="0"/>
                <a:ea typeface="Trebuchet MS" pitchFamily="34" charset="-122"/>
                <a:cs typeface="Trebuchet MS" pitchFamily="34" charset="-120"/>
              </a:rPr>
              <a:t>recurring revenue</a:t>
            </a:r>
            <a:endParaRPr lang="en-US" sz="1200" dirty="0"/>
          </a:p>
        </p:txBody>
      </p:sp>
      <p:sp>
        <p:nvSpPr>
          <p:cNvPr id="18" name="Shape 15"/>
          <p:cNvSpPr/>
          <p:nvPr/>
        </p:nvSpPr>
        <p:spPr>
          <a:xfrm>
            <a:off x="640080" y="3703320"/>
            <a:ext cx="3520440" cy="1783080"/>
          </a:xfrm>
          <a:prstGeom prst="roundRect">
            <a:avLst>
              <a:gd name="adj" fmla="val 4103"/>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9" name="Text 16"/>
          <p:cNvSpPr txBox="1"/>
          <p:nvPr/>
        </p:nvSpPr>
        <p:spPr>
          <a:xfrm>
            <a:off x="640080" y="3822192"/>
            <a:ext cx="3520440" cy="640080"/>
          </a:xfrm>
          <a:prstGeom prst="rect">
            <a:avLst/>
          </a:prstGeom>
          <a:noFill/>
          <a:ln/>
        </p:spPr>
        <p:txBody>
          <a:bodyPr wrap="square" lIns="0" tIns="0" rIns="0" bIns="0" rtlCol="0" anchor="ctr"/>
          <a:lstStyle/>
          <a:p>
            <a:pPr algn="ctr" indent="0" marL="0">
              <a:buNone/>
            </a:pPr>
            <a:r>
              <a:rPr lang="en-US" sz="3200" dirty="0">
                <a:solidFill>
                  <a:srgbClr val="1E33C8"/>
                </a:solidFill>
                <a:latin typeface="Impact" pitchFamily="34" charset="0"/>
                <a:ea typeface="Impact" pitchFamily="34" charset="-122"/>
                <a:cs typeface="Impact" pitchFamily="34" charset="-120"/>
              </a:rPr>
              <a:t>$0.04</a:t>
            </a:r>
            <a:endParaRPr lang="en-US" sz="3200" dirty="0"/>
          </a:p>
        </p:txBody>
      </p:sp>
      <p:sp>
        <p:nvSpPr>
          <p:cNvPr id="20" name="Text 17"/>
          <p:cNvSpPr txBox="1"/>
          <p:nvPr/>
        </p:nvSpPr>
        <p:spPr>
          <a:xfrm>
            <a:off x="777240" y="4453128"/>
            <a:ext cx="3246120" cy="914400"/>
          </a:xfrm>
          <a:prstGeom prst="rect">
            <a:avLst/>
          </a:prstGeom>
          <a:noFill/>
          <a:ln/>
        </p:spPr>
        <p:txBody>
          <a:bodyPr wrap="square" lIns="0" tIns="0" rIns="0" bIns="0" rtlCol="0" anchor="t"/>
          <a:lstStyle/>
          <a:p>
            <a:pPr algn="ctr" indent="0" marL="0">
              <a:buNone/>
            </a:pPr>
            <a:r>
              <a:rPr lang="en-US" sz="1150" dirty="0">
                <a:solidFill>
                  <a:srgbClr val="6B6F80"/>
                </a:solidFill>
                <a:latin typeface="Trebuchet MS" pitchFamily="34" charset="0"/>
                <a:ea typeface="Trebuchet MS" pitchFamily="34" charset="-122"/>
                <a:cs typeface="Trebuchet MS" pitchFamily="34" charset="-120"/>
              </a:rPr>
              <a:t>to run the engine</a:t>
            </a:r>
            <a:endParaRPr lang="en-US" sz="1150" dirty="0"/>
          </a:p>
          <a:p>
            <a:pPr algn="ctr" indent="0" marL="0">
              <a:buNone/>
            </a:pPr>
            <a:r>
              <a:rPr lang="en-US" sz="1150" dirty="0">
                <a:solidFill>
                  <a:srgbClr val="6B6F80"/>
                </a:solidFill>
                <a:latin typeface="Trebuchet MS" pitchFamily="34" charset="0"/>
                <a:ea typeface="Trebuchet MS" pitchFamily="34" charset="-122"/>
                <a:cs typeface="Trebuchet MS" pitchFamily="34" charset="-120"/>
              </a:rPr>
              <a:t>per 1,000 users per year</a:t>
            </a:r>
            <a:endParaRPr lang="en-US" sz="1150" dirty="0"/>
          </a:p>
        </p:txBody>
      </p:sp>
      <p:sp>
        <p:nvSpPr>
          <p:cNvPr id="21" name="Shape 18"/>
          <p:cNvSpPr/>
          <p:nvPr/>
        </p:nvSpPr>
        <p:spPr>
          <a:xfrm>
            <a:off x="4343400" y="3703320"/>
            <a:ext cx="3520440" cy="1783080"/>
          </a:xfrm>
          <a:prstGeom prst="roundRect">
            <a:avLst>
              <a:gd name="adj" fmla="val 4103"/>
            </a:avLst>
          </a:prstGeom>
          <a:solidFill>
            <a:srgbClr val="FFD709"/>
          </a:solidFill>
          <a:ln w="12700">
            <a:solidFill>
              <a:srgbClr val="FFD709"/>
            </a:solidFill>
            <a:prstDash val="solid"/>
          </a:ln>
          <a:effectLst>
            <a:outerShdw sx="100000" sy="100000" kx="0" ky="0" algn="bl" rotWithShape="0" blurRad="76200" dist="381" dir="5400000">
              <a:srgbClr val="9096B8">
                <a:alpha val="22000"/>
              </a:srgbClr>
            </a:outerShdw>
          </a:effectLst>
        </p:spPr>
      </p:sp>
      <p:sp>
        <p:nvSpPr>
          <p:cNvPr id="22" name="Text 19"/>
          <p:cNvSpPr txBox="1"/>
          <p:nvPr/>
        </p:nvSpPr>
        <p:spPr>
          <a:xfrm>
            <a:off x="4343400" y="3822192"/>
            <a:ext cx="3520440" cy="640080"/>
          </a:xfrm>
          <a:prstGeom prst="rect">
            <a:avLst/>
          </a:prstGeom>
          <a:noFill/>
          <a:ln/>
        </p:spPr>
        <p:txBody>
          <a:bodyPr wrap="square" lIns="0" tIns="0" rIns="0" bIns="0" rtlCol="0" anchor="ctr"/>
          <a:lstStyle/>
          <a:p>
            <a:pPr algn="ctr" indent="0" marL="0">
              <a:buNone/>
            </a:pPr>
            <a:r>
              <a:rPr lang="en-US" sz="3200" dirty="0">
                <a:solidFill>
                  <a:srgbClr val="101014"/>
                </a:solidFill>
                <a:latin typeface="Impact" pitchFamily="34" charset="0"/>
                <a:ea typeface="Impact" pitchFamily="34" charset="-122"/>
                <a:cs typeface="Impact" pitchFamily="34" charset="-120"/>
              </a:rPr>
              <a:t>$1,800</a:t>
            </a:r>
            <a:endParaRPr lang="en-US" sz="3200" dirty="0"/>
          </a:p>
        </p:txBody>
      </p:sp>
      <p:sp>
        <p:nvSpPr>
          <p:cNvPr id="23" name="Text 20"/>
          <p:cNvSpPr txBox="1"/>
          <p:nvPr/>
        </p:nvSpPr>
        <p:spPr>
          <a:xfrm>
            <a:off x="4480560" y="4453128"/>
            <a:ext cx="3246120" cy="914400"/>
          </a:xfrm>
          <a:prstGeom prst="rect">
            <a:avLst/>
          </a:prstGeom>
          <a:noFill/>
          <a:ln/>
        </p:spPr>
        <p:txBody>
          <a:bodyPr wrap="square" lIns="0" tIns="0" rIns="0" bIns="0" rtlCol="0" anchor="t"/>
          <a:lstStyle/>
          <a:p>
            <a:pPr algn="ctr" indent="0" marL="0">
              <a:buNone/>
            </a:pPr>
            <a:r>
              <a:rPr lang="en-US" sz="1150" dirty="0">
                <a:solidFill>
                  <a:srgbClr val="101014"/>
                </a:solidFill>
                <a:latin typeface="Trebuchet MS" pitchFamily="34" charset="0"/>
                <a:ea typeface="Trebuchet MS" pitchFamily="34" charset="-122"/>
                <a:cs typeface="Trebuchet MS" pitchFamily="34" charset="-120"/>
              </a:rPr>
              <a:t>of value per 1,000 users per year,</a:t>
            </a:r>
            <a:endParaRPr lang="en-US" sz="1150" dirty="0"/>
          </a:p>
          <a:p>
            <a:pPr algn="ctr" indent="0" marL="0">
              <a:buNone/>
            </a:pPr>
            <a:r>
              <a:rPr lang="en-US" sz="1150" dirty="0">
                <a:solidFill>
                  <a:srgbClr val="101014"/>
                </a:solidFill>
                <a:latin typeface="Trebuchet MS" pitchFamily="34" charset="0"/>
                <a:ea typeface="Trebuchet MS" pitchFamily="34" charset="-122"/>
                <a:cs typeface="Trebuchet MS" pitchFamily="34" charset="-120"/>
              </a:rPr>
              <a:t>at $15 a month, 12% conversion,</a:t>
            </a:r>
            <a:endParaRPr lang="en-US" sz="1150" dirty="0"/>
          </a:p>
          <a:p>
            <a:pPr algn="ctr" indent="0" marL="0">
              <a:buNone/>
            </a:pPr>
            <a:r>
              <a:rPr lang="en-US" sz="1150" dirty="0">
                <a:solidFill>
                  <a:srgbClr val="101014"/>
                </a:solidFill>
                <a:latin typeface="Trebuchet MS" pitchFamily="34" charset="0"/>
                <a:ea typeface="Trebuchet MS" pitchFamily="34" charset="-122"/>
                <a:cs typeface="Trebuchet MS" pitchFamily="34" charset="-120"/>
              </a:rPr>
              <a:t>one extra paid month</a:t>
            </a:r>
            <a:endParaRPr lang="en-US" sz="1150" dirty="0"/>
          </a:p>
        </p:txBody>
      </p:sp>
      <p:sp>
        <p:nvSpPr>
          <p:cNvPr id="24" name="Shape 21"/>
          <p:cNvSpPr/>
          <p:nvPr/>
        </p:nvSpPr>
        <p:spPr>
          <a:xfrm>
            <a:off x="8046720" y="3703320"/>
            <a:ext cx="3502152" cy="1783080"/>
          </a:xfrm>
          <a:prstGeom prst="roundRect">
            <a:avLst>
              <a:gd name="adj" fmla="val 4103"/>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25" name="Text 22"/>
          <p:cNvSpPr txBox="1"/>
          <p:nvPr/>
        </p:nvSpPr>
        <p:spPr>
          <a:xfrm>
            <a:off x="8046720" y="3822192"/>
            <a:ext cx="3502152" cy="640080"/>
          </a:xfrm>
          <a:prstGeom prst="rect">
            <a:avLst/>
          </a:prstGeom>
          <a:noFill/>
          <a:ln/>
        </p:spPr>
        <p:txBody>
          <a:bodyPr wrap="square" lIns="0" tIns="0" rIns="0" bIns="0" rtlCol="0" anchor="ctr"/>
          <a:lstStyle/>
          <a:p>
            <a:pPr algn="ctr" indent="0" marL="0">
              <a:buNone/>
            </a:pPr>
            <a:r>
              <a:rPr lang="en-US" sz="3200" dirty="0">
                <a:solidFill>
                  <a:srgbClr val="1E33C8"/>
                </a:solidFill>
                <a:latin typeface="Impact" pitchFamily="34" charset="0"/>
                <a:ea typeface="Impact" pitchFamily="34" charset="-122"/>
                <a:cs typeface="Impact" pitchFamily="34" charset="-120"/>
              </a:rPr>
              <a:t>8 to 15%</a:t>
            </a:r>
            <a:endParaRPr lang="en-US" sz="3200" dirty="0"/>
          </a:p>
        </p:txBody>
      </p:sp>
      <p:sp>
        <p:nvSpPr>
          <p:cNvPr id="26" name="Text 23"/>
          <p:cNvSpPr txBox="1"/>
          <p:nvPr/>
        </p:nvSpPr>
        <p:spPr>
          <a:xfrm>
            <a:off x="8183880" y="4453128"/>
            <a:ext cx="3227832" cy="914400"/>
          </a:xfrm>
          <a:prstGeom prst="rect">
            <a:avLst/>
          </a:prstGeom>
          <a:noFill/>
          <a:ln/>
        </p:spPr>
        <p:txBody>
          <a:bodyPr wrap="square" lIns="0" tIns="0" rIns="0" bIns="0" rtlCol="0" anchor="t"/>
          <a:lstStyle/>
          <a:p>
            <a:pPr algn="ctr" indent="0" marL="0">
              <a:buNone/>
            </a:pPr>
            <a:r>
              <a:rPr lang="en-US" sz="1150" dirty="0">
                <a:solidFill>
                  <a:srgbClr val="6B6F80"/>
                </a:solidFill>
                <a:latin typeface="Trebuchet MS" pitchFamily="34" charset="0"/>
                <a:ea typeface="Trebuchet MS" pitchFamily="34" charset="-122"/>
                <a:cs typeface="Trebuchet MS" pitchFamily="34" charset="-120"/>
              </a:rPr>
              <a:t>is the paid share on comparable apps:</a:t>
            </a:r>
            <a:endParaRPr lang="en-US" sz="1150" dirty="0"/>
          </a:p>
          <a:p>
            <a:pPr algn="ctr" indent="0" marL="0">
              <a:buNone/>
            </a:pPr>
            <a:r>
              <a:rPr lang="en-US" sz="1150" dirty="0">
                <a:solidFill>
                  <a:srgbClr val="6B6F80"/>
                </a:solidFill>
                <a:latin typeface="Trebuchet MS" pitchFamily="34" charset="0"/>
                <a:ea typeface="Trebuchet MS" pitchFamily="34" charset="-122"/>
                <a:cs typeface="Trebuchet MS" pitchFamily="34" charset="-120"/>
              </a:rPr>
              <a:t>Tinder 8.6M payers for 60M users,</a:t>
            </a:r>
            <a:endParaRPr lang="en-US" sz="1150" dirty="0"/>
          </a:p>
          <a:p>
            <a:pPr algn="ctr" indent="0" marL="0">
              <a:buNone/>
            </a:pPr>
            <a:r>
              <a:rPr lang="en-US" sz="1150" dirty="0">
                <a:solidFill>
                  <a:srgbClr val="6B6F80"/>
                </a:solidFill>
                <a:latin typeface="Trebuchet MS" pitchFamily="34" charset="0"/>
                <a:ea typeface="Trebuchet MS" pitchFamily="34" charset="-122"/>
                <a:cs typeface="Trebuchet MS" pitchFamily="34" charset="-120"/>
              </a:rPr>
              <a:t>Grindr 8.4%</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457200"/>
            <a:ext cx="9994392" cy="512064"/>
          </a:xfrm>
          <a:prstGeom prst="rect">
            <a:avLst/>
          </a:prstGeom>
          <a:noFill/>
          <a:ln/>
        </p:spPr>
        <p:txBody>
          <a:bodyPr wrap="square" lIns="0" tIns="0" rIns="0" bIns="0" rtlCol="0" anchor="ctr"/>
          <a:lstStyle/>
          <a:p>
            <a:pPr indent="0" marL="0">
              <a:buNone/>
            </a:pPr>
            <a:r>
              <a:rPr lang="en-US" sz="2600" dirty="0">
                <a:solidFill>
                  <a:srgbClr val="1E33C8"/>
                </a:solidFill>
                <a:latin typeface="Impact" pitchFamily="34" charset="0"/>
                <a:ea typeface="Impact" pitchFamily="34" charset="-122"/>
                <a:cs typeface="Impact" pitchFamily="34" charset="-120"/>
              </a:rPr>
              <a:t>PERFORMANCE CANNOT CHOOSE THE ENGINE</a:t>
            </a:r>
            <a:endParaRPr lang="en-US" sz="2600" dirty="0"/>
          </a:p>
        </p:txBody>
      </p:sp>
      <p:pic>
        <p:nvPicPr>
          <p:cNvPr id="3" name="Image 0" descr="/home/claude/isaf-group-rito-mitsouka/assets/logo/icon_transparent.png">    </p:cNvPr>
          <p:cNvPicPr>
            <a:picLocks noChangeAspect="1"/>
          </p:cNvPicPr>
          <p:nvPr/>
        </p:nvPicPr>
        <p:blipFill>
          <a:blip r:embed="rId1"/>
          <a:stretch>
            <a:fillRect/>
          </a:stretch>
        </p:blipFill>
        <p:spPr>
          <a:xfrm>
            <a:off x="10771632" y="411480"/>
            <a:ext cx="777240" cy="320040"/>
          </a:xfrm>
          <a:prstGeom prst="rect">
            <a:avLst/>
          </a:prstGeom>
        </p:spPr>
      </p:pic>
      <p:sp>
        <p:nvSpPr>
          <p:cNvPr id="4" name="Text 1"/>
          <p:cNvSpPr txBox="1"/>
          <p:nvPr/>
        </p:nvSpPr>
        <p:spPr>
          <a:xfrm>
            <a:off x="640080" y="969264"/>
            <a:ext cx="10908792" cy="365760"/>
          </a:xfrm>
          <a:prstGeom prst="rect">
            <a:avLst/>
          </a:prstGeom>
          <a:noFill/>
          <a:ln/>
        </p:spPr>
        <p:txBody>
          <a:bodyPr wrap="square" lIns="0" tIns="0" rIns="0" bIns="0" rtlCol="0" anchor="ctr"/>
          <a:lstStyle/>
          <a:p>
            <a:pPr indent="0" marL="0">
              <a:buNone/>
            </a:pPr>
            <a:r>
              <a:rPr lang="en-US" sz="1500" dirty="0">
                <a:solidFill>
                  <a:srgbClr val="6B6F80"/>
                </a:solidFill>
                <a:latin typeface="Trebuchet MS" pitchFamily="34" charset="0"/>
                <a:ea typeface="Trebuchet MS" pitchFamily="34" charset="-122"/>
                <a:cs typeface="Trebuchet MS" pitchFamily="34" charset="-120"/>
              </a:rPr>
              <a:t>Which of the three predicts best?</a:t>
            </a:r>
            <a:endParaRPr lang="en-US" sz="1500" dirty="0"/>
          </a:p>
        </p:txBody>
      </p:sp>
      <p:sp>
        <p:nvSpPr>
          <p:cNvPr id="5" name="Shape 2"/>
          <p:cNvSpPr/>
          <p:nvPr/>
        </p:nvSpPr>
        <p:spPr>
          <a:xfrm>
            <a:off x="640080" y="5760720"/>
            <a:ext cx="10908792" cy="731520"/>
          </a:xfrm>
          <a:prstGeom prst="roundRect">
            <a:avLst>
              <a:gd name="adj" fmla="val 15000"/>
            </a:avLst>
          </a:prstGeom>
          <a:solidFill>
            <a:srgbClr val="FFD709"/>
          </a:solidFill>
          <a:ln w="12700">
            <a:solidFill>
              <a:srgbClr val="FFD709"/>
            </a:solidFill>
            <a:prstDash val="solid"/>
          </a:ln>
        </p:spPr>
      </p:sp>
      <p:sp>
        <p:nvSpPr>
          <p:cNvPr id="6" name="Text 3"/>
          <p:cNvSpPr txBox="1"/>
          <p:nvPr/>
        </p:nvSpPr>
        <p:spPr>
          <a:xfrm>
            <a:off x="914400" y="5760720"/>
            <a:ext cx="10360152" cy="731520"/>
          </a:xfrm>
          <a:prstGeom prst="rect">
            <a:avLst/>
          </a:prstGeom>
          <a:noFill/>
          <a:ln/>
        </p:spPr>
        <p:txBody>
          <a:bodyPr wrap="square" lIns="0" tIns="0" rIns="0" bIns="0" rtlCol="0" anchor="ctr"/>
          <a:lstStyle/>
          <a:p>
            <a:pPr algn="ctr" indent="0" marL="0">
              <a:buNone/>
            </a:pPr>
            <a:r>
              <a:rPr lang="en-US" sz="1400" b="1" dirty="0">
                <a:solidFill>
                  <a:srgbClr val="101014"/>
                </a:solidFill>
                <a:latin typeface="Trebuchet MS" pitchFamily="34" charset="0"/>
                <a:ea typeface="Trebuchet MS" pitchFamily="34" charset="-122"/>
                <a:cs typeface="Trebuchet MS" pitchFamily="34" charset="-120"/>
              </a:rPr>
              <a:t>THE 3 ENGINES TIE: PERFORMANCE CANNOT PICK THE WINNER.</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5486400" cy="914400"/>
        </p:xfrm>
        <a:graphic>
          <a:graphicData uri="http://schemas.openxmlformats.org/drawingml/2006/table">
            <a:tbl>
              <a:tblPr/>
              <a:tblGrid>
                <a:gridCol w="2194560"/>
                <a:gridCol w="960120"/>
                <a:gridCol w="1600200"/>
                <a:gridCol w="731520"/>
              </a:tblGrid>
              <a:tr h="530352">
                <a:tc>
                  <a:txBody>
                    <a:bodyP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Engine</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c>
                  <a:txBody>
                    <a:bodyP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PR-AUC</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c>
                  <a:txBody>
                    <a:bodyP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Top decile match rate</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c>
                  <a:txBody>
                    <a:bodyP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Lift</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r>
              <a:tr h="530352">
                <a:tc>
                  <a:txBody>
                    <a:bodyPr/>
                    <a:lstStyle/>
                    <a:p>
                      <a:pPr algn="l" indent="0" marL="0">
                        <a:buNone/>
                      </a:pPr>
                      <a:r>
                        <a:rPr lang="en-US" sz="1300" dirty="0">
                          <a:solidFill>
                            <a:srgbClr val="101014"/>
                          </a:solidFill>
                          <a:latin typeface="Trebuchet MS" pitchFamily="34" charset="0"/>
                          <a:ea typeface="Trebuchet MS" pitchFamily="34" charset="-122"/>
                          <a:cs typeface="Trebuchet MS" pitchFamily="34" charset="-120"/>
                        </a:rPr>
                        <a:t>Lasso logistic regression</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0.228</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29.8%</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1.81</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r>
              <a:tr h="530352">
                <a:tc>
                  <a:txBody>
                    <a:bodyPr/>
                    <a:lstStyle/>
                    <a:p>
                      <a:pPr algn="l" indent="0" marL="0">
                        <a:buNone/>
                      </a:pPr>
                      <a:r>
                        <a:rPr lang="en-US" sz="1300" dirty="0">
                          <a:solidFill>
                            <a:srgbClr val="101014"/>
                          </a:solidFill>
                          <a:latin typeface="Trebuchet MS" pitchFamily="34" charset="0"/>
                          <a:ea typeface="Trebuchet MS" pitchFamily="34" charset="-122"/>
                          <a:cs typeface="Trebuchet MS" pitchFamily="34" charset="-120"/>
                        </a:rPr>
                        <a:t>XGBoost</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0.218</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28.6%</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1.74</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r>
              <a:tr h="530352">
                <a:tc>
                  <a:txBody>
                    <a:bodyPr/>
                    <a:lstStyle/>
                    <a:p>
                      <a:pPr algn="l" indent="0" marL="0">
                        <a:buNone/>
                      </a:pPr>
                      <a:r>
                        <a:rPr lang="en-US" sz="1300" dirty="0">
                          <a:solidFill>
                            <a:srgbClr val="101014"/>
                          </a:solidFill>
                          <a:latin typeface="Trebuchet MS" pitchFamily="34" charset="0"/>
                          <a:ea typeface="Trebuchet MS" pitchFamily="34" charset="-122"/>
                          <a:cs typeface="Trebuchet MS" pitchFamily="34" charset="-120"/>
                        </a:rPr>
                        <a:t>TabPFN</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0.234</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28.9%</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1.75</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r>
            </a:tbl>
          </a:graphicData>
        </a:graphic>
      </p:graphicFrame>
      <p:pic>
        <p:nvPicPr>
          <p:cNvPr id="8" name="Image 1" descr="/mnt/user-data/uploads/Classes/02 - Interpretability, Stability &amp; Algorithmic fairness/02 - Project/isaf-group-rito-mitsouka/reports/figures/07_top_decile.png">    </p:cNvPr>
          <p:cNvPicPr>
            <a:picLocks noChangeAspect="1"/>
          </p:cNvPicPr>
          <p:nvPr/>
        </p:nvPicPr>
        <p:blipFill>
          <a:blip r:embed="rId2"/>
          <a:stretch>
            <a:fillRect/>
          </a:stretch>
        </p:blipFill>
        <p:spPr>
          <a:xfrm>
            <a:off x="6400800" y="1645920"/>
            <a:ext cx="5148072" cy="1801368"/>
          </a:xfrm>
          <a:prstGeom prst="rect">
            <a:avLst/>
          </a:prstGeom>
        </p:spPr>
      </p:pic>
      <p:sp>
        <p:nvSpPr>
          <p:cNvPr id="9" name="Text 4"/>
          <p:cNvSpPr txBox="1"/>
          <p:nvPr/>
        </p:nvSpPr>
        <p:spPr>
          <a:xfrm>
            <a:off x="6400800" y="3520440"/>
            <a:ext cx="5148072" cy="274320"/>
          </a:xfrm>
          <a:prstGeom prst="rect">
            <a:avLst/>
          </a:prstGeom>
          <a:noFill/>
          <a:ln/>
        </p:spPr>
        <p:txBody>
          <a:bodyPr wrap="square" lIns="0" tIns="0" rIns="0" bIns="0" rtlCol="0" anchor="ctr"/>
          <a:lstStyle/>
          <a:p>
            <a:pPr indent="0" marL="0">
              <a:buNone/>
            </a:pPr>
            <a:r>
              <a:rPr lang="en-US" sz="1150" dirty="0">
                <a:solidFill>
                  <a:srgbClr val="6B6F80"/>
                </a:solidFill>
                <a:latin typeface="Trebuchet MS" pitchFamily="34" charset="0"/>
                <a:ea typeface="Trebuchet MS" pitchFamily="34" charset="-122"/>
                <a:cs typeface="Trebuchet MS" pitchFamily="34" charset="-120"/>
              </a:rPr>
              <a:t>Match rate in the top decile, with its 95% interval</a:t>
            </a:r>
            <a:endParaRPr lang="en-US" sz="1150" dirty="0"/>
          </a:p>
        </p:txBody>
      </p:sp>
      <p:sp>
        <p:nvSpPr>
          <p:cNvPr id="10" name="Shape 5"/>
          <p:cNvSpPr/>
          <p:nvPr/>
        </p:nvSpPr>
        <p:spPr>
          <a:xfrm>
            <a:off x="640080" y="4434840"/>
            <a:ext cx="10908792" cy="1051560"/>
          </a:xfrm>
          <a:prstGeom prst="roundRect">
            <a:avLst>
              <a:gd name="adj" fmla="val 6957"/>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1" name="Text 6"/>
          <p:cNvSpPr txBox="1"/>
          <p:nvPr/>
        </p:nvSpPr>
        <p:spPr>
          <a:xfrm>
            <a:off x="914400" y="4590288"/>
            <a:ext cx="10360152" cy="86868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101014"/>
                </a:solidFill>
                <a:latin typeface="Trebuchet MS" pitchFamily="34" charset="0"/>
                <a:ea typeface="Trebuchet MS" pitchFamily="34" charset="-122"/>
                <a:cs typeface="Trebuchet MS" pitchFamily="34" charset="-120"/>
              </a:rPr>
              <a:t>PR-AUC is the metric to watch: 1 pair in 6 matches.</a:t>
            </a:r>
            <a:endParaRPr lang="en-US" sz="1250" dirty="0"/>
          </a:p>
          <a:p>
            <a:pPr marL="342900" indent="-342900">
              <a:spcAft>
                <a:spcPts val="400"/>
              </a:spcAft>
              <a:buSzPct val="100000"/>
              <a:buChar char="■"/>
            </a:pPr>
            <a:r>
              <a:rPr lang="en-US" sz="1250" dirty="0">
                <a:solidFill>
                  <a:srgbClr val="101014"/>
                </a:solidFill>
                <a:latin typeface="Trebuchet MS" pitchFamily="34" charset="0"/>
                <a:ea typeface="Trebuchet MS" pitchFamily="34" charset="-122"/>
                <a:cs typeface="Trebuchet MS" pitchFamily="34" charset="-120"/>
              </a:rPr>
              <a:t>TabPFN leads on PR-AUC, the lasso at the top of the list. Neither gap is meaningful.</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457200"/>
            <a:ext cx="9994392" cy="512064"/>
          </a:xfrm>
          <a:prstGeom prst="rect">
            <a:avLst/>
          </a:prstGeom>
          <a:noFill/>
          <a:ln/>
        </p:spPr>
        <p:txBody>
          <a:bodyPr wrap="square" lIns="0" tIns="0" rIns="0" bIns="0" rtlCol="0" anchor="ctr"/>
          <a:lstStyle/>
          <a:p>
            <a:pPr indent="0" marL="0">
              <a:buNone/>
            </a:pPr>
            <a:r>
              <a:rPr lang="en-US" sz="2600" dirty="0">
                <a:solidFill>
                  <a:srgbClr val="1E33C8"/>
                </a:solidFill>
                <a:latin typeface="Impact" pitchFamily="34" charset="0"/>
                <a:ea typeface="Impact" pitchFamily="34" charset="-122"/>
                <a:cs typeface="Impact" pitchFamily="34" charset="-120"/>
              </a:rPr>
              <a:t>THE SHORTLIST LENGTH IS THE CLIENT'S CALL</a:t>
            </a:r>
            <a:endParaRPr lang="en-US" sz="2600" dirty="0"/>
          </a:p>
        </p:txBody>
      </p:sp>
      <p:pic>
        <p:nvPicPr>
          <p:cNvPr id="3" name="Image 0" descr="/home/claude/isaf-group-rito-mitsouka/assets/logo/icon_transparent.png">    </p:cNvPr>
          <p:cNvPicPr>
            <a:picLocks noChangeAspect="1"/>
          </p:cNvPicPr>
          <p:nvPr/>
        </p:nvPicPr>
        <p:blipFill>
          <a:blip r:embed="rId1"/>
          <a:stretch>
            <a:fillRect/>
          </a:stretch>
        </p:blipFill>
        <p:spPr>
          <a:xfrm>
            <a:off x="10771632" y="411480"/>
            <a:ext cx="777240" cy="320040"/>
          </a:xfrm>
          <a:prstGeom prst="rect">
            <a:avLst/>
          </a:prstGeom>
        </p:spPr>
      </p:pic>
      <p:sp>
        <p:nvSpPr>
          <p:cNvPr id="4" name="Text 1"/>
          <p:cNvSpPr txBox="1"/>
          <p:nvPr/>
        </p:nvSpPr>
        <p:spPr>
          <a:xfrm>
            <a:off x="640080" y="969264"/>
            <a:ext cx="10908792" cy="365760"/>
          </a:xfrm>
          <a:prstGeom prst="rect">
            <a:avLst/>
          </a:prstGeom>
          <a:noFill/>
          <a:ln/>
        </p:spPr>
        <p:txBody>
          <a:bodyPr wrap="square" lIns="0" tIns="0" rIns="0" bIns="0" rtlCol="0" anchor="ctr"/>
          <a:lstStyle/>
          <a:p>
            <a:pPr indent="0" marL="0">
              <a:buNone/>
            </a:pPr>
            <a:r>
              <a:rPr lang="en-US" sz="1500" dirty="0">
                <a:solidFill>
                  <a:srgbClr val="6B6F80"/>
                </a:solidFill>
                <a:latin typeface="Trebuchet MS" pitchFamily="34" charset="0"/>
                <a:ea typeface="Trebuchet MS" pitchFamily="34" charset="-122"/>
                <a:cs typeface="Trebuchet MS" pitchFamily="34" charset="-120"/>
              </a:rPr>
              <a:t>What is a shortlist actually worth?</a:t>
            </a:r>
            <a:endParaRPr lang="en-US" sz="1500" dirty="0"/>
          </a:p>
        </p:txBody>
      </p:sp>
      <p:sp>
        <p:nvSpPr>
          <p:cNvPr id="5" name="Shape 2"/>
          <p:cNvSpPr/>
          <p:nvPr/>
        </p:nvSpPr>
        <p:spPr>
          <a:xfrm>
            <a:off x="640080" y="5760720"/>
            <a:ext cx="10908792" cy="731520"/>
          </a:xfrm>
          <a:prstGeom prst="roundRect">
            <a:avLst>
              <a:gd name="adj" fmla="val 15000"/>
            </a:avLst>
          </a:prstGeom>
          <a:solidFill>
            <a:srgbClr val="FFD709"/>
          </a:solidFill>
          <a:ln w="12700">
            <a:solidFill>
              <a:srgbClr val="FFD709"/>
            </a:solidFill>
            <a:prstDash val="solid"/>
          </a:ln>
        </p:spPr>
      </p:sp>
      <p:sp>
        <p:nvSpPr>
          <p:cNvPr id="6" name="Text 3"/>
          <p:cNvSpPr txBox="1"/>
          <p:nvPr/>
        </p:nvSpPr>
        <p:spPr>
          <a:xfrm>
            <a:off x="914400" y="5760720"/>
            <a:ext cx="10360152" cy="731520"/>
          </a:xfrm>
          <a:prstGeom prst="rect">
            <a:avLst/>
          </a:prstGeom>
          <a:noFill/>
          <a:ln/>
        </p:spPr>
        <p:txBody>
          <a:bodyPr wrap="square" lIns="0" tIns="0" rIns="0" bIns="0" rtlCol="0" anchor="ctr"/>
          <a:lstStyle/>
          <a:p>
            <a:pPr algn="ctr" indent="0" marL="0">
              <a:buNone/>
            </a:pPr>
            <a:r>
              <a:rPr lang="en-US" sz="1400" b="1" dirty="0">
                <a:solidFill>
                  <a:srgbClr val="101014"/>
                </a:solidFill>
                <a:latin typeface="Trebuchet MS" pitchFamily="34" charset="0"/>
                <a:ea typeface="Trebuchet MS" pitchFamily="34" charset="-122"/>
                <a:cs typeface="Trebuchet MS" pitchFamily="34" charset="-120"/>
              </a:rPr>
              <a:t>SHORT LIST, BETTER QUALITY. LONG LIST, MORE MATCHES. THE CLIENT CHOOSES.</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5852160" cy="914400"/>
        </p:xfrm>
        <a:graphic>
          <a:graphicData uri="http://schemas.openxmlformats.org/drawingml/2006/table">
            <a:tbl>
              <a:tblPr/>
              <a:tblGrid>
                <a:gridCol w="2560320"/>
                <a:gridCol w="1737360"/>
                <a:gridCol w="1554480"/>
              </a:tblGrid>
              <a:tr h="749808">
                <a:tc>
                  <a:txBody>
                    <a:bodyP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Share of the catalogue shown</a:t>
                      </a:r>
                      <a:endParaRPr lang="en-US" sz="14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c>
                  <a:txBody>
                    <a:bodyP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Matches per 1,000 shown</a:t>
                      </a:r>
                      <a:endParaRPr lang="en-US" sz="14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c>
                  <a:txBody>
                    <a:bodyP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Extra matches vs random</a:t>
                      </a:r>
                      <a:endParaRPr lang="en-US" sz="14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r>
              <a:tr h="749808">
                <a:tc>
                  <a:txBody>
                    <a:bodyPr/>
                    <a:lstStyle/>
                    <a:p>
                      <a:pPr algn="l" indent="0" marL="0">
                        <a:buNone/>
                      </a:pPr>
                      <a:r>
                        <a:rPr lang="en-US" sz="1400" dirty="0">
                          <a:solidFill>
                            <a:srgbClr val="101014"/>
                          </a:solidFill>
                          <a:latin typeface="Trebuchet MS" pitchFamily="34" charset="0"/>
                          <a:ea typeface="Trebuchet MS" pitchFamily="34" charset="-122"/>
                          <a:cs typeface="Trebuchet MS" pitchFamily="34" charset="-120"/>
                        </a:rPr>
                        <a:t>Top 5%</a:t>
                      </a:r>
                      <a:endParaRPr lang="en-US" sz="14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01014"/>
                          </a:solidFill>
                          <a:latin typeface="Trebuchet MS" pitchFamily="34" charset="0"/>
                          <a:ea typeface="Trebuchet MS" pitchFamily="34" charset="-122"/>
                          <a:cs typeface="Trebuchet MS" pitchFamily="34" charset="-120"/>
                        </a:rPr>
                        <a:t>319</a:t>
                      </a:r>
                      <a:endParaRPr lang="en-US" sz="14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01014"/>
                          </a:solidFill>
                          <a:latin typeface="Trebuchet MS" pitchFamily="34" charset="0"/>
                          <a:ea typeface="Trebuchet MS" pitchFamily="34" charset="-122"/>
                          <a:cs typeface="Trebuchet MS" pitchFamily="34" charset="-120"/>
                        </a:rPr>
                        <a:t>+154</a:t>
                      </a:r>
                      <a:endParaRPr lang="en-US" sz="14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r>
              <a:tr h="749808">
                <a:tc>
                  <a:txBody>
                    <a:bodyPr/>
                    <a:lstStyle/>
                    <a:p>
                      <a:pPr algn="l" indent="0" marL="0">
                        <a:buNone/>
                      </a:pPr>
                      <a:r>
                        <a:rPr lang="en-US" sz="1400" dirty="0">
                          <a:solidFill>
                            <a:srgbClr val="101014"/>
                          </a:solidFill>
                          <a:latin typeface="Trebuchet MS" pitchFamily="34" charset="0"/>
                          <a:ea typeface="Trebuchet MS" pitchFamily="34" charset="-122"/>
                          <a:cs typeface="Trebuchet MS" pitchFamily="34" charset="-120"/>
                        </a:rPr>
                        <a:t>Top 10%</a:t>
                      </a:r>
                      <a:endParaRPr lang="en-US" sz="14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400" dirty="0">
                          <a:solidFill>
                            <a:srgbClr val="101014"/>
                          </a:solidFill>
                          <a:latin typeface="Trebuchet MS" pitchFamily="34" charset="0"/>
                          <a:ea typeface="Trebuchet MS" pitchFamily="34" charset="-122"/>
                          <a:cs typeface="Trebuchet MS" pitchFamily="34" charset="-120"/>
                        </a:rPr>
                        <a:t>298</a:t>
                      </a:r>
                      <a:endParaRPr lang="en-US" sz="14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400" dirty="0">
                          <a:solidFill>
                            <a:srgbClr val="101014"/>
                          </a:solidFill>
                          <a:latin typeface="Trebuchet MS" pitchFamily="34" charset="0"/>
                          <a:ea typeface="Trebuchet MS" pitchFamily="34" charset="-122"/>
                          <a:cs typeface="Trebuchet MS" pitchFamily="34" charset="-120"/>
                        </a:rPr>
                        <a:t>+133</a:t>
                      </a:r>
                      <a:endParaRPr lang="en-US" sz="14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r>
              <a:tr h="749808">
                <a:tc>
                  <a:txBody>
                    <a:bodyPr/>
                    <a:lstStyle/>
                    <a:p>
                      <a:pPr algn="l" indent="0" marL="0">
                        <a:buNone/>
                      </a:pPr>
                      <a:r>
                        <a:rPr lang="en-US" sz="1400" dirty="0">
                          <a:solidFill>
                            <a:srgbClr val="101014"/>
                          </a:solidFill>
                          <a:latin typeface="Trebuchet MS" pitchFamily="34" charset="0"/>
                          <a:ea typeface="Trebuchet MS" pitchFamily="34" charset="-122"/>
                          <a:cs typeface="Trebuchet MS" pitchFamily="34" charset="-120"/>
                        </a:rPr>
                        <a:t>Top 20%</a:t>
                      </a:r>
                      <a:endParaRPr lang="en-US" sz="14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01014"/>
                          </a:solidFill>
                          <a:latin typeface="Trebuchet MS" pitchFamily="34" charset="0"/>
                          <a:ea typeface="Trebuchet MS" pitchFamily="34" charset="-122"/>
                          <a:cs typeface="Trebuchet MS" pitchFamily="34" charset="-120"/>
                        </a:rPr>
                        <a:t>235</a:t>
                      </a:r>
                      <a:endParaRPr lang="en-US" sz="14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01014"/>
                          </a:solidFill>
                          <a:latin typeface="Trebuchet MS" pitchFamily="34" charset="0"/>
                          <a:ea typeface="Trebuchet MS" pitchFamily="34" charset="-122"/>
                          <a:cs typeface="Trebuchet MS" pitchFamily="34" charset="-120"/>
                        </a:rPr>
                        <a:t>+70</a:t>
                      </a:r>
                      <a:endParaRPr lang="en-US" sz="14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r>
            </a:tbl>
          </a:graphicData>
        </a:graphic>
      </p:graphicFrame>
      <p:sp>
        <p:nvSpPr>
          <p:cNvPr id="8" name="Shape 4"/>
          <p:cNvSpPr/>
          <p:nvPr/>
        </p:nvSpPr>
        <p:spPr>
          <a:xfrm>
            <a:off x="6858000" y="1645920"/>
            <a:ext cx="4690872" cy="3520440"/>
          </a:xfrm>
          <a:prstGeom prst="roundRect">
            <a:avLst>
              <a:gd name="adj" fmla="val 2078"/>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9" name="Text 5"/>
          <p:cNvSpPr txBox="1"/>
          <p:nvPr/>
        </p:nvSpPr>
        <p:spPr>
          <a:xfrm>
            <a:off x="7086600" y="1847088"/>
            <a:ext cx="4206240" cy="320040"/>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Reading the table</a:t>
            </a:r>
            <a:endParaRPr lang="en-US" sz="1400" dirty="0"/>
          </a:p>
        </p:txBody>
      </p:sp>
      <p:sp>
        <p:nvSpPr>
          <p:cNvPr id="10" name="Text 6"/>
          <p:cNvSpPr txBox="1"/>
          <p:nvPr/>
        </p:nvSpPr>
        <p:spPr>
          <a:xfrm>
            <a:off x="7086600" y="2267712"/>
            <a:ext cx="4206240" cy="274320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At 5% the engine is sharp, but it reaches few users.</a:t>
            </a:r>
            <a:endParaRPr lang="en-US" sz="1300" dirty="0"/>
          </a:p>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At 20% it still beats random by 43%, and touches 4x more people.</a:t>
            </a:r>
            <a:endParaRPr lang="en-US" sz="1300" dirty="0"/>
          </a:p>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The right point depends on what 1 match is worth: YOUR number.</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33C8"/>
        </a:solidFill>
      </p:bgPr>
    </p:bg>
    <p:spTree>
      <p:nvGrpSpPr>
        <p:cNvPr id="1" name=""/>
        <p:cNvGrpSpPr/>
        <p:nvPr/>
      </p:nvGrpSpPr>
      <p:grpSpPr>
        <a:xfrm>
          <a:off x="0" y="0"/>
          <a:ext cx="0" cy="0"/>
          <a:chOff x="0" y="0"/>
          <a:chExt cx="0" cy="0"/>
        </a:xfrm>
      </p:grpSpPr>
      <p:sp>
        <p:nvSpPr>
          <p:cNvPr id="2" name="Text 0"/>
          <p:cNvSpPr txBox="1"/>
          <p:nvPr/>
        </p:nvSpPr>
        <p:spPr>
          <a:xfrm>
            <a:off x="640080" y="2240280"/>
            <a:ext cx="2011680" cy="1737360"/>
          </a:xfrm>
          <a:prstGeom prst="rect">
            <a:avLst/>
          </a:prstGeom>
          <a:noFill/>
          <a:ln/>
        </p:spPr>
        <p:txBody>
          <a:bodyPr wrap="square" lIns="0" tIns="0" rIns="0" bIns="0" rtlCol="0" anchor="ctr"/>
          <a:lstStyle/>
          <a:p>
            <a:pPr indent="0" marL="0">
              <a:buNone/>
            </a:pPr>
            <a:r>
              <a:rPr lang="en-US" sz="9600" dirty="0">
                <a:solidFill>
                  <a:srgbClr val="FFD709"/>
                </a:solidFill>
                <a:latin typeface="Impact" pitchFamily="34" charset="0"/>
                <a:ea typeface="Impact" pitchFamily="34" charset="-122"/>
                <a:cs typeface="Impact" pitchFamily="34" charset="-120"/>
              </a:rPr>
              <a:t>04</a:t>
            </a:r>
            <a:endParaRPr lang="en-US" sz="9600" dirty="0"/>
          </a:p>
        </p:txBody>
      </p:sp>
      <p:sp>
        <p:nvSpPr>
          <p:cNvPr id="3" name="Text 1"/>
          <p:cNvSpPr txBox="1"/>
          <p:nvPr/>
        </p:nvSpPr>
        <p:spPr>
          <a:xfrm>
            <a:off x="2651760" y="2468880"/>
            <a:ext cx="5120640" cy="822960"/>
          </a:xfrm>
          <a:prstGeom prst="rect">
            <a:avLst/>
          </a:prstGeom>
          <a:noFill/>
          <a:ln/>
        </p:spPr>
        <p:txBody>
          <a:bodyPr wrap="square" lIns="0" tIns="0" rIns="0" bIns="0" rtlCol="0" anchor="ctr"/>
          <a:lstStyle/>
          <a:p>
            <a:pPr indent="0" marL="0">
              <a:buNone/>
            </a:pPr>
            <a:r>
              <a:rPr lang="en-US" sz="3600" dirty="0">
                <a:solidFill>
                  <a:srgbClr val="FFFFFF"/>
                </a:solidFill>
                <a:latin typeface="Impact" pitchFamily="34" charset="0"/>
                <a:ea typeface="Impact" pitchFamily="34" charset="-122"/>
                <a:cs typeface="Impact" pitchFamily="34" charset="-120"/>
              </a:rPr>
              <a:t>INTERPRETABILITY</a:t>
            </a:r>
            <a:endParaRPr lang="en-US" sz="3600" dirty="0"/>
          </a:p>
        </p:txBody>
      </p:sp>
      <p:sp>
        <p:nvSpPr>
          <p:cNvPr id="4" name="Text 2"/>
          <p:cNvSpPr txBox="1"/>
          <p:nvPr/>
        </p:nvSpPr>
        <p:spPr>
          <a:xfrm>
            <a:off x="2697480" y="3310128"/>
            <a:ext cx="5120640" cy="731520"/>
          </a:xfrm>
          <a:prstGeom prst="rect">
            <a:avLst/>
          </a:prstGeom>
          <a:noFill/>
          <a:ln/>
        </p:spPr>
        <p:txBody>
          <a:bodyPr wrap="square" lIns="0" tIns="0" rIns="0" bIns="0" rtlCol="0" anchor="ctr"/>
          <a:lstStyle/>
          <a:p>
            <a:pPr indent="0" marL="0">
              <a:buNone/>
            </a:pPr>
            <a:r>
              <a:rPr lang="en-US" sz="1400" dirty="0">
                <a:solidFill>
                  <a:srgbClr val="C9CFF5"/>
                </a:solidFill>
                <a:latin typeface="Trebuchet MS" pitchFamily="34" charset="0"/>
                <a:ea typeface="Trebuchet MS" pitchFamily="34" charset="-122"/>
                <a:cs typeface="Trebuchet MS" pitchFamily="34" charset="-120"/>
              </a:rPr>
              <a:t>Why a pair reaches the shortlist, globally and one pair at a time.</a:t>
            </a:r>
            <a:endParaRPr lang="en-US" sz="1400" dirty="0"/>
          </a:p>
        </p:txBody>
      </p:sp>
      <p:sp>
        <p:nvSpPr>
          <p:cNvPr id="5" name="Text 3"/>
          <p:cNvSpPr txBox="1"/>
          <p:nvPr/>
        </p:nvSpPr>
        <p:spPr>
          <a:xfrm>
            <a:off x="7863840" y="1344168"/>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01   THE PROBLEM</a:t>
            </a:r>
            <a:endParaRPr lang="en-US" sz="1300" dirty="0"/>
          </a:p>
        </p:txBody>
      </p:sp>
      <p:sp>
        <p:nvSpPr>
          <p:cNvPr id="6" name="Text 4"/>
          <p:cNvSpPr txBox="1"/>
          <p:nvPr/>
        </p:nvSpPr>
        <p:spPr>
          <a:xfrm>
            <a:off x="7863840" y="1911096"/>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02   DATA AND METHOD</a:t>
            </a:r>
            <a:endParaRPr lang="en-US" sz="1300" dirty="0"/>
          </a:p>
        </p:txBody>
      </p:sp>
      <p:sp>
        <p:nvSpPr>
          <p:cNvPr id="7" name="Text 5"/>
          <p:cNvSpPr txBox="1"/>
          <p:nvPr/>
        </p:nvSpPr>
        <p:spPr>
          <a:xfrm>
            <a:off x="7863840" y="2478024"/>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03   PERFORMANCE</a:t>
            </a:r>
            <a:endParaRPr lang="en-US" sz="1300" dirty="0"/>
          </a:p>
        </p:txBody>
      </p:sp>
      <p:sp>
        <p:nvSpPr>
          <p:cNvPr id="8" name="Shape 6"/>
          <p:cNvSpPr/>
          <p:nvPr/>
        </p:nvSpPr>
        <p:spPr>
          <a:xfrm>
            <a:off x="7635240" y="3044952"/>
            <a:ext cx="3913632" cy="475488"/>
          </a:xfrm>
          <a:prstGeom prst="roundRect">
            <a:avLst>
              <a:gd name="adj" fmla="val 15385"/>
            </a:avLst>
          </a:prstGeom>
          <a:solidFill>
            <a:srgbClr val="FFD709"/>
          </a:solidFill>
          <a:ln w="12700">
            <a:solidFill>
              <a:srgbClr val="FFD709"/>
            </a:solidFill>
            <a:prstDash val="solid"/>
          </a:ln>
        </p:spPr>
      </p:sp>
      <p:sp>
        <p:nvSpPr>
          <p:cNvPr id="9" name="Text 7"/>
          <p:cNvSpPr txBox="1"/>
          <p:nvPr/>
        </p:nvSpPr>
        <p:spPr>
          <a:xfrm>
            <a:off x="7863840" y="3044952"/>
            <a:ext cx="3657600" cy="475488"/>
          </a:xfrm>
          <a:prstGeom prst="rect">
            <a:avLst/>
          </a:prstGeom>
          <a:noFill/>
          <a:ln/>
        </p:spPr>
        <p:txBody>
          <a:bodyPr wrap="square" lIns="0" tIns="0" rIns="0" bIns="0" rtlCol="0" anchor="ctr"/>
          <a:lstStyle/>
          <a:p>
            <a:pPr indent="0" marL="0">
              <a:buNone/>
            </a:pPr>
            <a:r>
              <a:rPr lang="en-US" sz="1300" b="1" dirty="0">
                <a:solidFill>
                  <a:srgbClr val="101014"/>
                </a:solidFill>
                <a:latin typeface="Trebuchet MS" pitchFamily="34" charset="0"/>
                <a:ea typeface="Trebuchet MS" pitchFamily="34" charset="-122"/>
                <a:cs typeface="Trebuchet MS" pitchFamily="34" charset="-120"/>
              </a:rPr>
              <a:t>04   INTERPRETABILITY</a:t>
            </a:r>
            <a:endParaRPr lang="en-US" sz="1300" dirty="0"/>
          </a:p>
        </p:txBody>
      </p:sp>
      <p:sp>
        <p:nvSpPr>
          <p:cNvPr id="10" name="Text 8"/>
          <p:cNvSpPr txBox="1"/>
          <p:nvPr/>
        </p:nvSpPr>
        <p:spPr>
          <a:xfrm>
            <a:off x="7863840" y="3611880"/>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05   STABILITY</a:t>
            </a:r>
            <a:endParaRPr lang="en-US" sz="1300" dirty="0"/>
          </a:p>
        </p:txBody>
      </p:sp>
      <p:sp>
        <p:nvSpPr>
          <p:cNvPr id="11" name="Text 9"/>
          <p:cNvSpPr txBox="1"/>
          <p:nvPr/>
        </p:nvSpPr>
        <p:spPr>
          <a:xfrm>
            <a:off x="7863840" y="4178808"/>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06   FAIRNESS</a:t>
            </a:r>
            <a:endParaRPr lang="en-US" sz="1300" dirty="0"/>
          </a:p>
        </p:txBody>
      </p:sp>
      <p:sp>
        <p:nvSpPr>
          <p:cNvPr id="12" name="Text 10"/>
          <p:cNvSpPr txBox="1"/>
          <p:nvPr/>
        </p:nvSpPr>
        <p:spPr>
          <a:xfrm>
            <a:off x="7863840" y="4745736"/>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07   RECOMMENDATION</a:t>
            </a:r>
            <a:endParaRPr lang="en-US" sz="1300" dirty="0"/>
          </a:p>
        </p:txBody>
      </p:sp>
      <p:pic>
        <p:nvPicPr>
          <p:cNvPr id="13" name="Image 0" descr="/home/claude/isaf-group-rito-mitsouka/assets/logo/icon_transparent.png">    </p:cNvPr>
          <p:cNvPicPr>
            <a:picLocks noChangeAspect="1"/>
          </p:cNvPicPr>
          <p:nvPr/>
        </p:nvPicPr>
        <p:blipFill>
          <a:blip r:embed="rId1"/>
          <a:stretch>
            <a:fillRect/>
          </a:stretch>
        </p:blipFill>
        <p:spPr>
          <a:xfrm>
            <a:off x="10771632" y="6035040"/>
            <a:ext cx="777240" cy="3200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457200"/>
            <a:ext cx="9994392" cy="512064"/>
          </a:xfrm>
          <a:prstGeom prst="rect">
            <a:avLst/>
          </a:prstGeom>
          <a:noFill/>
          <a:ln/>
        </p:spPr>
        <p:txBody>
          <a:bodyPr wrap="square" lIns="0" tIns="0" rIns="0" bIns="0" rtlCol="0" anchor="ctr"/>
          <a:lstStyle/>
          <a:p>
            <a:pPr indent="0" marL="0">
              <a:buNone/>
            </a:pPr>
            <a:r>
              <a:rPr lang="en-US" sz="2600" dirty="0">
                <a:solidFill>
                  <a:srgbClr val="1E33C8"/>
                </a:solidFill>
                <a:latin typeface="Impact" pitchFamily="34" charset="0"/>
                <a:ea typeface="Impact" pitchFamily="34" charset="-122"/>
                <a:cs typeface="Impact" pitchFamily="34" charset="-120"/>
              </a:rPr>
              <a:t>THE MODEL WORKS BY ACCUMULATION, NOT BY RULES</a:t>
            </a:r>
            <a:endParaRPr lang="en-US" sz="2600" dirty="0"/>
          </a:p>
        </p:txBody>
      </p:sp>
      <p:pic>
        <p:nvPicPr>
          <p:cNvPr id="3" name="Image 0" descr="/home/claude/isaf-group-rito-mitsouka/assets/logo/icon_transparent.png">    </p:cNvPr>
          <p:cNvPicPr>
            <a:picLocks noChangeAspect="1"/>
          </p:cNvPicPr>
          <p:nvPr/>
        </p:nvPicPr>
        <p:blipFill>
          <a:blip r:embed="rId1"/>
          <a:stretch>
            <a:fillRect/>
          </a:stretch>
        </p:blipFill>
        <p:spPr>
          <a:xfrm>
            <a:off x="10771632" y="411480"/>
            <a:ext cx="777240" cy="320040"/>
          </a:xfrm>
          <a:prstGeom prst="rect">
            <a:avLst/>
          </a:prstGeom>
        </p:spPr>
      </p:pic>
      <p:sp>
        <p:nvSpPr>
          <p:cNvPr id="4" name="Text 1"/>
          <p:cNvSpPr txBox="1"/>
          <p:nvPr/>
        </p:nvSpPr>
        <p:spPr>
          <a:xfrm>
            <a:off x="640080" y="969264"/>
            <a:ext cx="10908792" cy="365760"/>
          </a:xfrm>
          <a:prstGeom prst="rect">
            <a:avLst/>
          </a:prstGeom>
          <a:noFill/>
          <a:ln/>
        </p:spPr>
        <p:txBody>
          <a:bodyPr wrap="square" lIns="0" tIns="0" rIns="0" bIns="0" rtlCol="0" anchor="ctr"/>
          <a:lstStyle/>
          <a:p>
            <a:pPr indent="0" marL="0">
              <a:buNone/>
            </a:pPr>
            <a:r>
              <a:rPr lang="en-US" sz="1500" dirty="0">
                <a:solidFill>
                  <a:srgbClr val="6B6F80"/>
                </a:solidFill>
                <a:latin typeface="Trebuchet MS" pitchFamily="34" charset="0"/>
                <a:ea typeface="Trebuchet MS" pitchFamily="34" charset="-122"/>
                <a:cs typeface="Trebuchet MS" pitchFamily="34" charset="-120"/>
              </a:rPr>
              <a:t>What drives the score?</a:t>
            </a:r>
            <a:endParaRPr lang="en-US" sz="1500" dirty="0"/>
          </a:p>
        </p:txBody>
      </p:sp>
      <p:sp>
        <p:nvSpPr>
          <p:cNvPr id="5" name="Shape 2"/>
          <p:cNvSpPr/>
          <p:nvPr/>
        </p:nvSpPr>
        <p:spPr>
          <a:xfrm>
            <a:off x="640080" y="5760720"/>
            <a:ext cx="10908792" cy="731520"/>
          </a:xfrm>
          <a:prstGeom prst="roundRect">
            <a:avLst>
              <a:gd name="adj" fmla="val 15000"/>
            </a:avLst>
          </a:prstGeom>
          <a:solidFill>
            <a:srgbClr val="FFD709"/>
          </a:solidFill>
          <a:ln w="12700">
            <a:solidFill>
              <a:srgbClr val="FFD709"/>
            </a:solidFill>
            <a:prstDash val="solid"/>
          </a:ln>
        </p:spPr>
      </p:sp>
      <p:sp>
        <p:nvSpPr>
          <p:cNvPr id="6" name="Text 3"/>
          <p:cNvSpPr txBox="1"/>
          <p:nvPr/>
        </p:nvSpPr>
        <p:spPr>
          <a:xfrm>
            <a:off x="914400" y="5760720"/>
            <a:ext cx="10360152" cy="731520"/>
          </a:xfrm>
          <a:prstGeom prst="rect">
            <a:avLst/>
          </a:prstGeom>
          <a:noFill/>
          <a:ln/>
        </p:spPr>
        <p:txBody>
          <a:bodyPr wrap="square" lIns="0" tIns="0" rIns="0" bIns="0" rtlCol="0" anchor="ctr"/>
          <a:lstStyle/>
          <a:p>
            <a:pPr algn="ctr" indent="0" marL="0">
              <a:buNone/>
            </a:pPr>
            <a:r>
              <a:rPr lang="en-US" sz="1400" b="1" dirty="0">
                <a:solidFill>
                  <a:srgbClr val="101014"/>
                </a:solidFill>
                <a:latin typeface="Trebuchet MS" pitchFamily="34" charset="0"/>
                <a:ea typeface="Trebuchet MS" pitchFamily="34" charset="-122"/>
                <a:cs typeface="Trebuchet MS" pitchFamily="34" charset="-120"/>
              </a:rPr>
              <a:t>MANY SMALL EFFECTS, NO SINGLE RULE.</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7315200" cy="914400"/>
        </p:xfrm>
        <a:graphic>
          <a:graphicData uri="http://schemas.openxmlformats.org/drawingml/2006/table">
            <a:tbl>
              <a:tblPr/>
              <a:tblGrid>
                <a:gridCol w="1828800"/>
                <a:gridCol w="1143000"/>
                <a:gridCol w="1051560"/>
                <a:gridCol w="1097280"/>
                <a:gridCol w="1280160"/>
                <a:gridCol w="914400"/>
              </a:tblGrid>
              <a:tr h="521208">
                <a:tc>
                  <a:txBody>
                    <a:bodyP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Feature</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c>
                  <a:txBody>
                    <a:bodyP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Coefficient</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c>
                  <a:txBody>
                    <a:bodyP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P-value</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c>
                  <a:txBody>
                    <a:bodyP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Odds ratio</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c>
                  <a:txBody>
                    <a:bodyP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Marginal effect</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c>
                  <a:txBody>
                    <a:bodyP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Scale</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r>
              <a:tr h="521208">
                <a:tc>
                  <a:txBody>
                    <a:bodyPr/>
                    <a:lstStyle/>
                    <a:p>
                      <a:pPr algn="l" indent="0" marL="0">
                        <a:buNone/>
                      </a:pPr>
                      <a:r>
                        <a:rPr lang="en-US" sz="1300" dirty="0">
                          <a:solidFill>
                            <a:srgbClr val="101014"/>
                          </a:solidFill>
                          <a:latin typeface="Trebuchet MS" pitchFamily="34" charset="0"/>
                          <a:ea typeface="Trebuchet MS" pitchFamily="34" charset="-122"/>
                          <a:cs typeface="Trebuchet MS" pitchFamily="34" charset="-120"/>
                        </a:rPr>
                        <a:t>female</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−0.314</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&lt; 0.0001</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0.730</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−13.7 pts</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 to 1</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r>
              <a:tr h="521208">
                <a:tc>
                  <a:txBody>
                    <a:bodyPr/>
                    <a:lstStyle/>
                    <a:p>
                      <a:pPr algn="l" indent="0" marL="0">
                        <a:buNone/>
                      </a:pPr>
                      <a:r>
                        <a:rPr lang="en-US" sz="1300" dirty="0">
                          <a:solidFill>
                            <a:srgbClr val="101014"/>
                          </a:solidFill>
                          <a:latin typeface="Trebuchet MS" pitchFamily="34" charset="0"/>
                          <a:ea typeface="Trebuchet MS" pitchFamily="34" charset="-122"/>
                          <a:cs typeface="Trebuchet MS" pitchFamily="34" charset="-120"/>
                        </a:rPr>
                        <a:t>other_selfintel</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−0.186</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0.830</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−4.0 pts</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+1 sd</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r>
              <a:tr h="521208">
                <a:tc>
                  <a:txBody>
                    <a:bodyPr/>
                    <a:lstStyle/>
                    <a:p>
                      <a:pPr algn="l" indent="0" marL="0">
                        <a:buNone/>
                      </a:pPr>
                      <a:r>
                        <a:rPr lang="en-US" sz="1300" dirty="0">
                          <a:solidFill>
                            <a:srgbClr val="101014"/>
                          </a:solidFill>
                          <a:latin typeface="Trebuchet MS" pitchFamily="34" charset="0"/>
                          <a:ea typeface="Trebuchet MS" pitchFamily="34" charset="-122"/>
                          <a:cs typeface="Trebuchet MS" pitchFamily="34" charset="-120"/>
                        </a:rPr>
                        <a:t>self_optimism</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+0.161</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&lt; 0.0001</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1.175</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+3.5 pts</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+1 sd</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r>
              <a:tr h="521208">
                <a:tc>
                  <a:txBody>
                    <a:bodyPr/>
                    <a:lstStyle/>
                    <a:p>
                      <a:pPr algn="l" indent="0" marL="0">
                        <a:buNone/>
                      </a:pPr>
                      <a:r>
                        <a:rPr lang="en-US" sz="1300" dirty="0">
                          <a:solidFill>
                            <a:srgbClr val="101014"/>
                          </a:solidFill>
                          <a:latin typeface="Trebuchet MS" pitchFamily="34" charset="0"/>
                          <a:ea typeface="Trebuchet MS" pitchFamily="34" charset="-122"/>
                          <a:cs typeface="Trebuchet MS" pitchFamily="34" charset="-120"/>
                        </a:rPr>
                        <a:t>raceclash</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−0.156</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&lt; 0.0001</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0.856</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−3.4 pts</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+1 sd</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r>
              <a:tr h="521208">
                <a:tc>
                  <a:txBody>
                    <a:bodyPr/>
                    <a:lstStyle/>
                    <a:p>
                      <a:pPr algn="l" indent="0" marL="0">
                        <a:buNone/>
                      </a:pPr>
                      <a:r>
                        <a:rPr lang="en-US" sz="1300" dirty="0">
                          <a:solidFill>
                            <a:srgbClr val="101014"/>
                          </a:solidFill>
                          <a:latin typeface="Trebuchet MS" pitchFamily="34" charset="0"/>
                          <a:ea typeface="Trebuchet MS" pitchFamily="34" charset="-122"/>
                          <a:cs typeface="Trebuchet MS" pitchFamily="34" charset="-120"/>
                        </a:rPr>
                        <a:t>self_fit</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+0.137</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0.072</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1.147</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+3.0 pts</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+1 sd</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r>
              <a:tr h="521208">
                <a:tc>
                  <a:txBody>
                    <a:bodyPr/>
                    <a:lstStyle/>
                    <a:p>
                      <a:pPr algn="l" indent="0" marL="0">
                        <a:buNone/>
                      </a:pPr>
                      <a:r>
                        <a:rPr lang="en-US" sz="1300" dirty="0">
                          <a:solidFill>
                            <a:srgbClr val="101014"/>
                          </a:solidFill>
                          <a:latin typeface="Trebuchet MS" pitchFamily="34" charset="0"/>
                          <a:ea typeface="Trebuchet MS" pitchFamily="34" charset="-122"/>
                          <a:cs typeface="Trebuchet MS" pitchFamily="34" charset="-120"/>
                        </a:rPr>
                        <a:t>self_wantshar</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+0.127</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0.010</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1.136</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+2.8 pts</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300" dirty="0">
                          <a:solidFill>
                            <a:srgbClr val="101014"/>
                          </a:solidFill>
                          <a:latin typeface="Trebuchet MS" pitchFamily="34" charset="0"/>
                          <a:ea typeface="Trebuchet MS" pitchFamily="34" charset="-122"/>
                          <a:cs typeface="Trebuchet MS" pitchFamily="34" charset="-120"/>
                        </a:rPr>
                        <a:t>+1 sd</a:t>
                      </a:r>
                      <a:endParaRPr lang="en-US" sz="130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r>
            </a:tbl>
          </a:graphicData>
        </a:graphic>
      </p:graphicFrame>
      <p:sp>
        <p:nvSpPr>
          <p:cNvPr id="8" name="Shape 4"/>
          <p:cNvSpPr/>
          <p:nvPr/>
        </p:nvSpPr>
        <p:spPr>
          <a:xfrm>
            <a:off x="8229600" y="1508760"/>
            <a:ext cx="3319272" cy="3840480"/>
          </a:xfrm>
          <a:prstGeom prst="roundRect">
            <a:avLst>
              <a:gd name="adj" fmla="val 2204"/>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9" name="Text 5"/>
          <p:cNvSpPr txBox="1"/>
          <p:nvPr/>
        </p:nvSpPr>
        <p:spPr>
          <a:xfrm>
            <a:off x="8458200" y="1691640"/>
            <a:ext cx="2834640" cy="320040"/>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How to read it</a:t>
            </a:r>
            <a:endParaRPr lang="en-US" sz="1400" dirty="0"/>
          </a:p>
        </p:txBody>
      </p:sp>
      <p:sp>
        <p:nvSpPr>
          <p:cNvPr id="10" name="Text 6"/>
          <p:cNvSpPr txBox="1"/>
          <p:nvPr/>
        </p:nvSpPr>
        <p:spPr>
          <a:xfrm>
            <a:off x="8458200" y="2057400"/>
            <a:ext cx="2834640" cy="320040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101014"/>
                </a:solidFill>
                <a:latin typeface="Trebuchet MS" pitchFamily="34" charset="0"/>
                <a:ea typeface="Trebuchet MS" pitchFamily="34" charset="-122"/>
                <a:cs typeface="Trebuchet MS" pitchFamily="34" charset="-120"/>
              </a:rPr>
              <a:t>Lasso picks the columns, a plain logit gives the standard errors.</a:t>
            </a:r>
            <a:endParaRPr lang="en-US" sz="1150" dirty="0"/>
          </a:p>
          <a:p>
            <a:pPr marL="342900" indent="-342900">
              <a:spcAft>
                <a:spcPts val="1000"/>
              </a:spcAft>
              <a:buSzPct val="100000"/>
              <a:buChar char="■"/>
            </a:pPr>
            <a:r>
              <a:rPr lang="en-US" sz="1150" dirty="0">
                <a:solidFill>
                  <a:srgbClr val="101014"/>
                </a:solidFill>
                <a:latin typeface="Trebuchet MS" pitchFamily="34" charset="0"/>
                <a:ea typeface="Trebuchet MS" pitchFamily="34" charset="-122"/>
                <a:cs typeface="Trebuchet MS" pitchFamily="34" charset="-120"/>
              </a:rPr>
              <a:t>Binary and continuous do not compare: 0 to 1 moves more than 1 standard deviation.</a:t>
            </a:r>
            <a:endParaRPr lang="en-US" sz="1150" dirty="0"/>
          </a:p>
          <a:p>
            <a:pPr marL="342900" indent="-342900">
              <a:spcAft>
                <a:spcPts val="1000"/>
              </a:spcAft>
              <a:buSzPct val="100000"/>
              <a:buChar char="■"/>
            </a:pPr>
            <a:r>
              <a:rPr lang="en-US" sz="1150" dirty="0">
                <a:solidFill>
                  <a:srgbClr val="101014"/>
                </a:solidFill>
                <a:latin typeface="Trebuchet MS" pitchFamily="34" charset="0"/>
                <a:ea typeface="Trebuchet MS" pitchFamily="34" charset="-122"/>
                <a:cs typeface="Trebuchet MS" pitchFamily="34" charset="-120"/>
              </a:rPr>
              <a:t>raceclash: a mixed pair where 1 person says same background matters.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457200"/>
            <a:ext cx="9994392" cy="512064"/>
          </a:xfrm>
          <a:prstGeom prst="rect">
            <a:avLst/>
          </a:prstGeom>
          <a:noFill/>
          <a:ln/>
        </p:spPr>
        <p:txBody>
          <a:bodyPr wrap="square" lIns="0" tIns="0" rIns="0" bIns="0" rtlCol="0" anchor="ctr"/>
          <a:lstStyle/>
          <a:p>
            <a:pPr indent="0" marL="0">
              <a:buNone/>
            </a:pPr>
            <a:r>
              <a:rPr lang="en-US" sz="2600" dirty="0">
                <a:solidFill>
                  <a:srgbClr val="1E33C8"/>
                </a:solidFill>
                <a:latin typeface="Impact" pitchFamily="34" charset="0"/>
                <a:ea typeface="Impact" pitchFamily="34" charset="-122"/>
                <a:cs typeface="Impact" pitchFamily="34" charset="-120"/>
              </a:rPr>
              <a:t>EVERY RECOMMENDATION COMES WITH ITS REASONS</a:t>
            </a:r>
            <a:endParaRPr lang="en-US" sz="2600" dirty="0"/>
          </a:p>
        </p:txBody>
      </p:sp>
      <p:pic>
        <p:nvPicPr>
          <p:cNvPr id="3" name="Image 0" descr="/home/claude/isaf-group-rito-mitsouka/assets/logo/icon_transparent.png">    </p:cNvPr>
          <p:cNvPicPr>
            <a:picLocks noChangeAspect="1"/>
          </p:cNvPicPr>
          <p:nvPr/>
        </p:nvPicPr>
        <p:blipFill>
          <a:blip r:embed="rId1"/>
          <a:stretch>
            <a:fillRect/>
          </a:stretch>
        </p:blipFill>
        <p:spPr>
          <a:xfrm>
            <a:off x="10771632" y="411480"/>
            <a:ext cx="777240" cy="320040"/>
          </a:xfrm>
          <a:prstGeom prst="rect">
            <a:avLst/>
          </a:prstGeom>
        </p:spPr>
      </p:pic>
      <p:sp>
        <p:nvSpPr>
          <p:cNvPr id="4" name="Text 1"/>
          <p:cNvSpPr txBox="1"/>
          <p:nvPr/>
        </p:nvSpPr>
        <p:spPr>
          <a:xfrm>
            <a:off x="640080" y="969264"/>
            <a:ext cx="10908792" cy="365760"/>
          </a:xfrm>
          <a:prstGeom prst="rect">
            <a:avLst/>
          </a:prstGeom>
          <a:noFill/>
          <a:ln/>
        </p:spPr>
        <p:txBody>
          <a:bodyPr wrap="square" lIns="0" tIns="0" rIns="0" bIns="0" rtlCol="0" anchor="ctr"/>
          <a:lstStyle/>
          <a:p>
            <a:pPr indent="0" marL="0">
              <a:buNone/>
            </a:pPr>
            <a:r>
              <a:rPr lang="en-US" sz="1500" dirty="0">
                <a:solidFill>
                  <a:srgbClr val="6B6F80"/>
                </a:solidFill>
                <a:latin typeface="Trebuchet MS" pitchFamily="34" charset="0"/>
                <a:ea typeface="Trebuchet MS" pitchFamily="34" charset="-122"/>
                <a:cs typeface="Trebuchet MS" pitchFamily="34" charset="-120"/>
              </a:rPr>
              <a:t>Can we tell a user why this profile was shown?</a:t>
            </a:r>
            <a:endParaRPr lang="en-US" sz="1500" dirty="0"/>
          </a:p>
        </p:txBody>
      </p:sp>
      <p:sp>
        <p:nvSpPr>
          <p:cNvPr id="5" name="Shape 2"/>
          <p:cNvSpPr/>
          <p:nvPr/>
        </p:nvSpPr>
        <p:spPr>
          <a:xfrm>
            <a:off x="640080" y="5760720"/>
            <a:ext cx="10908792" cy="731520"/>
          </a:xfrm>
          <a:prstGeom prst="roundRect">
            <a:avLst>
              <a:gd name="adj" fmla="val 15000"/>
            </a:avLst>
          </a:prstGeom>
          <a:solidFill>
            <a:srgbClr val="FFD709"/>
          </a:solidFill>
          <a:ln w="12700">
            <a:solidFill>
              <a:srgbClr val="FFD709"/>
            </a:solidFill>
            <a:prstDash val="solid"/>
          </a:ln>
        </p:spPr>
      </p:sp>
      <p:sp>
        <p:nvSpPr>
          <p:cNvPr id="6" name="Text 3"/>
          <p:cNvSpPr txBox="1"/>
          <p:nvPr/>
        </p:nvSpPr>
        <p:spPr>
          <a:xfrm>
            <a:off x="914400" y="5760720"/>
            <a:ext cx="10360152" cy="731520"/>
          </a:xfrm>
          <a:prstGeom prst="rect">
            <a:avLst/>
          </a:prstGeom>
          <a:noFill/>
          <a:ln/>
        </p:spPr>
        <p:txBody>
          <a:bodyPr wrap="square" lIns="0" tIns="0" rIns="0" bIns="0" rtlCol="0" anchor="ctr"/>
          <a:lstStyle/>
          <a:p>
            <a:pPr algn="ctr" indent="0" marL="0">
              <a:buNone/>
            </a:pPr>
            <a:r>
              <a:rPr lang="en-US" sz="1400" b="1" dirty="0">
                <a:solidFill>
                  <a:srgbClr val="101014"/>
                </a:solidFill>
                <a:latin typeface="Trebuchet MS" pitchFamily="34" charset="0"/>
                <a:ea typeface="Trebuchet MS" pitchFamily="34" charset="-122"/>
                <a:cs typeface="Trebuchet MS" pitchFamily="34" charset="-120"/>
              </a:rPr>
              <a:t>EVERY RECOMMENDATION CAN BE EXPLAINED, BUT NO SINGLE CHART CAN.</a:t>
            </a:r>
            <a:endParaRPr lang="en-US" sz="1400" dirty="0"/>
          </a:p>
        </p:txBody>
      </p:sp>
      <p:pic>
        <p:nvPicPr>
          <p:cNvPr id="7" name="Image 1" descr="/tmp/claude-0/deck/shap_one.png">    </p:cNvPr>
          <p:cNvPicPr>
            <a:picLocks noChangeAspect="1"/>
          </p:cNvPicPr>
          <p:nvPr/>
        </p:nvPicPr>
        <p:blipFill>
          <a:blip r:embed="rId2"/>
          <a:stretch>
            <a:fillRect/>
          </a:stretch>
        </p:blipFill>
        <p:spPr>
          <a:xfrm>
            <a:off x="640080" y="1508760"/>
            <a:ext cx="5577840" cy="3520440"/>
          </a:xfrm>
          <a:prstGeom prst="rect">
            <a:avLst/>
          </a:prstGeom>
        </p:spPr>
      </p:pic>
      <p:sp>
        <p:nvSpPr>
          <p:cNvPr id="8" name="Text 4"/>
          <p:cNvSpPr txBox="1"/>
          <p:nvPr/>
        </p:nvSpPr>
        <p:spPr>
          <a:xfrm>
            <a:off x="640080" y="5047488"/>
            <a:ext cx="5943600" cy="274320"/>
          </a:xfrm>
          <a:prstGeom prst="rect">
            <a:avLst/>
          </a:prstGeom>
          <a:noFill/>
          <a:ln/>
        </p:spPr>
        <p:txBody>
          <a:bodyPr wrap="square" lIns="0" tIns="0" rIns="0" bIns="0" rtlCol="0" anchor="ctr"/>
          <a:lstStyle/>
          <a:p>
            <a:pPr indent="0" marL="0">
              <a:buNone/>
            </a:pPr>
            <a:r>
              <a:rPr lang="en-US" sz="1150" dirty="0">
                <a:solidFill>
                  <a:srgbClr val="6B6F80"/>
                </a:solidFill>
                <a:latin typeface="Trebuchet MS" pitchFamily="34" charset="0"/>
                <a:ea typeface="Trebuchet MS" pitchFamily="34" charset="-122"/>
                <a:cs typeface="Trebuchet MS" pitchFamily="34" charset="-120"/>
              </a:rPr>
              <a:t>SHAP: this pair scored 0.68, split across its features</a:t>
            </a:r>
            <a:endParaRPr lang="en-US" sz="1150" dirty="0"/>
          </a:p>
        </p:txBody>
      </p:sp>
      <p:sp>
        <p:nvSpPr>
          <p:cNvPr id="9" name="Text 5"/>
          <p:cNvSpPr txBox="1"/>
          <p:nvPr/>
        </p:nvSpPr>
        <p:spPr>
          <a:xfrm>
            <a:off x="640080" y="5349240"/>
            <a:ext cx="5943600" cy="365760"/>
          </a:xfrm>
          <a:prstGeom prst="rect">
            <a:avLst/>
          </a:prstGeom>
          <a:noFill/>
          <a:ln/>
        </p:spPr>
        <p:txBody>
          <a:bodyPr wrap="square" lIns="0" tIns="0" rIns="0" bIns="0" rtlCol="0" anchor="ctr"/>
          <a:lstStyle/>
          <a:p>
            <a:pPr indent="0" marL="0">
              <a:buNone/>
            </a:pPr>
            <a:r>
              <a:rPr lang="en-US" sz="1200" b="1" dirty="0">
                <a:solidFill>
                  <a:srgbClr val="1E33C8"/>
                </a:solidFill>
                <a:latin typeface="Trebuchet MS" pitchFamily="34" charset="0"/>
                <a:ea typeface="Trebuchet MS" pitchFamily="34" charset="-122"/>
                <a:cs typeface="Trebuchet MS" pitchFamily="34" charset="-120"/>
              </a:rPr>
              <a:t>In plain words:  </a:t>
            </a:r>
            <a:pPr indent="0" marL="0">
              <a:buNone/>
            </a:pPr>
            <a:r>
              <a:rPr lang="en-US" sz="1200" dirty="0">
                <a:solidFill>
                  <a:srgbClr val="101014"/>
                </a:solidFill>
                <a:latin typeface="Trebuchet MS" pitchFamily="34" charset="0"/>
                <a:ea typeface="Trebuchet MS" pitchFamily="34" charset="-122"/>
                <a:cs typeface="Trebuchet MS" pitchFamily="34" charset="-120"/>
              </a:rPr>
              <a:t>her income and their shared field push this pair up, his ethnicity and her profile pull it down.</a:t>
            </a:r>
            <a:endParaRPr lang="en-US" sz="1200" dirty="0"/>
          </a:p>
        </p:txBody>
      </p:sp>
      <p:sp>
        <p:nvSpPr>
          <p:cNvPr id="10" name="Shape 6"/>
          <p:cNvSpPr/>
          <p:nvPr/>
        </p:nvSpPr>
        <p:spPr>
          <a:xfrm>
            <a:off x="6858000" y="1508760"/>
            <a:ext cx="4690872" cy="2103120"/>
          </a:xfrm>
          <a:prstGeom prst="roundRect">
            <a:avLst>
              <a:gd name="adj" fmla="val 3478"/>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1" name="Text 7"/>
          <p:cNvSpPr txBox="1"/>
          <p:nvPr/>
        </p:nvSpPr>
        <p:spPr>
          <a:xfrm>
            <a:off x="7086600" y="1691640"/>
            <a:ext cx="4206240" cy="320040"/>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LIME: the same pair, written as rules</a:t>
            </a:r>
            <a:endParaRPr lang="en-US" sz="1400" dirty="0"/>
          </a:p>
        </p:txBody>
      </p:sp>
      <p:sp>
        <p:nvSpPr>
          <p:cNvPr id="12" name="Text 8"/>
          <p:cNvSpPr txBox="1"/>
          <p:nvPr/>
        </p:nvSpPr>
        <p:spPr>
          <a:xfrm>
            <a:off x="7086600" y="2103120"/>
            <a:ext cx="4206240" cy="13716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01014"/>
                </a:solidFill>
                <a:latin typeface="Trebuchet MS" pitchFamily="34" charset="0"/>
                <a:ea typeface="Trebuchet MS" pitchFamily="34" charset="-122"/>
                <a:cs typeface="Trebuchet MS" pitchFamily="34" charset="-120"/>
              </a:rPr>
              <a:t>self_optimism ≤ 4.00  →  −0.047</a:t>
            </a:r>
            <a:endParaRPr lang="en-US" sz="1300" dirty="0"/>
          </a:p>
          <a:p>
            <a:pPr marL="342900" indent="-342900">
              <a:spcAft>
                <a:spcPts val="600"/>
              </a:spcAft>
              <a:buSzPct val="100000"/>
              <a:buChar char="■"/>
            </a:pPr>
            <a:r>
              <a:rPr lang="en-US" sz="1300" dirty="0">
                <a:solidFill>
                  <a:srgbClr val="101014"/>
                </a:solidFill>
                <a:latin typeface="Trebuchet MS" pitchFamily="34" charset="0"/>
                <a:ea typeface="Trebuchet MS" pitchFamily="34" charset="-122"/>
                <a:cs typeface="Trebuchet MS" pitchFamily="34" charset="-120"/>
              </a:rPr>
              <a:t>other_selfintel ≤ 8.00  →  +0.035</a:t>
            </a:r>
            <a:endParaRPr lang="en-US" sz="1300" dirty="0"/>
          </a:p>
          <a:p>
            <a:pPr marL="342900" indent="-342900">
              <a:spcAft>
                <a:spcPts val="600"/>
              </a:spcAft>
              <a:buSzPct val="100000"/>
              <a:buChar char="■"/>
            </a:pPr>
            <a:r>
              <a:rPr lang="en-US" sz="1300" dirty="0">
                <a:solidFill>
                  <a:srgbClr val="101014"/>
                </a:solidFill>
                <a:latin typeface="Trebuchet MS" pitchFamily="34" charset="0"/>
                <a:ea typeface="Trebuchet MS" pitchFamily="34" charset="-122"/>
                <a:cs typeface="Trebuchet MS" pitchFamily="34" charset="-120"/>
              </a:rPr>
              <a:t>other_selfamb ≤ 7.00  →  +0.033</a:t>
            </a:r>
            <a:endParaRPr lang="en-US" sz="1300" dirty="0"/>
          </a:p>
        </p:txBody>
      </p:sp>
      <p:sp>
        <p:nvSpPr>
          <p:cNvPr id="13" name="Text 9"/>
          <p:cNvSpPr txBox="1"/>
          <p:nvPr/>
        </p:nvSpPr>
        <p:spPr>
          <a:xfrm>
            <a:off x="7086600" y="3108960"/>
            <a:ext cx="4206240" cy="411480"/>
          </a:xfrm>
          <a:prstGeom prst="rect">
            <a:avLst/>
          </a:prstGeom>
          <a:noFill/>
          <a:ln/>
        </p:spPr>
        <p:txBody>
          <a:bodyPr wrap="square" lIns="0" tIns="0" rIns="0" bIns="0" rtlCol="0" anchor="ctr"/>
          <a:lstStyle/>
          <a:p>
            <a:pPr indent="0" marL="0">
              <a:buNone/>
            </a:pPr>
            <a:r>
              <a:rPr lang="en-US" sz="1150" dirty="0">
                <a:solidFill>
                  <a:srgbClr val="6B6F80"/>
                </a:solidFill>
                <a:latin typeface="Trebuchet MS" pitchFamily="34" charset="0"/>
                <a:ea typeface="Trebuchet MS" pitchFamily="34" charset="-122"/>
                <a:cs typeface="Trebuchet MS" pitchFamily="34" charset="-120"/>
              </a:rPr>
              <a:t>SHAP splits the score, LIME turns it into conditions. Same features.</a:t>
            </a:r>
            <a:endParaRPr lang="en-US" sz="1150" dirty="0"/>
          </a:p>
        </p:txBody>
      </p:sp>
      <p:sp>
        <p:nvSpPr>
          <p:cNvPr id="14" name="Shape 10"/>
          <p:cNvSpPr/>
          <p:nvPr/>
        </p:nvSpPr>
        <p:spPr>
          <a:xfrm>
            <a:off x="6858000" y="3794760"/>
            <a:ext cx="4690872" cy="1463040"/>
          </a:xfrm>
          <a:prstGeom prst="roundRect">
            <a:avLst>
              <a:gd name="adj" fmla="val 5000"/>
            </a:avLst>
          </a:prstGeom>
          <a:solidFill>
            <a:srgbClr val="FFD709"/>
          </a:solidFill>
          <a:ln w="12700">
            <a:solidFill>
              <a:srgbClr val="FFD709"/>
            </a:solidFill>
            <a:prstDash val="solid"/>
          </a:ln>
          <a:effectLst>
            <a:outerShdw sx="100000" sy="100000" kx="0" ky="0" algn="bl" rotWithShape="0" blurRad="76200" dist="381" dir="5400000">
              <a:srgbClr val="9096B8">
                <a:alpha val="22000"/>
              </a:srgbClr>
            </a:outerShdw>
          </a:effectLst>
        </p:spPr>
      </p:sp>
      <p:sp>
        <p:nvSpPr>
          <p:cNvPr id="15" name="Text 11"/>
          <p:cNvSpPr txBox="1"/>
          <p:nvPr/>
        </p:nvSpPr>
        <p:spPr>
          <a:xfrm>
            <a:off x="6858000" y="3913632"/>
            <a:ext cx="4690872" cy="640080"/>
          </a:xfrm>
          <a:prstGeom prst="rect">
            <a:avLst/>
          </a:prstGeom>
          <a:noFill/>
          <a:ln/>
        </p:spPr>
        <p:txBody>
          <a:bodyPr wrap="square" lIns="0" tIns="0" rIns="0" bIns="0" rtlCol="0" anchor="ctr"/>
          <a:lstStyle/>
          <a:p>
            <a:pPr algn="ctr" indent="0" marL="0">
              <a:buNone/>
            </a:pPr>
            <a:r>
              <a:rPr lang="en-US" sz="3200" dirty="0">
                <a:solidFill>
                  <a:srgbClr val="101014"/>
                </a:solidFill>
                <a:latin typeface="Impact" pitchFamily="34" charset="0"/>
                <a:ea typeface="Impact" pitchFamily="34" charset="-122"/>
                <a:cs typeface="Impact" pitchFamily="34" charset="-120"/>
              </a:rPr>
              <a:t>30%</a:t>
            </a:r>
            <a:endParaRPr lang="en-US" sz="3200" dirty="0"/>
          </a:p>
        </p:txBody>
      </p:sp>
      <p:sp>
        <p:nvSpPr>
          <p:cNvPr id="16" name="Text 12"/>
          <p:cNvSpPr txBox="1"/>
          <p:nvPr/>
        </p:nvSpPr>
        <p:spPr>
          <a:xfrm>
            <a:off x="6995160" y="4544568"/>
            <a:ext cx="4416552" cy="594360"/>
          </a:xfrm>
          <a:prstGeom prst="rect">
            <a:avLst/>
          </a:prstGeom>
          <a:noFill/>
          <a:ln/>
        </p:spPr>
        <p:txBody>
          <a:bodyPr wrap="square" lIns="0" tIns="0" rIns="0" bIns="0" rtlCol="0" anchor="t"/>
          <a:lstStyle/>
          <a:p>
            <a:pPr algn="ctr" indent="0" marL="0">
              <a:buNone/>
            </a:pPr>
            <a:r>
              <a:rPr lang="en-US" sz="1150" dirty="0">
                <a:solidFill>
                  <a:srgbClr val="101014"/>
                </a:solidFill>
                <a:latin typeface="Trebuchet MS" pitchFamily="34" charset="0"/>
                <a:ea typeface="Trebuchet MS" pitchFamily="34" charset="-122"/>
                <a:cs typeface="Trebuchet MS" pitchFamily="34" charset="-120"/>
              </a:rPr>
              <a:t>is all that the 4 global importance methods share in their top 5.</a:t>
            </a:r>
            <a:endParaRPr lang="en-US" sz="1150" dirty="0"/>
          </a:p>
          <a:p>
            <a:pPr algn="ctr" indent="0" marL="0">
              <a:buNone/>
            </a:pPr>
            <a:r>
              <a:rPr lang="en-US" sz="1150" dirty="0">
                <a:solidFill>
                  <a:srgbClr val="101014"/>
                </a:solidFill>
                <a:latin typeface="Trebuchet MS" pitchFamily="34" charset="0"/>
                <a:ea typeface="Trebuchet MS" pitchFamily="34" charset="-122"/>
                <a:cs typeface="Trebuchet MS" pitchFamily="34" charset="-120"/>
              </a:rPr>
              <a:t>Impurity and XPER share nothing at all.</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33C8"/>
        </a:solidFill>
      </p:bgPr>
    </p:bg>
    <p:spTree>
      <p:nvGrpSpPr>
        <p:cNvPr id="1" name=""/>
        <p:cNvGrpSpPr/>
        <p:nvPr/>
      </p:nvGrpSpPr>
      <p:grpSpPr>
        <a:xfrm>
          <a:off x="0" y="0"/>
          <a:ext cx="0" cy="0"/>
          <a:chOff x="0" y="0"/>
          <a:chExt cx="0" cy="0"/>
        </a:xfrm>
      </p:grpSpPr>
      <p:sp>
        <p:nvSpPr>
          <p:cNvPr id="2" name="Text 0"/>
          <p:cNvSpPr txBox="1"/>
          <p:nvPr/>
        </p:nvSpPr>
        <p:spPr>
          <a:xfrm>
            <a:off x="640080" y="2240280"/>
            <a:ext cx="2011680" cy="1737360"/>
          </a:xfrm>
          <a:prstGeom prst="rect">
            <a:avLst/>
          </a:prstGeom>
          <a:noFill/>
          <a:ln/>
        </p:spPr>
        <p:txBody>
          <a:bodyPr wrap="square" lIns="0" tIns="0" rIns="0" bIns="0" rtlCol="0" anchor="ctr"/>
          <a:lstStyle/>
          <a:p>
            <a:pPr indent="0" marL="0">
              <a:buNone/>
            </a:pPr>
            <a:r>
              <a:rPr lang="en-US" sz="9600" dirty="0">
                <a:solidFill>
                  <a:srgbClr val="FFD709"/>
                </a:solidFill>
                <a:latin typeface="Impact" pitchFamily="34" charset="0"/>
                <a:ea typeface="Impact" pitchFamily="34" charset="-122"/>
                <a:cs typeface="Impact" pitchFamily="34" charset="-120"/>
              </a:rPr>
              <a:t>05</a:t>
            </a:r>
            <a:endParaRPr lang="en-US" sz="9600" dirty="0"/>
          </a:p>
        </p:txBody>
      </p:sp>
      <p:sp>
        <p:nvSpPr>
          <p:cNvPr id="3" name="Text 1"/>
          <p:cNvSpPr txBox="1"/>
          <p:nvPr/>
        </p:nvSpPr>
        <p:spPr>
          <a:xfrm>
            <a:off x="2651760" y="2468880"/>
            <a:ext cx="5120640" cy="822960"/>
          </a:xfrm>
          <a:prstGeom prst="rect">
            <a:avLst/>
          </a:prstGeom>
          <a:noFill/>
          <a:ln/>
        </p:spPr>
        <p:txBody>
          <a:bodyPr wrap="square" lIns="0" tIns="0" rIns="0" bIns="0" rtlCol="0" anchor="ctr"/>
          <a:lstStyle/>
          <a:p>
            <a:pPr indent="0" marL="0">
              <a:buNone/>
            </a:pPr>
            <a:r>
              <a:rPr lang="en-US" sz="3600" dirty="0">
                <a:solidFill>
                  <a:srgbClr val="FFFFFF"/>
                </a:solidFill>
                <a:latin typeface="Impact" pitchFamily="34" charset="0"/>
                <a:ea typeface="Impact" pitchFamily="34" charset="-122"/>
                <a:cs typeface="Impact" pitchFamily="34" charset="-120"/>
              </a:rPr>
              <a:t>STABILITY</a:t>
            </a:r>
            <a:endParaRPr lang="en-US" sz="3600" dirty="0"/>
          </a:p>
        </p:txBody>
      </p:sp>
      <p:sp>
        <p:nvSpPr>
          <p:cNvPr id="4" name="Text 2"/>
          <p:cNvSpPr txBox="1"/>
          <p:nvPr/>
        </p:nvSpPr>
        <p:spPr>
          <a:xfrm>
            <a:off x="2697480" y="3310128"/>
            <a:ext cx="5120640" cy="731520"/>
          </a:xfrm>
          <a:prstGeom prst="rect">
            <a:avLst/>
          </a:prstGeom>
          <a:noFill/>
          <a:ln/>
        </p:spPr>
        <p:txBody>
          <a:bodyPr wrap="square" lIns="0" tIns="0" rIns="0" bIns="0" rtlCol="0" anchor="ctr"/>
          <a:lstStyle/>
          <a:p>
            <a:pPr indent="0" marL="0">
              <a:buNone/>
            </a:pPr>
            <a:r>
              <a:rPr lang="en-US" sz="1400" dirty="0">
                <a:solidFill>
                  <a:srgbClr val="C9CFF5"/>
                </a:solidFill>
                <a:latin typeface="Trebuchet MS" pitchFamily="34" charset="0"/>
                <a:ea typeface="Trebuchet MS" pitchFamily="34" charset="-122"/>
                <a:cs typeface="Trebuchet MS" pitchFamily="34" charset="-120"/>
              </a:rPr>
              <a:t>Does the engine say the same thing after a retraining?</a:t>
            </a:r>
            <a:endParaRPr lang="en-US" sz="1400" dirty="0"/>
          </a:p>
        </p:txBody>
      </p:sp>
      <p:sp>
        <p:nvSpPr>
          <p:cNvPr id="5" name="Text 3"/>
          <p:cNvSpPr txBox="1"/>
          <p:nvPr/>
        </p:nvSpPr>
        <p:spPr>
          <a:xfrm>
            <a:off x="7863840" y="1344168"/>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01   THE PROBLEM</a:t>
            </a:r>
            <a:endParaRPr lang="en-US" sz="1300" dirty="0"/>
          </a:p>
        </p:txBody>
      </p:sp>
      <p:sp>
        <p:nvSpPr>
          <p:cNvPr id="6" name="Text 4"/>
          <p:cNvSpPr txBox="1"/>
          <p:nvPr/>
        </p:nvSpPr>
        <p:spPr>
          <a:xfrm>
            <a:off x="7863840" y="1911096"/>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02   DATA AND METHOD</a:t>
            </a:r>
            <a:endParaRPr lang="en-US" sz="1300" dirty="0"/>
          </a:p>
        </p:txBody>
      </p:sp>
      <p:sp>
        <p:nvSpPr>
          <p:cNvPr id="7" name="Text 5"/>
          <p:cNvSpPr txBox="1"/>
          <p:nvPr/>
        </p:nvSpPr>
        <p:spPr>
          <a:xfrm>
            <a:off x="7863840" y="2478024"/>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03   PERFORMANCE</a:t>
            </a:r>
            <a:endParaRPr lang="en-US" sz="1300" dirty="0"/>
          </a:p>
        </p:txBody>
      </p:sp>
      <p:sp>
        <p:nvSpPr>
          <p:cNvPr id="8" name="Text 6"/>
          <p:cNvSpPr txBox="1"/>
          <p:nvPr/>
        </p:nvSpPr>
        <p:spPr>
          <a:xfrm>
            <a:off x="7863840" y="3044952"/>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04   INTERPRETABILITY</a:t>
            </a:r>
            <a:endParaRPr lang="en-US" sz="1300" dirty="0"/>
          </a:p>
        </p:txBody>
      </p:sp>
      <p:sp>
        <p:nvSpPr>
          <p:cNvPr id="9" name="Shape 7"/>
          <p:cNvSpPr/>
          <p:nvPr/>
        </p:nvSpPr>
        <p:spPr>
          <a:xfrm>
            <a:off x="7635240" y="3611880"/>
            <a:ext cx="3913632" cy="475488"/>
          </a:xfrm>
          <a:prstGeom prst="roundRect">
            <a:avLst>
              <a:gd name="adj" fmla="val 15385"/>
            </a:avLst>
          </a:prstGeom>
          <a:solidFill>
            <a:srgbClr val="FFD709"/>
          </a:solidFill>
          <a:ln w="12700">
            <a:solidFill>
              <a:srgbClr val="FFD709"/>
            </a:solidFill>
            <a:prstDash val="solid"/>
          </a:ln>
        </p:spPr>
      </p:sp>
      <p:sp>
        <p:nvSpPr>
          <p:cNvPr id="10" name="Text 8"/>
          <p:cNvSpPr txBox="1"/>
          <p:nvPr/>
        </p:nvSpPr>
        <p:spPr>
          <a:xfrm>
            <a:off x="7863840" y="3611880"/>
            <a:ext cx="3657600" cy="475488"/>
          </a:xfrm>
          <a:prstGeom prst="rect">
            <a:avLst/>
          </a:prstGeom>
          <a:noFill/>
          <a:ln/>
        </p:spPr>
        <p:txBody>
          <a:bodyPr wrap="square" lIns="0" tIns="0" rIns="0" bIns="0" rtlCol="0" anchor="ctr"/>
          <a:lstStyle/>
          <a:p>
            <a:pPr indent="0" marL="0">
              <a:buNone/>
            </a:pPr>
            <a:r>
              <a:rPr lang="en-US" sz="1300" b="1" dirty="0">
                <a:solidFill>
                  <a:srgbClr val="101014"/>
                </a:solidFill>
                <a:latin typeface="Trebuchet MS" pitchFamily="34" charset="0"/>
                <a:ea typeface="Trebuchet MS" pitchFamily="34" charset="-122"/>
                <a:cs typeface="Trebuchet MS" pitchFamily="34" charset="-120"/>
              </a:rPr>
              <a:t>05   STABILITY</a:t>
            </a:r>
            <a:endParaRPr lang="en-US" sz="1300" dirty="0"/>
          </a:p>
        </p:txBody>
      </p:sp>
      <p:sp>
        <p:nvSpPr>
          <p:cNvPr id="11" name="Text 9"/>
          <p:cNvSpPr txBox="1"/>
          <p:nvPr/>
        </p:nvSpPr>
        <p:spPr>
          <a:xfrm>
            <a:off x="7863840" y="4178808"/>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06   FAIRNESS</a:t>
            </a:r>
            <a:endParaRPr lang="en-US" sz="1300" dirty="0"/>
          </a:p>
        </p:txBody>
      </p:sp>
      <p:sp>
        <p:nvSpPr>
          <p:cNvPr id="12" name="Text 10"/>
          <p:cNvSpPr txBox="1"/>
          <p:nvPr/>
        </p:nvSpPr>
        <p:spPr>
          <a:xfrm>
            <a:off x="7863840" y="4745736"/>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07   RECOMMENDATION</a:t>
            </a:r>
            <a:endParaRPr lang="en-US" sz="1300" dirty="0"/>
          </a:p>
        </p:txBody>
      </p:sp>
      <p:pic>
        <p:nvPicPr>
          <p:cNvPr id="13" name="Image 0" descr="/home/claude/isaf-group-rito-mitsouka/assets/logo/icon_transparent.png">    </p:cNvPr>
          <p:cNvPicPr>
            <a:picLocks noChangeAspect="1"/>
          </p:cNvPicPr>
          <p:nvPr/>
        </p:nvPicPr>
        <p:blipFill>
          <a:blip r:embed="rId1"/>
          <a:stretch>
            <a:fillRect/>
          </a:stretch>
        </p:blipFill>
        <p:spPr>
          <a:xfrm>
            <a:off x="10771632" y="6035040"/>
            <a:ext cx="777240" cy="3200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457200"/>
            <a:ext cx="9994392" cy="512064"/>
          </a:xfrm>
          <a:prstGeom prst="rect">
            <a:avLst/>
          </a:prstGeom>
          <a:noFill/>
          <a:ln/>
        </p:spPr>
        <p:txBody>
          <a:bodyPr wrap="square" lIns="0" tIns="0" rIns="0" bIns="0" rtlCol="0" anchor="ctr"/>
          <a:lstStyle/>
          <a:p>
            <a:pPr indent="0" marL="0">
              <a:buNone/>
            </a:pPr>
            <a:r>
              <a:rPr lang="en-US" sz="2600" dirty="0">
                <a:solidFill>
                  <a:srgbClr val="1E33C8"/>
                </a:solidFill>
                <a:latin typeface="Impact" pitchFamily="34" charset="0"/>
                <a:ea typeface="Impact" pitchFamily="34" charset="-122"/>
                <a:cs typeface="Impact" pitchFamily="34" charset="-120"/>
              </a:rPr>
              <a:t>SAME ACCURACY, DIFFERENT RECOMMENDATIONS</a:t>
            </a:r>
            <a:endParaRPr lang="en-US" sz="2600" dirty="0"/>
          </a:p>
        </p:txBody>
      </p:sp>
      <p:pic>
        <p:nvPicPr>
          <p:cNvPr id="3" name="Image 0" descr="/home/claude/isaf-group-rito-mitsouka/assets/logo/icon_transparent.png">    </p:cNvPr>
          <p:cNvPicPr>
            <a:picLocks noChangeAspect="1"/>
          </p:cNvPicPr>
          <p:nvPr/>
        </p:nvPicPr>
        <p:blipFill>
          <a:blip r:embed="rId1"/>
          <a:stretch>
            <a:fillRect/>
          </a:stretch>
        </p:blipFill>
        <p:spPr>
          <a:xfrm>
            <a:off x="10771632" y="411480"/>
            <a:ext cx="777240" cy="320040"/>
          </a:xfrm>
          <a:prstGeom prst="rect">
            <a:avLst/>
          </a:prstGeom>
        </p:spPr>
      </p:pic>
      <p:sp>
        <p:nvSpPr>
          <p:cNvPr id="4" name="Text 1"/>
          <p:cNvSpPr txBox="1"/>
          <p:nvPr/>
        </p:nvSpPr>
        <p:spPr>
          <a:xfrm>
            <a:off x="640080" y="969264"/>
            <a:ext cx="10908792" cy="365760"/>
          </a:xfrm>
          <a:prstGeom prst="rect">
            <a:avLst/>
          </a:prstGeom>
          <a:noFill/>
          <a:ln/>
        </p:spPr>
        <p:txBody>
          <a:bodyPr wrap="square" lIns="0" tIns="0" rIns="0" bIns="0" rtlCol="0" anchor="ctr"/>
          <a:lstStyle/>
          <a:p>
            <a:pPr indent="0" marL="0">
              <a:buNone/>
            </a:pPr>
            <a:r>
              <a:rPr lang="en-US" sz="1500" dirty="0">
                <a:solidFill>
                  <a:srgbClr val="6B6F80"/>
                </a:solidFill>
                <a:latin typeface="Trebuchet MS" pitchFamily="34" charset="0"/>
                <a:ea typeface="Trebuchet MS" pitchFamily="34" charset="-122"/>
                <a:cs typeface="Trebuchet MS" pitchFamily="34" charset="-120"/>
              </a:rPr>
              <a:t>Does the engine say the same thing after a retraining?</a:t>
            </a:r>
            <a:endParaRPr lang="en-US" sz="1500" dirty="0"/>
          </a:p>
        </p:txBody>
      </p:sp>
      <p:sp>
        <p:nvSpPr>
          <p:cNvPr id="5" name="Shape 2"/>
          <p:cNvSpPr/>
          <p:nvPr/>
        </p:nvSpPr>
        <p:spPr>
          <a:xfrm>
            <a:off x="640080" y="5760720"/>
            <a:ext cx="10908792" cy="731520"/>
          </a:xfrm>
          <a:prstGeom prst="roundRect">
            <a:avLst>
              <a:gd name="adj" fmla="val 15000"/>
            </a:avLst>
          </a:prstGeom>
          <a:solidFill>
            <a:srgbClr val="FFD709"/>
          </a:solidFill>
          <a:ln w="12700">
            <a:solidFill>
              <a:srgbClr val="FFD709"/>
            </a:solidFill>
            <a:prstDash val="solid"/>
          </a:ln>
        </p:spPr>
      </p:sp>
      <p:sp>
        <p:nvSpPr>
          <p:cNvPr id="6" name="Text 3"/>
          <p:cNvSpPr txBox="1"/>
          <p:nvPr/>
        </p:nvSpPr>
        <p:spPr>
          <a:xfrm>
            <a:off x="914400" y="5760720"/>
            <a:ext cx="10360152" cy="731520"/>
          </a:xfrm>
          <a:prstGeom prst="rect">
            <a:avLst/>
          </a:prstGeom>
          <a:noFill/>
          <a:ln/>
        </p:spPr>
        <p:txBody>
          <a:bodyPr wrap="square" lIns="0" tIns="0" rIns="0" bIns="0" rtlCol="0" anchor="ctr"/>
          <a:lstStyle/>
          <a:p>
            <a:pPr algn="ctr" indent="0" marL="0">
              <a:buNone/>
            </a:pPr>
            <a:r>
              <a:rPr lang="en-US" sz="1400" b="1" dirty="0">
                <a:solidFill>
                  <a:srgbClr val="101014"/>
                </a:solidFill>
                <a:latin typeface="Trebuchet MS" pitchFamily="34" charset="0"/>
                <a:ea typeface="Trebuchet MS" pitchFamily="34" charset="-122"/>
                <a:cs typeface="Trebuchet MS" pitchFamily="34" charset="-120"/>
              </a:rPr>
              <a:t>HALF THE SHORTLIST CHANGES AT EACH RETRAIN: ANCHOR THE NEW MODEL TO THE OLD ONE.</a:t>
            </a:r>
            <a:endParaRPr lang="en-US" sz="1400" dirty="0"/>
          </a:p>
        </p:txBody>
      </p:sp>
      <p:sp>
        <p:nvSpPr>
          <p:cNvPr id="7" name="Shape 4"/>
          <p:cNvSpPr/>
          <p:nvPr/>
        </p:nvSpPr>
        <p:spPr>
          <a:xfrm>
            <a:off x="640080" y="1508760"/>
            <a:ext cx="3520440" cy="1371600"/>
          </a:xfrm>
          <a:prstGeom prst="roundRect">
            <a:avLst>
              <a:gd name="adj" fmla="val 5333"/>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8" name="Text 5"/>
          <p:cNvSpPr txBox="1"/>
          <p:nvPr/>
        </p:nvSpPr>
        <p:spPr>
          <a:xfrm>
            <a:off x="640080" y="1627632"/>
            <a:ext cx="3520440" cy="640080"/>
          </a:xfrm>
          <a:prstGeom prst="rect">
            <a:avLst/>
          </a:prstGeom>
          <a:noFill/>
          <a:ln/>
        </p:spPr>
        <p:txBody>
          <a:bodyPr wrap="square" lIns="0" tIns="0" rIns="0" bIns="0" rtlCol="0" anchor="ctr"/>
          <a:lstStyle/>
          <a:p>
            <a:pPr algn="ctr" indent="0" marL="0">
              <a:buNone/>
            </a:pPr>
            <a:r>
              <a:rPr lang="en-US" sz="2600" dirty="0">
                <a:solidFill>
                  <a:srgbClr val="1E33C8"/>
                </a:solidFill>
                <a:latin typeface="Impact" pitchFamily="34" charset="0"/>
                <a:ea typeface="Impact" pitchFamily="34" charset="-122"/>
                <a:cs typeface="Impact" pitchFamily="34" charset="-120"/>
              </a:rPr>
              <a:t>0.56 vs 0.30</a:t>
            </a:r>
            <a:endParaRPr lang="en-US" sz="2600" dirty="0"/>
          </a:p>
        </p:txBody>
      </p:sp>
      <p:sp>
        <p:nvSpPr>
          <p:cNvPr id="9" name="Text 6"/>
          <p:cNvSpPr txBox="1"/>
          <p:nvPr/>
        </p:nvSpPr>
        <p:spPr>
          <a:xfrm>
            <a:off x="777240" y="2258568"/>
            <a:ext cx="3246120" cy="502920"/>
          </a:xfrm>
          <a:prstGeom prst="rect">
            <a:avLst/>
          </a:prstGeom>
          <a:noFill/>
          <a:ln/>
        </p:spPr>
        <p:txBody>
          <a:bodyPr wrap="square" lIns="0" tIns="0" rIns="0" bIns="0" rtlCol="0" anchor="t"/>
          <a:lstStyle/>
          <a:p>
            <a:pPr algn="ctr" indent="0" marL="0">
              <a:buNone/>
            </a:pPr>
            <a:r>
              <a:rPr lang="en-US" sz="1150" dirty="0">
                <a:solidFill>
                  <a:srgbClr val="6B6F80"/>
                </a:solidFill>
                <a:latin typeface="Trebuchet MS" pitchFamily="34" charset="0"/>
                <a:ea typeface="Trebuchet MS" pitchFamily="34" charset="-122"/>
                <a:cs typeface="Trebuchet MS" pitchFamily="34" charset="-120"/>
              </a:rPr>
              <a:t>how much the model changes when retrained,</a:t>
            </a:r>
            <a:endParaRPr lang="en-US" sz="1150" dirty="0"/>
          </a:p>
          <a:p>
            <a:pPr algn="ctr" indent="0" marL="0">
              <a:buNone/>
            </a:pPr>
            <a:r>
              <a:rPr lang="en-US" sz="1150" dirty="0">
                <a:solidFill>
                  <a:srgbClr val="6B6F80"/>
                </a:solidFill>
                <a:latin typeface="Trebuchet MS" pitchFamily="34" charset="0"/>
                <a:ea typeface="Trebuchet MS" pitchFamily="34" charset="-122"/>
                <a:cs typeface="Trebuchet MS" pitchFamily="34" charset="-120"/>
              </a:rPr>
              <a:t>logistic regression vs XGBoost, 0 = identical</a:t>
            </a:r>
            <a:endParaRPr lang="en-US" sz="1150" dirty="0"/>
          </a:p>
        </p:txBody>
      </p:sp>
      <p:sp>
        <p:nvSpPr>
          <p:cNvPr id="10" name="Shape 7"/>
          <p:cNvSpPr/>
          <p:nvPr/>
        </p:nvSpPr>
        <p:spPr>
          <a:xfrm>
            <a:off x="4343400" y="1508760"/>
            <a:ext cx="3520440" cy="1371600"/>
          </a:xfrm>
          <a:prstGeom prst="roundRect">
            <a:avLst>
              <a:gd name="adj" fmla="val 5333"/>
            </a:avLst>
          </a:prstGeom>
          <a:solidFill>
            <a:srgbClr val="FFD709"/>
          </a:solidFill>
          <a:ln w="12700">
            <a:solidFill>
              <a:srgbClr val="FFD709"/>
            </a:solidFill>
            <a:prstDash val="solid"/>
          </a:ln>
          <a:effectLst>
            <a:outerShdw sx="100000" sy="100000" kx="0" ky="0" algn="bl" rotWithShape="0" blurRad="76200" dist="381" dir="5400000">
              <a:srgbClr val="9096B8">
                <a:alpha val="22000"/>
              </a:srgbClr>
            </a:outerShdw>
          </a:effectLst>
        </p:spPr>
      </p:sp>
      <p:sp>
        <p:nvSpPr>
          <p:cNvPr id="11" name="Text 8"/>
          <p:cNvSpPr txBox="1"/>
          <p:nvPr/>
        </p:nvSpPr>
        <p:spPr>
          <a:xfrm>
            <a:off x="4343400" y="1627632"/>
            <a:ext cx="3520440" cy="640080"/>
          </a:xfrm>
          <a:prstGeom prst="rect">
            <a:avLst/>
          </a:prstGeom>
          <a:noFill/>
          <a:ln/>
        </p:spPr>
        <p:txBody>
          <a:bodyPr wrap="square" lIns="0" tIns="0" rIns="0" bIns="0" rtlCol="0" anchor="ctr"/>
          <a:lstStyle/>
          <a:p>
            <a:pPr algn="ctr" indent="0" marL="0">
              <a:buNone/>
            </a:pPr>
            <a:r>
              <a:rPr lang="en-US" sz="3200" dirty="0">
                <a:solidFill>
                  <a:srgbClr val="101014"/>
                </a:solidFill>
                <a:latin typeface="Impact" pitchFamily="34" charset="0"/>
                <a:ea typeface="Impact" pitchFamily="34" charset="-122"/>
                <a:cs typeface="Impact" pitchFamily="34" charset="-120"/>
              </a:rPr>
              <a:t>48%</a:t>
            </a:r>
            <a:endParaRPr lang="en-US" sz="3200" dirty="0"/>
          </a:p>
        </p:txBody>
      </p:sp>
      <p:sp>
        <p:nvSpPr>
          <p:cNvPr id="12" name="Text 9"/>
          <p:cNvSpPr txBox="1"/>
          <p:nvPr/>
        </p:nvSpPr>
        <p:spPr>
          <a:xfrm>
            <a:off x="4480560" y="2258568"/>
            <a:ext cx="3246120" cy="502920"/>
          </a:xfrm>
          <a:prstGeom prst="rect">
            <a:avLst/>
          </a:prstGeom>
          <a:noFill/>
          <a:ln/>
        </p:spPr>
        <p:txBody>
          <a:bodyPr wrap="square" lIns="0" tIns="0" rIns="0" bIns="0" rtlCol="0" anchor="t"/>
          <a:lstStyle/>
          <a:p>
            <a:pPr algn="ctr" indent="0" marL="0">
              <a:buNone/>
            </a:pPr>
            <a:r>
              <a:rPr lang="en-US" sz="1150" dirty="0">
                <a:solidFill>
                  <a:srgbClr val="101014"/>
                </a:solidFill>
                <a:latin typeface="Trebuchet MS" pitchFamily="34" charset="0"/>
                <a:ea typeface="Trebuchet MS" pitchFamily="34" charset="-122"/>
                <a:cs typeface="Trebuchet MS" pitchFamily="34" charset="-120"/>
              </a:rPr>
              <a:t>of the top decile shortlist survives</a:t>
            </a:r>
            <a:endParaRPr lang="en-US" sz="1150" dirty="0"/>
          </a:p>
          <a:p>
            <a:pPr algn="ctr" indent="0" marL="0">
              <a:buNone/>
            </a:pPr>
            <a:r>
              <a:rPr lang="en-US" sz="1150" dirty="0">
                <a:solidFill>
                  <a:srgbClr val="101014"/>
                </a:solidFill>
                <a:latin typeface="Trebuchet MS" pitchFamily="34" charset="0"/>
                <a:ea typeface="Trebuchet MS" pitchFamily="34" charset="-122"/>
                <a:cs typeface="Trebuchet MS" pitchFamily="34" charset="-120"/>
              </a:rPr>
              <a:t>a retraining, 44% for XGBoost</a:t>
            </a:r>
            <a:endParaRPr lang="en-US" sz="1150" dirty="0"/>
          </a:p>
        </p:txBody>
      </p:sp>
      <p:sp>
        <p:nvSpPr>
          <p:cNvPr id="13" name="Shape 10"/>
          <p:cNvSpPr/>
          <p:nvPr/>
        </p:nvSpPr>
        <p:spPr>
          <a:xfrm>
            <a:off x="8046720" y="1508760"/>
            <a:ext cx="3502152" cy="1371600"/>
          </a:xfrm>
          <a:prstGeom prst="roundRect">
            <a:avLst>
              <a:gd name="adj" fmla="val 5333"/>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4" name="Text 11"/>
          <p:cNvSpPr txBox="1"/>
          <p:nvPr/>
        </p:nvSpPr>
        <p:spPr>
          <a:xfrm>
            <a:off x="8046720" y="1627632"/>
            <a:ext cx="3502152" cy="640080"/>
          </a:xfrm>
          <a:prstGeom prst="rect">
            <a:avLst/>
          </a:prstGeom>
          <a:noFill/>
          <a:ln/>
        </p:spPr>
        <p:txBody>
          <a:bodyPr wrap="square" lIns="0" tIns="0" rIns="0" bIns="0" rtlCol="0" anchor="ctr"/>
          <a:lstStyle/>
          <a:p>
            <a:pPr algn="ctr" indent="0" marL="0">
              <a:buNone/>
            </a:pPr>
            <a:r>
              <a:rPr lang="en-US" sz="2200" dirty="0">
                <a:solidFill>
                  <a:srgbClr val="1E33C8"/>
                </a:solidFill>
                <a:latin typeface="Impact" pitchFamily="34" charset="0"/>
                <a:ea typeface="Impact" pitchFamily="34" charset="-122"/>
                <a:cs typeface="Impact" pitchFamily="34" charset="-120"/>
              </a:rPr>
              <a:t>0.287 → 0.312</a:t>
            </a:r>
            <a:endParaRPr lang="en-US" sz="2200" dirty="0"/>
          </a:p>
        </p:txBody>
      </p:sp>
      <p:sp>
        <p:nvSpPr>
          <p:cNvPr id="15" name="Text 12"/>
          <p:cNvSpPr txBox="1"/>
          <p:nvPr/>
        </p:nvSpPr>
        <p:spPr>
          <a:xfrm>
            <a:off x="8183880" y="2258568"/>
            <a:ext cx="3227832" cy="502920"/>
          </a:xfrm>
          <a:prstGeom prst="rect">
            <a:avLst/>
          </a:prstGeom>
          <a:noFill/>
          <a:ln/>
        </p:spPr>
        <p:txBody>
          <a:bodyPr wrap="square" lIns="0" tIns="0" rIns="0" bIns="0" rtlCol="0" anchor="t"/>
          <a:lstStyle/>
          <a:p>
            <a:pPr algn="ctr" indent="0" marL="0">
              <a:buNone/>
            </a:pPr>
            <a:r>
              <a:rPr lang="en-US" sz="1150" dirty="0">
                <a:solidFill>
                  <a:srgbClr val="6B6F80"/>
                </a:solidFill>
                <a:latin typeface="Trebuchet MS" pitchFamily="34" charset="0"/>
                <a:ea typeface="Trebuchet MS" pitchFamily="34" charset="-122"/>
                <a:cs typeface="Trebuchet MS" pitchFamily="34" charset="-120"/>
              </a:rPr>
              <a:t>PR-AUC when the new model is pulled</a:t>
            </a:r>
            <a:endParaRPr lang="en-US" sz="1150" dirty="0"/>
          </a:p>
          <a:p>
            <a:pPr algn="ctr" indent="0" marL="0">
              <a:buNone/>
            </a:pPr>
            <a:r>
              <a:rPr lang="en-US" sz="1150" dirty="0">
                <a:solidFill>
                  <a:srgbClr val="6B6F80"/>
                </a:solidFill>
                <a:latin typeface="Trebuchet MS" pitchFamily="34" charset="0"/>
                <a:ea typeface="Trebuchet MS" pitchFamily="34" charset="-122"/>
                <a:cs typeface="Trebuchet MS" pitchFamily="34" charset="-120"/>
              </a:rPr>
              <a:t>towards the previous one</a:t>
            </a:r>
            <a:endParaRPr lang="en-US" sz="1150" dirty="0"/>
          </a:p>
        </p:txBody>
      </p:sp>
      <p:pic>
        <p:nvPicPr>
          <p:cNvPr id="16" name="Image 1" descr="/mnt/user-data/uploads/Classes/02 - Interpretability, Stability &amp; Algorithmic fairness/02 - Project/isaf-group-rito-mitsouka/reports/figures/05_stability_trade_off.png">    </p:cNvPr>
          <p:cNvPicPr>
            <a:picLocks noChangeAspect="1"/>
          </p:cNvPicPr>
          <p:nvPr/>
        </p:nvPicPr>
        <p:blipFill>
          <a:blip r:embed="rId2"/>
          <a:stretch>
            <a:fillRect/>
          </a:stretch>
        </p:blipFill>
        <p:spPr>
          <a:xfrm>
            <a:off x="640080" y="3200400"/>
            <a:ext cx="3108960" cy="2148840"/>
          </a:xfrm>
          <a:prstGeom prst="rect">
            <a:avLst/>
          </a:prstGeom>
        </p:spPr>
      </p:pic>
      <p:sp>
        <p:nvSpPr>
          <p:cNvPr id="17" name="Text 13"/>
          <p:cNvSpPr txBox="1"/>
          <p:nvPr/>
        </p:nvSpPr>
        <p:spPr>
          <a:xfrm>
            <a:off x="640080" y="5376672"/>
            <a:ext cx="3108960" cy="274320"/>
          </a:xfrm>
          <a:prstGeom prst="rect">
            <a:avLst/>
          </a:prstGeom>
          <a:noFill/>
          <a:ln/>
        </p:spPr>
        <p:txBody>
          <a:bodyPr wrap="square" lIns="0" tIns="0" rIns="0" bIns="0" rtlCol="0" anchor="ctr"/>
          <a:lstStyle/>
          <a:p>
            <a:pPr algn="ctr" indent="0" marL="0">
              <a:buNone/>
            </a:pPr>
            <a:r>
              <a:rPr lang="en-US" sz="1050" dirty="0">
                <a:solidFill>
                  <a:srgbClr val="6B6F80"/>
                </a:solidFill>
                <a:latin typeface="Trebuchet MS" pitchFamily="34" charset="0"/>
                <a:ea typeface="Trebuchet MS" pitchFamily="34" charset="-122"/>
                <a:cs typeface="Trebuchet MS" pitchFamily="34" charset="-120"/>
              </a:rPr>
              <a:t>Staying close to the previous model costs no accuracy</a:t>
            </a:r>
            <a:endParaRPr lang="en-US" sz="1050" dirty="0"/>
          </a:p>
        </p:txBody>
      </p:sp>
      <p:sp>
        <p:nvSpPr>
          <p:cNvPr id="18" name="Shape 14"/>
          <p:cNvSpPr/>
          <p:nvPr/>
        </p:nvSpPr>
        <p:spPr>
          <a:xfrm>
            <a:off x="4023360" y="3200400"/>
            <a:ext cx="7525512" cy="2331720"/>
          </a:xfrm>
          <a:prstGeom prst="roundRect">
            <a:avLst>
              <a:gd name="adj" fmla="val 3137"/>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9" name="Text 15"/>
          <p:cNvSpPr txBox="1"/>
          <p:nvPr/>
        </p:nvSpPr>
        <p:spPr>
          <a:xfrm>
            <a:off x="4297680" y="3401568"/>
            <a:ext cx="6949440" cy="320040"/>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What the client should do</a:t>
            </a:r>
            <a:endParaRPr lang="en-US" sz="1400" dirty="0"/>
          </a:p>
        </p:txBody>
      </p:sp>
      <p:sp>
        <p:nvSpPr>
          <p:cNvPr id="20" name="Text 16"/>
          <p:cNvSpPr txBox="1"/>
          <p:nvPr/>
        </p:nvSpPr>
        <p:spPr>
          <a:xfrm>
            <a:off x="4297680" y="3794760"/>
            <a:ext cx="6949440" cy="164592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01014"/>
                </a:solidFill>
                <a:latin typeface="Trebuchet MS" pitchFamily="34" charset="0"/>
                <a:ea typeface="Trebuchet MS" pitchFamily="34" charset="-122"/>
                <a:cs typeface="Trebuchet MS" pitchFamily="34" charset="-120"/>
              </a:rPr>
              <a:t>Accuracy can stay flat while the recommendations change.</a:t>
            </a:r>
            <a:endParaRPr lang="en-US" sz="1250" dirty="0"/>
          </a:p>
          <a:p>
            <a:pPr marL="342900" indent="-342900">
              <a:spcAft>
                <a:spcPts val="800"/>
              </a:spcAft>
              <a:buSzPct val="100000"/>
              <a:buChar char="■"/>
            </a:pPr>
            <a:r>
              <a:rPr lang="en-US" sz="1250" dirty="0">
                <a:solidFill>
                  <a:srgbClr val="101014"/>
                </a:solidFill>
                <a:latin typeface="Trebuchet MS" pitchFamily="34" charset="0"/>
                <a:ea typeface="Trebuchet MS" pitchFamily="34" charset="-122"/>
                <a:cs typeface="Trebuchet MS" pitchFamily="34" charset="-120"/>
              </a:rPr>
              <a:t>Keep showing pairs outside the shortlist, to keep testing the engine.</a:t>
            </a:r>
            <a:endParaRPr lang="en-US" sz="1250" dirty="0"/>
          </a:p>
          <a:p>
            <a:pPr marL="342900" indent="-342900">
              <a:spcAft>
                <a:spcPts val="800"/>
              </a:spcAft>
              <a:buSzPct val="100000"/>
              <a:buChar char="■"/>
            </a:pPr>
            <a:r>
              <a:rPr lang="en-US" sz="1250" dirty="0">
                <a:solidFill>
                  <a:srgbClr val="101014"/>
                </a:solidFill>
                <a:latin typeface="Trebuchet MS" pitchFamily="34" charset="0"/>
                <a:ea typeface="Trebuchet MS" pitchFamily="34" charset="-122"/>
                <a:cs typeface="Trebuchet MS" pitchFamily="34" charset="-120"/>
              </a:rPr>
              <a:t>Pulling the new model towards the old one costs no accuracy.</a:t>
            </a:r>
            <a:endParaRPr lang="en-US" sz="1250" dirty="0"/>
          </a:p>
          <a:p>
            <a:pPr marL="342900" indent="-342900">
              <a:spcAft>
                <a:spcPts val="800"/>
              </a:spcAft>
              <a:buSzPct val="100000"/>
              <a:buChar char="■"/>
            </a:pPr>
            <a:r>
              <a:rPr lang="en-US" sz="1250" dirty="0">
                <a:solidFill>
                  <a:srgbClr val="101014"/>
                </a:solidFill>
                <a:latin typeface="Trebuchet MS" pitchFamily="34" charset="0"/>
                <a:ea typeface="Trebuchet MS" pitchFamily="34" charset="-122"/>
                <a:cs typeface="Trebuchet MS" pitchFamily="34" charset="-120"/>
              </a:rPr>
              <a:t>Stability is an acceptability requirement, not a metric.</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33C8"/>
        </a:solidFill>
      </p:bgPr>
    </p:bg>
    <p:spTree>
      <p:nvGrpSpPr>
        <p:cNvPr id="1" name=""/>
        <p:cNvGrpSpPr/>
        <p:nvPr/>
      </p:nvGrpSpPr>
      <p:grpSpPr>
        <a:xfrm>
          <a:off x="0" y="0"/>
          <a:ext cx="0" cy="0"/>
          <a:chOff x="0" y="0"/>
          <a:chExt cx="0" cy="0"/>
        </a:xfrm>
      </p:grpSpPr>
      <p:sp>
        <p:nvSpPr>
          <p:cNvPr id="2" name="Text 0"/>
          <p:cNvSpPr txBox="1"/>
          <p:nvPr/>
        </p:nvSpPr>
        <p:spPr>
          <a:xfrm>
            <a:off x="640080" y="2240280"/>
            <a:ext cx="2011680" cy="1737360"/>
          </a:xfrm>
          <a:prstGeom prst="rect">
            <a:avLst/>
          </a:prstGeom>
          <a:noFill/>
          <a:ln/>
        </p:spPr>
        <p:txBody>
          <a:bodyPr wrap="square" lIns="0" tIns="0" rIns="0" bIns="0" rtlCol="0" anchor="ctr"/>
          <a:lstStyle/>
          <a:p>
            <a:pPr indent="0" marL="0">
              <a:buNone/>
            </a:pPr>
            <a:r>
              <a:rPr lang="en-US" sz="9600" dirty="0">
                <a:solidFill>
                  <a:srgbClr val="FFD709"/>
                </a:solidFill>
                <a:latin typeface="Impact" pitchFamily="34" charset="0"/>
                <a:ea typeface="Impact" pitchFamily="34" charset="-122"/>
                <a:cs typeface="Impact" pitchFamily="34" charset="-120"/>
              </a:rPr>
              <a:t>06</a:t>
            </a:r>
            <a:endParaRPr lang="en-US" sz="9600" dirty="0"/>
          </a:p>
        </p:txBody>
      </p:sp>
      <p:sp>
        <p:nvSpPr>
          <p:cNvPr id="3" name="Text 1"/>
          <p:cNvSpPr txBox="1"/>
          <p:nvPr/>
        </p:nvSpPr>
        <p:spPr>
          <a:xfrm>
            <a:off x="2651760" y="2468880"/>
            <a:ext cx="5120640" cy="822960"/>
          </a:xfrm>
          <a:prstGeom prst="rect">
            <a:avLst/>
          </a:prstGeom>
          <a:noFill/>
          <a:ln/>
        </p:spPr>
        <p:txBody>
          <a:bodyPr wrap="square" lIns="0" tIns="0" rIns="0" bIns="0" rtlCol="0" anchor="ctr"/>
          <a:lstStyle/>
          <a:p>
            <a:pPr indent="0" marL="0">
              <a:buNone/>
            </a:pPr>
            <a:r>
              <a:rPr lang="en-US" sz="3600" dirty="0">
                <a:solidFill>
                  <a:srgbClr val="FFFFFF"/>
                </a:solidFill>
                <a:latin typeface="Impact" pitchFamily="34" charset="0"/>
                <a:ea typeface="Impact" pitchFamily="34" charset="-122"/>
                <a:cs typeface="Impact" pitchFamily="34" charset="-120"/>
              </a:rPr>
              <a:t>FAIRNESS</a:t>
            </a:r>
            <a:endParaRPr lang="en-US" sz="3600" dirty="0"/>
          </a:p>
        </p:txBody>
      </p:sp>
      <p:sp>
        <p:nvSpPr>
          <p:cNvPr id="4" name="Text 2"/>
          <p:cNvSpPr txBox="1"/>
          <p:nvPr/>
        </p:nvSpPr>
        <p:spPr>
          <a:xfrm>
            <a:off x="2697480" y="3310128"/>
            <a:ext cx="5120640" cy="731520"/>
          </a:xfrm>
          <a:prstGeom prst="rect">
            <a:avLst/>
          </a:prstGeom>
          <a:noFill/>
          <a:ln/>
        </p:spPr>
        <p:txBody>
          <a:bodyPr wrap="square" lIns="0" tIns="0" rIns="0" bIns="0" rtlCol="0" anchor="ctr"/>
          <a:lstStyle/>
          <a:p>
            <a:pPr indent="0" marL="0">
              <a:buNone/>
            </a:pPr>
            <a:r>
              <a:rPr lang="en-US" sz="1400" dirty="0">
                <a:solidFill>
                  <a:srgbClr val="C9CFF5"/>
                </a:solidFill>
                <a:latin typeface="Trebuchet MS" pitchFamily="34" charset="0"/>
                <a:ea typeface="Trebuchet MS" pitchFamily="34" charset="-122"/>
                <a:cs typeface="Trebuchet MS" pitchFamily="34" charset="-120"/>
              </a:rPr>
              <a:t>Who gets recommended, and does the engine amplify what users do?</a:t>
            </a:r>
            <a:endParaRPr lang="en-US" sz="1400" dirty="0"/>
          </a:p>
        </p:txBody>
      </p:sp>
      <p:sp>
        <p:nvSpPr>
          <p:cNvPr id="5" name="Text 3"/>
          <p:cNvSpPr txBox="1"/>
          <p:nvPr/>
        </p:nvSpPr>
        <p:spPr>
          <a:xfrm>
            <a:off x="7863840" y="1344168"/>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01   THE PROBLEM</a:t>
            </a:r>
            <a:endParaRPr lang="en-US" sz="1300" dirty="0"/>
          </a:p>
        </p:txBody>
      </p:sp>
      <p:sp>
        <p:nvSpPr>
          <p:cNvPr id="6" name="Text 4"/>
          <p:cNvSpPr txBox="1"/>
          <p:nvPr/>
        </p:nvSpPr>
        <p:spPr>
          <a:xfrm>
            <a:off x="7863840" y="1911096"/>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02   DATA AND METHOD</a:t>
            </a:r>
            <a:endParaRPr lang="en-US" sz="1300" dirty="0"/>
          </a:p>
        </p:txBody>
      </p:sp>
      <p:sp>
        <p:nvSpPr>
          <p:cNvPr id="7" name="Text 5"/>
          <p:cNvSpPr txBox="1"/>
          <p:nvPr/>
        </p:nvSpPr>
        <p:spPr>
          <a:xfrm>
            <a:off x="7863840" y="2478024"/>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03   PERFORMANCE</a:t>
            </a:r>
            <a:endParaRPr lang="en-US" sz="1300" dirty="0"/>
          </a:p>
        </p:txBody>
      </p:sp>
      <p:sp>
        <p:nvSpPr>
          <p:cNvPr id="8" name="Text 6"/>
          <p:cNvSpPr txBox="1"/>
          <p:nvPr/>
        </p:nvSpPr>
        <p:spPr>
          <a:xfrm>
            <a:off x="7863840" y="3044952"/>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04   INTERPRETABILITY</a:t>
            </a:r>
            <a:endParaRPr lang="en-US" sz="1300" dirty="0"/>
          </a:p>
        </p:txBody>
      </p:sp>
      <p:sp>
        <p:nvSpPr>
          <p:cNvPr id="9" name="Text 7"/>
          <p:cNvSpPr txBox="1"/>
          <p:nvPr/>
        </p:nvSpPr>
        <p:spPr>
          <a:xfrm>
            <a:off x="7863840" y="3611880"/>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05   STABILITY</a:t>
            </a:r>
            <a:endParaRPr lang="en-US" sz="1300" dirty="0"/>
          </a:p>
        </p:txBody>
      </p:sp>
      <p:sp>
        <p:nvSpPr>
          <p:cNvPr id="10" name="Shape 8"/>
          <p:cNvSpPr/>
          <p:nvPr/>
        </p:nvSpPr>
        <p:spPr>
          <a:xfrm>
            <a:off x="7635240" y="4178808"/>
            <a:ext cx="3913632" cy="475488"/>
          </a:xfrm>
          <a:prstGeom prst="roundRect">
            <a:avLst>
              <a:gd name="adj" fmla="val 15385"/>
            </a:avLst>
          </a:prstGeom>
          <a:solidFill>
            <a:srgbClr val="FFD709"/>
          </a:solidFill>
          <a:ln w="12700">
            <a:solidFill>
              <a:srgbClr val="FFD709"/>
            </a:solidFill>
            <a:prstDash val="solid"/>
          </a:ln>
        </p:spPr>
      </p:sp>
      <p:sp>
        <p:nvSpPr>
          <p:cNvPr id="11" name="Text 9"/>
          <p:cNvSpPr txBox="1"/>
          <p:nvPr/>
        </p:nvSpPr>
        <p:spPr>
          <a:xfrm>
            <a:off x="7863840" y="4178808"/>
            <a:ext cx="3657600" cy="475488"/>
          </a:xfrm>
          <a:prstGeom prst="rect">
            <a:avLst/>
          </a:prstGeom>
          <a:noFill/>
          <a:ln/>
        </p:spPr>
        <p:txBody>
          <a:bodyPr wrap="square" lIns="0" tIns="0" rIns="0" bIns="0" rtlCol="0" anchor="ctr"/>
          <a:lstStyle/>
          <a:p>
            <a:pPr indent="0" marL="0">
              <a:buNone/>
            </a:pPr>
            <a:r>
              <a:rPr lang="en-US" sz="1300" b="1" dirty="0">
                <a:solidFill>
                  <a:srgbClr val="101014"/>
                </a:solidFill>
                <a:latin typeface="Trebuchet MS" pitchFamily="34" charset="0"/>
                <a:ea typeface="Trebuchet MS" pitchFamily="34" charset="-122"/>
                <a:cs typeface="Trebuchet MS" pitchFamily="34" charset="-120"/>
              </a:rPr>
              <a:t>06   FAIRNESS</a:t>
            </a:r>
            <a:endParaRPr lang="en-US" sz="1300" dirty="0"/>
          </a:p>
        </p:txBody>
      </p:sp>
      <p:sp>
        <p:nvSpPr>
          <p:cNvPr id="12" name="Text 10"/>
          <p:cNvSpPr txBox="1"/>
          <p:nvPr/>
        </p:nvSpPr>
        <p:spPr>
          <a:xfrm>
            <a:off x="7863840" y="4745736"/>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07   RECOMMENDATION</a:t>
            </a:r>
            <a:endParaRPr lang="en-US" sz="1300" dirty="0"/>
          </a:p>
        </p:txBody>
      </p:sp>
      <p:pic>
        <p:nvPicPr>
          <p:cNvPr id="13" name="Image 0" descr="/home/claude/isaf-group-rito-mitsouka/assets/logo/icon_transparent.png">    </p:cNvPr>
          <p:cNvPicPr>
            <a:picLocks noChangeAspect="1"/>
          </p:cNvPicPr>
          <p:nvPr/>
        </p:nvPicPr>
        <p:blipFill>
          <a:blip r:embed="rId1"/>
          <a:stretch>
            <a:fillRect/>
          </a:stretch>
        </p:blipFill>
        <p:spPr>
          <a:xfrm>
            <a:off x="10771632" y="6035040"/>
            <a:ext cx="777240" cy="32004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457200"/>
            <a:ext cx="9994392" cy="512064"/>
          </a:xfrm>
          <a:prstGeom prst="rect">
            <a:avLst/>
          </a:prstGeom>
          <a:noFill/>
          <a:ln/>
        </p:spPr>
        <p:txBody>
          <a:bodyPr wrap="square" lIns="0" tIns="0" rIns="0" bIns="0" rtlCol="0" anchor="ctr"/>
          <a:lstStyle/>
          <a:p>
            <a:pPr indent="0" marL="0">
              <a:buNone/>
            </a:pPr>
            <a:r>
              <a:rPr lang="en-US" sz="2600" dirty="0">
                <a:solidFill>
                  <a:srgbClr val="1E33C8"/>
                </a:solidFill>
                <a:latin typeface="Impact" pitchFamily="34" charset="0"/>
                <a:ea typeface="Impact" pitchFamily="34" charset="-122"/>
                <a:cs typeface="Impact" pitchFamily="34" charset="-120"/>
              </a:rPr>
              <a:t>PREFERENCE IS THEIRS, AMPLIFICATION IS THE ENGINE</a:t>
            </a:r>
            <a:endParaRPr lang="en-US" sz="2600" dirty="0"/>
          </a:p>
        </p:txBody>
      </p:sp>
      <p:pic>
        <p:nvPicPr>
          <p:cNvPr id="3" name="Image 0" descr="/home/claude/isaf-group-rito-mitsouka/assets/logo/icon_transparent.png">    </p:cNvPr>
          <p:cNvPicPr>
            <a:picLocks noChangeAspect="1"/>
          </p:cNvPicPr>
          <p:nvPr/>
        </p:nvPicPr>
        <p:blipFill>
          <a:blip r:embed="rId1"/>
          <a:stretch>
            <a:fillRect/>
          </a:stretch>
        </p:blipFill>
        <p:spPr>
          <a:xfrm>
            <a:off x="10771632" y="411480"/>
            <a:ext cx="777240" cy="320040"/>
          </a:xfrm>
          <a:prstGeom prst="rect">
            <a:avLst/>
          </a:prstGeom>
        </p:spPr>
      </p:pic>
      <p:sp>
        <p:nvSpPr>
          <p:cNvPr id="4" name="Text 1"/>
          <p:cNvSpPr txBox="1"/>
          <p:nvPr/>
        </p:nvSpPr>
        <p:spPr>
          <a:xfrm>
            <a:off x="640080" y="969264"/>
            <a:ext cx="10908792" cy="365760"/>
          </a:xfrm>
          <a:prstGeom prst="rect">
            <a:avLst/>
          </a:prstGeom>
          <a:noFill/>
          <a:ln/>
        </p:spPr>
        <p:txBody>
          <a:bodyPr wrap="square" lIns="0" tIns="0" rIns="0" bIns="0" rtlCol="0" anchor="ctr"/>
          <a:lstStyle/>
          <a:p>
            <a:pPr indent="0" marL="0">
              <a:buNone/>
            </a:pPr>
            <a:r>
              <a:rPr lang="en-US" sz="1500" dirty="0">
                <a:solidFill>
                  <a:srgbClr val="6B6F80"/>
                </a:solidFill>
                <a:latin typeface="Trebuchet MS" pitchFamily="34" charset="0"/>
                <a:ea typeface="Trebuchet MS" pitchFamily="34" charset="-122"/>
                <a:cs typeface="Trebuchet MS" pitchFamily="34" charset="-120"/>
              </a:rPr>
              <a:t>Is the engine fair to every ethnic group?</a:t>
            </a:r>
            <a:endParaRPr lang="en-US" sz="1500" dirty="0"/>
          </a:p>
        </p:txBody>
      </p:sp>
      <p:sp>
        <p:nvSpPr>
          <p:cNvPr id="5" name="Shape 2"/>
          <p:cNvSpPr/>
          <p:nvPr/>
        </p:nvSpPr>
        <p:spPr>
          <a:xfrm>
            <a:off x="640080" y="5760720"/>
            <a:ext cx="10908792" cy="731520"/>
          </a:xfrm>
          <a:prstGeom prst="roundRect">
            <a:avLst>
              <a:gd name="adj" fmla="val 15000"/>
            </a:avLst>
          </a:prstGeom>
          <a:solidFill>
            <a:srgbClr val="FFD709"/>
          </a:solidFill>
          <a:ln w="12700">
            <a:solidFill>
              <a:srgbClr val="FFD709"/>
            </a:solidFill>
            <a:prstDash val="solid"/>
          </a:ln>
        </p:spPr>
      </p:sp>
      <p:sp>
        <p:nvSpPr>
          <p:cNvPr id="6" name="Text 3"/>
          <p:cNvSpPr txBox="1"/>
          <p:nvPr/>
        </p:nvSpPr>
        <p:spPr>
          <a:xfrm>
            <a:off x="914400" y="5760720"/>
            <a:ext cx="10360152" cy="731520"/>
          </a:xfrm>
          <a:prstGeom prst="rect">
            <a:avLst/>
          </a:prstGeom>
          <a:noFill/>
          <a:ln/>
        </p:spPr>
        <p:txBody>
          <a:bodyPr wrap="square" lIns="0" tIns="0" rIns="0" bIns="0" rtlCol="0" anchor="ctr"/>
          <a:lstStyle/>
          <a:p>
            <a:pPr algn="ctr" indent="0" marL="0">
              <a:buNone/>
            </a:pPr>
            <a:r>
              <a:rPr lang="en-US" sz="1400" b="1" dirty="0">
                <a:solidFill>
                  <a:srgbClr val="101014"/>
                </a:solidFill>
                <a:latin typeface="Trebuchet MS" pitchFamily="34" charset="0"/>
                <a:ea typeface="Trebuchet MS" pitchFamily="34" charset="-122"/>
                <a:cs typeface="Trebuchet MS" pitchFamily="34" charset="-120"/>
              </a:rPr>
              <a:t>4 GAPS OUT OF 6 SURVIVE, AND HIDING ETHNICITY DOES NOT HIDE THE GROUP.</a:t>
            </a:r>
            <a:endParaRPr lang="en-US" sz="1400" dirty="0"/>
          </a:p>
        </p:txBody>
      </p:sp>
      <p:sp>
        <p:nvSpPr>
          <p:cNvPr id="7" name="Shape 4"/>
          <p:cNvSpPr/>
          <p:nvPr/>
        </p:nvSpPr>
        <p:spPr>
          <a:xfrm>
            <a:off x="640080" y="1508760"/>
            <a:ext cx="5852160" cy="3566160"/>
          </a:xfrm>
          <a:prstGeom prst="roundRect">
            <a:avLst>
              <a:gd name="adj" fmla="val 2051"/>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8" name="Text 5"/>
          <p:cNvSpPr txBox="1"/>
          <p:nvPr/>
        </p:nvSpPr>
        <p:spPr>
          <a:xfrm>
            <a:off x="914400" y="1691640"/>
            <a:ext cx="5303520" cy="320040"/>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What we measured</a:t>
            </a:r>
            <a:endParaRPr lang="en-US" sz="1400" dirty="0"/>
          </a:p>
        </p:txBody>
      </p:sp>
      <p:sp>
        <p:nvSpPr>
          <p:cNvPr id="9" name="Text 6"/>
          <p:cNvSpPr txBox="1"/>
          <p:nvPr/>
        </p:nvSpPr>
        <p:spPr>
          <a:xfrm>
            <a:off x="914400" y="2103120"/>
            <a:ext cx="5303520" cy="29260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Pairs with an Asian participant: 5.8% of what the engine shows, 11.3% for the others.</a:t>
            </a:r>
            <a:endParaRPr lang="en-US" sz="1300" dirty="0"/>
          </a:p>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Of the pairs that did match, the engine surfaces 10.5% of the Asian ones, 20.1% of the others.</a:t>
            </a:r>
            <a:endParaRPr lang="en-US" sz="1300" dirty="0"/>
          </a:p>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4 of the 6 gaps survive age, goals and interests.</a:t>
            </a:r>
            <a:endParaRPr lang="en-US" sz="1300" dirty="0"/>
          </a:p>
          <a:p>
            <a:pPr marL="342900" indent="-342900">
              <a:spcAft>
                <a:spcPts val="1000"/>
              </a:spcAft>
              <a:buSzPct val="100000"/>
              <a:buChar char="■"/>
            </a:pPr>
            <a:r>
              <a:rPr lang="en-US" sz="1300" dirty="0">
                <a:solidFill>
                  <a:srgbClr val="101014"/>
                </a:solidFill>
                <a:latin typeface="Trebuchet MS" pitchFamily="34" charset="0"/>
                <a:ea typeface="Trebuchet MS" pitchFamily="34" charset="-122"/>
                <a:cs typeface="Trebuchet MS" pitchFamily="34" charset="-120"/>
              </a:rPr>
              <a:t>Delete every ethnicity column: a model still finds the group from proxies, 0.65 AUC.</a:t>
            </a:r>
            <a:endParaRPr lang="en-US" sz="1300" dirty="0"/>
          </a:p>
        </p:txBody>
      </p:sp>
      <p:sp>
        <p:nvSpPr>
          <p:cNvPr id="10" name="Shape 7"/>
          <p:cNvSpPr/>
          <p:nvPr/>
        </p:nvSpPr>
        <p:spPr>
          <a:xfrm>
            <a:off x="6858000" y="1508760"/>
            <a:ext cx="4690872" cy="3566160"/>
          </a:xfrm>
          <a:prstGeom prst="roundRect">
            <a:avLst>
              <a:gd name="adj" fmla="val 2051"/>
            </a:avLst>
          </a:prstGeom>
          <a:solidFill>
            <a:srgbClr val="FFD709"/>
          </a:solidFill>
          <a:ln w="12700">
            <a:solidFill>
              <a:srgbClr val="FFD709"/>
            </a:solidFill>
            <a:prstDash val="solid"/>
          </a:ln>
          <a:effectLst>
            <a:outerShdw sx="100000" sy="100000" kx="0" ky="0" algn="bl" rotWithShape="0" blurRad="76200" dist="381" dir="5400000">
              <a:srgbClr val="9096B8">
                <a:alpha val="22000"/>
              </a:srgbClr>
            </a:outerShdw>
          </a:effectLst>
        </p:spPr>
      </p:sp>
      <p:sp>
        <p:nvSpPr>
          <p:cNvPr id="11" name="Text 8"/>
          <p:cNvSpPr txBox="1"/>
          <p:nvPr/>
        </p:nvSpPr>
        <p:spPr>
          <a:xfrm>
            <a:off x="7178040" y="1508760"/>
            <a:ext cx="4050792" cy="3566160"/>
          </a:xfrm>
          <a:prstGeom prst="rect">
            <a:avLst/>
          </a:prstGeom>
          <a:noFill/>
          <a:ln/>
        </p:spPr>
        <p:txBody>
          <a:bodyPr wrap="square" lIns="0" tIns="0" rIns="0" bIns="0" rtlCol="0" anchor="ctr"/>
          <a:lstStyle/>
          <a:p>
            <a:pPr indent="0" marL="0">
              <a:lnSpc>
                <a:spcPct val="115000"/>
              </a:lnSpc>
              <a:buNone/>
            </a:pPr>
            <a:r>
              <a:rPr lang="en-US" sz="2200" dirty="0">
                <a:solidFill>
                  <a:srgbClr val="101014"/>
                </a:solidFill>
                <a:latin typeface="Impact" pitchFamily="34" charset="0"/>
                <a:ea typeface="Impact" pitchFamily="34" charset="-122"/>
                <a:cs typeface="Impact" pitchFamily="34" charset="-120"/>
              </a:rPr>
              <a:t>THE QUESTION IS NOT WHETHER USERS HAVE PREFERENCES.</a:t>
            </a:r>
            <a:endParaRPr lang="en-US" sz="2200" dirty="0"/>
          </a:p>
          <a:p>
            <a:pPr indent="0" marL="0">
              <a:lnSpc>
                <a:spcPct val="115000"/>
              </a:lnSpc>
              <a:buNone/>
            </a:pPr>
            <a:endParaRPr lang="en-US" sz="2200" dirty="0"/>
          </a:p>
          <a:p>
            <a:pPr indent="0" marL="0">
              <a:lnSpc>
                <a:spcPct val="115000"/>
              </a:lnSpc>
              <a:buNone/>
            </a:pPr>
            <a:r>
              <a:rPr lang="en-US" sz="2200" dirty="0">
                <a:solidFill>
                  <a:srgbClr val="101014"/>
                </a:solidFill>
                <a:latin typeface="Impact" pitchFamily="34" charset="0"/>
                <a:ea typeface="Impact" pitchFamily="34" charset="-122"/>
                <a:cs typeface="Impact" pitchFamily="34" charset="-120"/>
              </a:rPr>
              <a:t>IT IS WHETHER THE ENGINE AMPLIFIES THEM.</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457200"/>
            <a:ext cx="9994392" cy="512064"/>
          </a:xfrm>
          <a:prstGeom prst="rect">
            <a:avLst/>
          </a:prstGeom>
          <a:noFill/>
          <a:ln/>
        </p:spPr>
        <p:txBody>
          <a:bodyPr wrap="square" lIns="0" tIns="0" rIns="0" bIns="0" rtlCol="0" anchor="ctr"/>
          <a:lstStyle/>
          <a:p>
            <a:pPr indent="0" marL="0">
              <a:buNone/>
            </a:pPr>
            <a:r>
              <a:rPr lang="en-US" sz="2600" dirty="0">
                <a:solidFill>
                  <a:srgbClr val="1E33C8"/>
                </a:solidFill>
                <a:latin typeface="Impact" pitchFamily="34" charset="0"/>
                <a:ea typeface="Impact" pitchFamily="34" charset="-122"/>
                <a:cs typeface="Impact" pitchFamily="34" charset="-120"/>
              </a:rPr>
              <a:t>THE ENGINE GIVES BACK MORE THAN USERS PRODUCED</a:t>
            </a:r>
            <a:endParaRPr lang="en-US" sz="2600" dirty="0"/>
          </a:p>
        </p:txBody>
      </p:sp>
      <p:pic>
        <p:nvPicPr>
          <p:cNvPr id="3" name="Image 0" descr="/home/claude/isaf-group-rito-mitsouka/assets/logo/icon_transparent.png">    </p:cNvPr>
          <p:cNvPicPr>
            <a:picLocks noChangeAspect="1"/>
          </p:cNvPicPr>
          <p:nvPr/>
        </p:nvPicPr>
        <p:blipFill>
          <a:blip r:embed="rId1"/>
          <a:stretch>
            <a:fillRect/>
          </a:stretch>
        </p:blipFill>
        <p:spPr>
          <a:xfrm>
            <a:off x="10771632" y="411480"/>
            <a:ext cx="777240" cy="320040"/>
          </a:xfrm>
          <a:prstGeom prst="rect">
            <a:avLst/>
          </a:prstGeom>
        </p:spPr>
      </p:pic>
      <p:sp>
        <p:nvSpPr>
          <p:cNvPr id="4" name="Text 1"/>
          <p:cNvSpPr txBox="1"/>
          <p:nvPr/>
        </p:nvSpPr>
        <p:spPr>
          <a:xfrm>
            <a:off x="640080" y="969264"/>
            <a:ext cx="10908792" cy="365760"/>
          </a:xfrm>
          <a:prstGeom prst="rect">
            <a:avLst/>
          </a:prstGeom>
          <a:noFill/>
          <a:ln/>
        </p:spPr>
        <p:txBody>
          <a:bodyPr wrap="square" lIns="0" tIns="0" rIns="0" bIns="0" rtlCol="0" anchor="ctr"/>
          <a:lstStyle/>
          <a:p>
            <a:pPr indent="0" marL="0">
              <a:buNone/>
            </a:pPr>
            <a:r>
              <a:rPr lang="en-US" sz="1500" dirty="0">
                <a:solidFill>
                  <a:srgbClr val="6B6F80"/>
                </a:solidFill>
                <a:latin typeface="Trebuchet MS" pitchFamily="34" charset="0"/>
                <a:ea typeface="Trebuchet MS" pitchFamily="34" charset="-122"/>
                <a:cs typeface="Trebuchet MS" pitchFamily="34" charset="-120"/>
              </a:rPr>
              <a:t>Does the shortlist amplify the preference for same background pairs?</a:t>
            </a:r>
            <a:endParaRPr lang="en-US" sz="1500" dirty="0"/>
          </a:p>
        </p:txBody>
      </p:sp>
      <p:sp>
        <p:nvSpPr>
          <p:cNvPr id="5" name="Shape 2"/>
          <p:cNvSpPr/>
          <p:nvPr/>
        </p:nvSpPr>
        <p:spPr>
          <a:xfrm>
            <a:off x="640080" y="5760720"/>
            <a:ext cx="10908792" cy="731520"/>
          </a:xfrm>
          <a:prstGeom prst="roundRect">
            <a:avLst>
              <a:gd name="adj" fmla="val 15000"/>
            </a:avLst>
          </a:prstGeom>
          <a:solidFill>
            <a:srgbClr val="FFD709"/>
          </a:solidFill>
          <a:ln w="12700">
            <a:solidFill>
              <a:srgbClr val="FFD709"/>
            </a:solidFill>
            <a:prstDash val="solid"/>
          </a:ln>
        </p:spPr>
      </p:sp>
      <p:sp>
        <p:nvSpPr>
          <p:cNvPr id="6" name="Text 3"/>
          <p:cNvSpPr txBox="1"/>
          <p:nvPr/>
        </p:nvSpPr>
        <p:spPr>
          <a:xfrm>
            <a:off x="914400" y="5760720"/>
            <a:ext cx="10360152" cy="731520"/>
          </a:xfrm>
          <a:prstGeom prst="rect">
            <a:avLst/>
          </a:prstGeom>
          <a:noFill/>
          <a:ln/>
        </p:spPr>
        <p:txBody>
          <a:bodyPr wrap="square" lIns="0" tIns="0" rIns="0" bIns="0" rtlCol="0" anchor="ctr"/>
          <a:lstStyle/>
          <a:p>
            <a:pPr algn="ctr" indent="0" marL="0">
              <a:buNone/>
            </a:pPr>
            <a:r>
              <a:rPr lang="en-US" sz="1400" b="1" dirty="0">
                <a:solidFill>
                  <a:srgbClr val="101014"/>
                </a:solidFill>
                <a:latin typeface="Trebuchet MS" pitchFamily="34" charset="0"/>
                <a:ea typeface="Trebuchet MS" pitchFamily="34" charset="-122"/>
                <a:cs typeface="Trebuchet MS" pitchFamily="34" charset="-120"/>
              </a:rPr>
              <a:t>AMPLIFICATION 1.16. ONLY XGBOOST STAYS AT 1.00.</a:t>
            </a:r>
            <a:endParaRPr lang="en-US" sz="1400" dirty="0"/>
          </a:p>
        </p:txBody>
      </p:sp>
      <p:sp>
        <p:nvSpPr>
          <p:cNvPr id="7" name="Text 4"/>
          <p:cNvSpPr txBox="1"/>
          <p:nvPr/>
        </p:nvSpPr>
        <p:spPr>
          <a:xfrm>
            <a:off x="640080" y="1371600"/>
            <a:ext cx="10908792" cy="274320"/>
          </a:xfrm>
          <a:prstGeom prst="rect">
            <a:avLst/>
          </a:prstGeom>
          <a:noFill/>
          <a:ln/>
        </p:spPr>
        <p:txBody>
          <a:bodyPr wrap="square" lIns="0" tIns="0" rIns="0" bIns="0" rtlCol="0" anchor="ctr"/>
          <a:lstStyle/>
          <a:p>
            <a:pPr indent="0" marL="0">
              <a:buNone/>
            </a:pPr>
            <a:r>
              <a:rPr lang="en-US" sz="1250" b="1" dirty="0">
                <a:solidFill>
                  <a:srgbClr val="101014"/>
                </a:solidFill>
                <a:latin typeface="Trebuchet MS" pitchFamily="34" charset="0"/>
                <a:ea typeface="Trebuchet MS" pitchFamily="34" charset="-122"/>
                <a:cs typeface="Trebuchet MS" pitchFamily="34" charset="-120"/>
              </a:rPr>
              <a:t>Amplification  =  what the engine shows  ÷  what users actually matched. Above 1, it gives back more.</a:t>
            </a:r>
            <a:endParaRPr lang="en-US" sz="1250" dirty="0"/>
          </a:p>
        </p:txBody>
      </p:sp>
      <p:pic>
        <p:nvPicPr>
          <p:cNvPr id="8" name="Image 1" descr="/mnt/user-data/uploads/Classes/02 - Interpretability, Stability &amp; Algorithmic fairness/02 - Project/isaf-group-rito-mitsouka/reports/figures/06_amplification.png">    </p:cNvPr>
          <p:cNvPicPr>
            <a:picLocks noChangeAspect="1"/>
          </p:cNvPicPr>
          <p:nvPr/>
        </p:nvPicPr>
        <p:blipFill>
          <a:blip r:embed="rId2"/>
          <a:stretch>
            <a:fillRect/>
          </a:stretch>
        </p:blipFill>
        <p:spPr>
          <a:xfrm>
            <a:off x="640080" y="1783080"/>
            <a:ext cx="6766560" cy="2212848"/>
          </a:xfrm>
          <a:prstGeom prst="rect">
            <a:avLst/>
          </a:prstGeom>
        </p:spPr>
      </p:pic>
      <p:sp>
        <p:nvSpPr>
          <p:cNvPr id="9" name="Text 5"/>
          <p:cNvSpPr txBox="1"/>
          <p:nvPr/>
        </p:nvSpPr>
        <p:spPr>
          <a:xfrm>
            <a:off x="640080" y="4114800"/>
            <a:ext cx="6766560" cy="1371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01014"/>
                </a:solidFill>
                <a:latin typeface="Trebuchet MS" pitchFamily="34" charset="0"/>
                <a:ea typeface="Trebuchet MS" pitchFamily="34" charset="-122"/>
                <a:cs typeface="Trebuchet MS" pitchFamily="34" charset="-120"/>
              </a:rPr>
              <a:t>Users matched their own background 41% of the time. Our shortlist shows 47.5%.</a:t>
            </a:r>
            <a:endParaRPr lang="en-US" sz="1300" dirty="0"/>
          </a:p>
          <a:p>
            <a:pPr marL="342900" indent="-342900">
              <a:spcAft>
                <a:spcPts val="800"/>
              </a:spcAft>
              <a:buSzPct val="100000"/>
              <a:buChar char="■"/>
            </a:pPr>
            <a:r>
              <a:rPr lang="en-US" sz="1300" dirty="0">
                <a:solidFill>
                  <a:srgbClr val="101014"/>
                </a:solidFill>
                <a:latin typeface="Trebuchet MS" pitchFamily="34" charset="0"/>
                <a:ea typeface="Trebuchet MS" pitchFamily="34" charset="-122"/>
                <a:cs typeface="Trebuchet MS" pitchFamily="34" charset="-120"/>
              </a:rPr>
              <a:t>The engine did not create the preference, it gave back more of it.</a:t>
            </a:r>
            <a:endParaRPr lang="en-US" sz="1300" dirty="0"/>
          </a:p>
          <a:p>
            <a:pPr marL="342900" indent="-342900">
              <a:spcAft>
                <a:spcPts val="800"/>
              </a:spcAft>
              <a:buSzPct val="100000"/>
              <a:buChar char="■"/>
            </a:pPr>
            <a:r>
              <a:rPr lang="en-US" sz="1300" dirty="0">
                <a:solidFill>
                  <a:srgbClr val="101014"/>
                </a:solidFill>
                <a:latin typeface="Trebuchet MS" pitchFamily="34" charset="0"/>
                <a:ea typeface="Trebuchet MS" pitchFamily="34" charset="-122"/>
                <a:cs typeface="Trebuchet MS" pitchFamily="34" charset="-120"/>
              </a:rPr>
              <a:t>XGBoost 1.01, lasso 1.16, TabPFN 1.27: only XGBoost covers 1.00.</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26680" y="1783080"/>
          <a:ext cx="3822192" cy="914400"/>
        </p:xfrm>
        <a:graphic>
          <a:graphicData uri="http://schemas.openxmlformats.org/drawingml/2006/table">
            <a:tbl>
              <a:tblPr/>
              <a:tblGrid>
                <a:gridCol w="1463040"/>
                <a:gridCol w="1261872"/>
                <a:gridCol w="1097280"/>
              </a:tblGrid>
              <a:tr h="457200">
                <a:tc>
                  <a:txBody>
                    <a:bodyPr/>
                    <a:lstStyle/>
                    <a:p>
                      <a:pPr algn="ctr" indent="0" marL="0">
                        <a:buNone/>
                      </a:pPr>
                      <a:r>
                        <a:rPr lang="en-US" sz="1150" b="1" dirty="0">
                          <a:solidFill>
                            <a:srgbClr val="FFFFFF"/>
                          </a:solidFill>
                          <a:latin typeface="Trebuchet MS" pitchFamily="34" charset="0"/>
                          <a:ea typeface="Trebuchet MS" pitchFamily="34" charset="-122"/>
                          <a:cs typeface="Trebuchet MS" pitchFamily="34" charset="-120"/>
                        </a:rPr>
                        <a:t>Variant</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c>
                  <a:txBody>
                    <a:bodyPr/>
                    <a:lstStyle/>
                    <a:p>
                      <a:pPr algn="ctr" indent="0" marL="0">
                        <a:buNone/>
                      </a:pPr>
                      <a:r>
                        <a:rPr lang="en-US" sz="1150" b="1" dirty="0">
                          <a:solidFill>
                            <a:srgbClr val="FFFFFF"/>
                          </a:solidFill>
                          <a:latin typeface="Trebuchet MS" pitchFamily="34" charset="0"/>
                          <a:ea typeface="Trebuchet MS" pitchFamily="34" charset="-122"/>
                          <a:cs typeface="Trebuchet MS" pitchFamily="34" charset="-120"/>
                        </a:rPr>
                        <a:t>Amplification</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c>
                  <a:txBody>
                    <a:bodyPr/>
                    <a:lstStyle/>
                    <a:p>
                      <a:pPr algn="ctr" indent="0" marL="0">
                        <a:buNone/>
                      </a:pPr>
                      <a:r>
                        <a:rPr lang="en-US" sz="1150" b="1" dirty="0">
                          <a:solidFill>
                            <a:srgbClr val="FFFFFF"/>
                          </a:solidFill>
                          <a:latin typeface="Trebuchet MS" pitchFamily="34" charset="0"/>
                          <a:ea typeface="Trebuchet MS" pitchFamily="34" charset="-122"/>
                          <a:cs typeface="Trebuchet MS" pitchFamily="34" charset="-120"/>
                        </a:rPr>
                        <a:t>Top decile</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1E33C8"/>
                    </a:solidFill>
                  </a:tcPr>
                </a:tc>
              </a:tr>
              <a:tr h="457200">
                <a:tc>
                  <a:txBody>
                    <a:bodyPr/>
                    <a:lstStyle/>
                    <a:p>
                      <a:pPr algn="l" indent="0" marL="0">
                        <a:buNone/>
                      </a:pPr>
                      <a:r>
                        <a:rPr lang="en-US" sz="1150" dirty="0">
                          <a:solidFill>
                            <a:srgbClr val="101014"/>
                          </a:solidFill>
                          <a:latin typeface="Trebuchet MS" pitchFamily="34" charset="0"/>
                          <a:ea typeface="Trebuchet MS" pitchFamily="34" charset="-122"/>
                          <a:cs typeface="Trebuchet MS" pitchFamily="34" charset="-120"/>
                        </a:rPr>
                        <a:t>Full model</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01014"/>
                          </a:solidFill>
                          <a:latin typeface="Trebuchet MS" pitchFamily="34" charset="0"/>
                          <a:ea typeface="Trebuchet MS" pitchFamily="34" charset="-122"/>
                          <a:cs typeface="Trebuchet MS" pitchFamily="34" charset="-120"/>
                        </a:rPr>
                        <a:t>1.16</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01014"/>
                          </a:solidFill>
                          <a:latin typeface="Trebuchet MS" pitchFamily="34" charset="0"/>
                          <a:ea typeface="Trebuchet MS" pitchFamily="34" charset="-122"/>
                          <a:cs typeface="Trebuchet MS" pitchFamily="34" charset="-120"/>
                        </a:rPr>
                        <a:t>29.8%</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101014"/>
                          </a:solidFill>
                          <a:latin typeface="Trebuchet MS" pitchFamily="34" charset="0"/>
                          <a:ea typeface="Trebuchet MS" pitchFamily="34" charset="-122"/>
                          <a:cs typeface="Trebuchet MS" pitchFamily="34" charset="-120"/>
                        </a:rPr>
                        <a:t>Without ethnicity</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150" dirty="0">
                          <a:solidFill>
                            <a:srgbClr val="101014"/>
                          </a:solidFill>
                          <a:latin typeface="Trebuchet MS" pitchFamily="34" charset="0"/>
                          <a:ea typeface="Trebuchet MS" pitchFamily="34" charset="-122"/>
                          <a:cs typeface="Trebuchet MS" pitchFamily="34" charset="-120"/>
                        </a:rPr>
                        <a:t>1.35</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150" dirty="0">
                          <a:solidFill>
                            <a:srgbClr val="101014"/>
                          </a:solidFill>
                          <a:latin typeface="Trebuchet MS" pitchFamily="34" charset="0"/>
                          <a:ea typeface="Trebuchet MS" pitchFamily="34" charset="-122"/>
                          <a:cs typeface="Trebuchet MS" pitchFamily="34" charset="-120"/>
                        </a:rPr>
                        <a:t>25.1%</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r>
              <a:tr h="457200">
                <a:tc>
                  <a:txBody>
                    <a:bodyPr/>
                    <a:lstStyle/>
                    <a:p>
                      <a:pPr algn="l" indent="0" marL="0">
                        <a:buNone/>
                      </a:pPr>
                      <a:r>
                        <a:rPr lang="en-US" sz="1150" dirty="0">
                          <a:solidFill>
                            <a:srgbClr val="101014"/>
                          </a:solidFill>
                          <a:latin typeface="Trebuchet MS" pitchFamily="34" charset="0"/>
                          <a:ea typeface="Trebuchet MS" pitchFamily="34" charset="-122"/>
                          <a:cs typeface="Trebuchet MS" pitchFamily="34" charset="-120"/>
                        </a:rPr>
                        <a:t>Ethnicity neutralised</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01014"/>
                          </a:solidFill>
                          <a:latin typeface="Trebuchet MS" pitchFamily="34" charset="0"/>
                          <a:ea typeface="Trebuchet MS" pitchFamily="34" charset="-122"/>
                          <a:cs typeface="Trebuchet MS" pitchFamily="34" charset="-120"/>
                        </a:rPr>
                        <a:t>1.59</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01014"/>
                          </a:solidFill>
                          <a:latin typeface="Trebuchet MS" pitchFamily="34" charset="0"/>
                          <a:ea typeface="Trebuchet MS" pitchFamily="34" charset="-122"/>
                          <a:cs typeface="Trebuchet MS" pitchFamily="34" charset="-120"/>
                        </a:rPr>
                        <a:t>24.6%</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101014"/>
                          </a:solidFill>
                          <a:latin typeface="Trebuchet MS" pitchFamily="34" charset="0"/>
                          <a:ea typeface="Trebuchet MS" pitchFamily="34" charset="-122"/>
                          <a:cs typeface="Trebuchet MS" pitchFamily="34" charset="-120"/>
                        </a:rPr>
                        <a:t>Full unawareness</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150" dirty="0">
                          <a:solidFill>
                            <a:srgbClr val="101014"/>
                          </a:solidFill>
                          <a:latin typeface="Trebuchet MS" pitchFamily="34" charset="0"/>
                          <a:ea typeface="Trebuchet MS" pitchFamily="34" charset="-122"/>
                          <a:cs typeface="Trebuchet MS" pitchFamily="34" charset="-120"/>
                        </a:rPr>
                        <a:t>1.07</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c>
                  <a:txBody>
                    <a:bodyPr/>
                    <a:lstStyle/>
                    <a:p>
                      <a:pPr algn="ctr" indent="0" marL="0">
                        <a:buNone/>
                      </a:pPr>
                      <a:r>
                        <a:rPr lang="en-US" sz="1150" dirty="0">
                          <a:solidFill>
                            <a:srgbClr val="101014"/>
                          </a:solidFill>
                          <a:latin typeface="Trebuchet MS" pitchFamily="34" charset="0"/>
                          <a:ea typeface="Trebuchet MS" pitchFamily="34" charset="-122"/>
                          <a:cs typeface="Trebuchet MS" pitchFamily="34" charset="-120"/>
                        </a:rPr>
                        <a:t>24.8%</a:t>
                      </a:r>
                      <a:endParaRPr lang="en-US" sz="1150" dirty="0">
                        <a:latin typeface="Trebuchet MS" charset="0"/>
                        <a:ea typeface="Trebuchet MS" charset="0"/>
                        <a:cs typeface="Trebuchet MS" charset="0"/>
                      </a:endParaRPr>
                    </a:p>
                  </a:txBody>
                  <a:tcPr marL="76200" marR="76200" marT="25400" marB="25400" anchor="ctr">
                    <a:lnL w="12700" cap="flat" cmpd="sng" algn="ctr">
                      <a:solidFill>
                        <a:srgbClr val="D8DAE8"/>
                      </a:solidFill>
                      <a:prstDash val="solid"/>
                      <a:round/>
                      <a:headEnd type="none" w="med" len="med"/>
                      <a:tailEnd type="none" w="med" len="med"/>
                    </a:lnL>
                    <a:lnR w="12700" cap="flat" cmpd="sng" algn="ctr">
                      <a:solidFill>
                        <a:srgbClr val="D8DAE8"/>
                      </a:solidFill>
                      <a:prstDash val="solid"/>
                      <a:round/>
                      <a:headEnd type="none" w="med" len="med"/>
                      <a:tailEnd type="none" w="med" len="med"/>
                    </a:lnR>
                    <a:lnT w="12700" cap="flat" cmpd="sng" algn="ctr">
                      <a:solidFill>
                        <a:srgbClr val="D8DAE8"/>
                      </a:solidFill>
                      <a:prstDash val="solid"/>
                      <a:round/>
                      <a:headEnd type="none" w="med" len="med"/>
                      <a:tailEnd type="none" w="med" len="med"/>
                    </a:lnT>
                    <a:lnB w="12700" cap="flat" cmpd="sng" algn="ctr">
                      <a:solidFill>
                        <a:srgbClr val="D8DAE8"/>
                      </a:solidFill>
                      <a:prstDash val="solid"/>
                      <a:round/>
                      <a:headEnd type="none" w="med" len="med"/>
                      <a:tailEnd type="none" w="med" len="med"/>
                    </a:lnB>
                    <a:solidFill>
                      <a:srgbClr val="F2F3FB"/>
                    </a:solidFill>
                  </a:tcPr>
                </a:tc>
              </a:tr>
            </a:tbl>
          </a:graphicData>
        </a:graphic>
      </p:graphicFrame>
      <p:sp>
        <p:nvSpPr>
          <p:cNvPr id="11" name="Shape 6"/>
          <p:cNvSpPr/>
          <p:nvPr/>
        </p:nvSpPr>
        <p:spPr>
          <a:xfrm>
            <a:off x="7726680" y="4114800"/>
            <a:ext cx="3822192" cy="1371600"/>
          </a:xfrm>
          <a:prstGeom prst="roundRect">
            <a:avLst>
              <a:gd name="adj" fmla="val 5333"/>
            </a:avLst>
          </a:prstGeom>
          <a:solidFill>
            <a:srgbClr val="F2F3FB"/>
          </a:solidFill>
          <a:ln w="12700">
            <a:solidFill>
              <a:srgbClr val="F2F3FB"/>
            </a:solidFill>
            <a:prstDash val="solid"/>
          </a:ln>
          <a:effectLst>
            <a:outerShdw sx="100000" sy="100000" kx="0" ky="0" algn="bl" rotWithShape="0" blurRad="76200" dist="381" dir="5400000">
              <a:srgbClr val="9096B8">
                <a:alpha val="22000"/>
              </a:srgbClr>
            </a:outerShdw>
          </a:effectLst>
        </p:spPr>
      </p:sp>
      <p:sp>
        <p:nvSpPr>
          <p:cNvPr id="12" name="Text 7"/>
          <p:cNvSpPr txBox="1"/>
          <p:nvPr/>
        </p:nvSpPr>
        <p:spPr>
          <a:xfrm>
            <a:off x="7955280" y="4279392"/>
            <a:ext cx="3364992" cy="10972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01014"/>
                </a:solidFill>
                <a:latin typeface="Trebuchet MS" pitchFamily="34" charset="0"/>
                <a:ea typeface="Trebuchet MS" pitchFamily="34" charset="-122"/>
                <a:cs typeface="Trebuchet MS" pitchFamily="34" charset="-120"/>
              </a:rPr>
              <a:t>Removing ethnicity alone makes it worse: the proxies stay, uncorrected.</a:t>
            </a:r>
            <a:endParaRPr lang="en-US" sz="1150" dirty="0"/>
          </a:p>
          <a:p>
            <a:pPr marL="342900" indent="-342900">
              <a:spcAft>
                <a:spcPts val="600"/>
              </a:spcAft>
              <a:buSzPct val="100000"/>
              <a:buChar char="■"/>
            </a:pPr>
            <a:r>
              <a:rPr lang="en-US" sz="1150" dirty="0">
                <a:solidFill>
                  <a:srgbClr val="101014"/>
                </a:solidFill>
                <a:latin typeface="Trebuchet MS" pitchFamily="34" charset="0"/>
                <a:ea typeface="Trebuchet MS" pitchFamily="34" charset="-122"/>
                <a:cs typeface="Trebuchet MS" pitchFamily="34" charset="-120"/>
              </a:rPr>
              <a:t>A less amplifying policy costs about 50 matches per 1,000 shown.</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33C8"/>
        </a:solidFill>
      </p:bgPr>
    </p:bg>
    <p:spTree>
      <p:nvGrpSpPr>
        <p:cNvPr id="1" name=""/>
        <p:cNvGrpSpPr/>
        <p:nvPr/>
      </p:nvGrpSpPr>
      <p:grpSpPr>
        <a:xfrm>
          <a:off x="0" y="0"/>
          <a:ext cx="0" cy="0"/>
          <a:chOff x="0" y="0"/>
          <a:chExt cx="0" cy="0"/>
        </a:xfrm>
      </p:grpSpPr>
      <p:sp>
        <p:nvSpPr>
          <p:cNvPr id="2" name="Text 0"/>
          <p:cNvSpPr txBox="1"/>
          <p:nvPr/>
        </p:nvSpPr>
        <p:spPr>
          <a:xfrm>
            <a:off x="640080" y="2240280"/>
            <a:ext cx="2011680" cy="1737360"/>
          </a:xfrm>
          <a:prstGeom prst="rect">
            <a:avLst/>
          </a:prstGeom>
          <a:noFill/>
          <a:ln/>
        </p:spPr>
        <p:txBody>
          <a:bodyPr wrap="square" lIns="0" tIns="0" rIns="0" bIns="0" rtlCol="0" anchor="ctr"/>
          <a:lstStyle/>
          <a:p>
            <a:pPr indent="0" marL="0">
              <a:buNone/>
            </a:pPr>
            <a:r>
              <a:rPr lang="en-US" sz="9600" dirty="0">
                <a:solidFill>
                  <a:srgbClr val="FFD709"/>
                </a:solidFill>
                <a:latin typeface="Impact" pitchFamily="34" charset="0"/>
                <a:ea typeface="Impact" pitchFamily="34" charset="-122"/>
                <a:cs typeface="Impact" pitchFamily="34" charset="-120"/>
              </a:rPr>
              <a:t>07</a:t>
            </a:r>
            <a:endParaRPr lang="en-US" sz="9600" dirty="0"/>
          </a:p>
        </p:txBody>
      </p:sp>
      <p:sp>
        <p:nvSpPr>
          <p:cNvPr id="3" name="Text 1"/>
          <p:cNvSpPr txBox="1"/>
          <p:nvPr/>
        </p:nvSpPr>
        <p:spPr>
          <a:xfrm>
            <a:off x="2651760" y="2468880"/>
            <a:ext cx="5120640" cy="822960"/>
          </a:xfrm>
          <a:prstGeom prst="rect">
            <a:avLst/>
          </a:prstGeom>
          <a:noFill/>
          <a:ln/>
        </p:spPr>
        <p:txBody>
          <a:bodyPr wrap="square" lIns="0" tIns="0" rIns="0" bIns="0" rtlCol="0" anchor="ctr"/>
          <a:lstStyle/>
          <a:p>
            <a:pPr indent="0" marL="0">
              <a:buNone/>
            </a:pPr>
            <a:r>
              <a:rPr lang="en-US" sz="3600" dirty="0">
                <a:solidFill>
                  <a:srgbClr val="FFFFFF"/>
                </a:solidFill>
                <a:latin typeface="Impact" pitchFamily="34" charset="0"/>
                <a:ea typeface="Impact" pitchFamily="34" charset="-122"/>
                <a:cs typeface="Impact" pitchFamily="34" charset="-120"/>
              </a:rPr>
              <a:t>RECOMMENDATION</a:t>
            </a:r>
            <a:endParaRPr lang="en-US" sz="3600" dirty="0"/>
          </a:p>
        </p:txBody>
      </p:sp>
      <p:sp>
        <p:nvSpPr>
          <p:cNvPr id="4" name="Text 2"/>
          <p:cNvSpPr txBox="1"/>
          <p:nvPr/>
        </p:nvSpPr>
        <p:spPr>
          <a:xfrm>
            <a:off x="2697480" y="3310128"/>
            <a:ext cx="5120640" cy="731520"/>
          </a:xfrm>
          <a:prstGeom prst="rect">
            <a:avLst/>
          </a:prstGeom>
          <a:noFill/>
          <a:ln/>
        </p:spPr>
        <p:txBody>
          <a:bodyPr wrap="square" lIns="0" tIns="0" rIns="0" bIns="0" rtlCol="0" anchor="ctr"/>
          <a:lstStyle/>
          <a:p>
            <a:pPr indent="0" marL="0">
              <a:buNone/>
            </a:pPr>
            <a:r>
              <a:rPr lang="en-US" sz="1400" dirty="0">
                <a:solidFill>
                  <a:srgbClr val="C9CFF5"/>
                </a:solidFill>
                <a:latin typeface="Trebuchet MS" pitchFamily="34" charset="0"/>
                <a:ea typeface="Trebuchet MS" pitchFamily="34" charset="-122"/>
                <a:cs typeface="Trebuchet MS" pitchFamily="34" charset="-120"/>
              </a:rPr>
              <a:t>What to deploy, and how you can test it yourself.</a:t>
            </a:r>
            <a:endParaRPr lang="en-US" sz="1400" dirty="0"/>
          </a:p>
        </p:txBody>
      </p:sp>
      <p:sp>
        <p:nvSpPr>
          <p:cNvPr id="5" name="Text 3"/>
          <p:cNvSpPr txBox="1"/>
          <p:nvPr/>
        </p:nvSpPr>
        <p:spPr>
          <a:xfrm>
            <a:off x="7863840" y="1344168"/>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01   THE PROBLEM</a:t>
            </a:r>
            <a:endParaRPr lang="en-US" sz="1300" dirty="0"/>
          </a:p>
        </p:txBody>
      </p:sp>
      <p:sp>
        <p:nvSpPr>
          <p:cNvPr id="6" name="Text 4"/>
          <p:cNvSpPr txBox="1"/>
          <p:nvPr/>
        </p:nvSpPr>
        <p:spPr>
          <a:xfrm>
            <a:off x="7863840" y="1911096"/>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02   DATA AND METHOD</a:t>
            </a:r>
            <a:endParaRPr lang="en-US" sz="1300" dirty="0"/>
          </a:p>
        </p:txBody>
      </p:sp>
      <p:sp>
        <p:nvSpPr>
          <p:cNvPr id="7" name="Text 5"/>
          <p:cNvSpPr txBox="1"/>
          <p:nvPr/>
        </p:nvSpPr>
        <p:spPr>
          <a:xfrm>
            <a:off x="7863840" y="2478024"/>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03   PERFORMANCE</a:t>
            </a:r>
            <a:endParaRPr lang="en-US" sz="1300" dirty="0"/>
          </a:p>
        </p:txBody>
      </p:sp>
      <p:sp>
        <p:nvSpPr>
          <p:cNvPr id="8" name="Text 6"/>
          <p:cNvSpPr txBox="1"/>
          <p:nvPr/>
        </p:nvSpPr>
        <p:spPr>
          <a:xfrm>
            <a:off x="7863840" y="3044952"/>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04   INTERPRETABILITY</a:t>
            </a:r>
            <a:endParaRPr lang="en-US" sz="1300" dirty="0"/>
          </a:p>
        </p:txBody>
      </p:sp>
      <p:sp>
        <p:nvSpPr>
          <p:cNvPr id="9" name="Text 7"/>
          <p:cNvSpPr txBox="1"/>
          <p:nvPr/>
        </p:nvSpPr>
        <p:spPr>
          <a:xfrm>
            <a:off x="7863840" y="3611880"/>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05   STABILITY</a:t>
            </a:r>
            <a:endParaRPr lang="en-US" sz="1300" dirty="0"/>
          </a:p>
        </p:txBody>
      </p:sp>
      <p:sp>
        <p:nvSpPr>
          <p:cNvPr id="10" name="Text 8"/>
          <p:cNvSpPr txBox="1"/>
          <p:nvPr/>
        </p:nvSpPr>
        <p:spPr>
          <a:xfrm>
            <a:off x="7863840" y="4178808"/>
            <a:ext cx="3657600" cy="475488"/>
          </a:xfrm>
          <a:prstGeom prst="rect">
            <a:avLst/>
          </a:prstGeom>
          <a:noFill/>
          <a:ln/>
        </p:spPr>
        <p:txBody>
          <a:bodyPr wrap="square" lIns="0" tIns="0" rIns="0" bIns="0" rtlCol="0" anchor="ctr"/>
          <a:lstStyle/>
          <a:p>
            <a:pPr indent="0" marL="0">
              <a:buNone/>
            </a:pPr>
            <a:r>
              <a:rPr lang="en-US" sz="1300" dirty="0">
                <a:solidFill>
                  <a:srgbClr val="8E9AE8"/>
                </a:solidFill>
                <a:latin typeface="Trebuchet MS" pitchFamily="34" charset="0"/>
                <a:ea typeface="Trebuchet MS" pitchFamily="34" charset="-122"/>
                <a:cs typeface="Trebuchet MS" pitchFamily="34" charset="-120"/>
              </a:rPr>
              <a:t>06   FAIRNESS</a:t>
            </a:r>
            <a:endParaRPr lang="en-US" sz="1300" dirty="0"/>
          </a:p>
        </p:txBody>
      </p:sp>
      <p:sp>
        <p:nvSpPr>
          <p:cNvPr id="11" name="Shape 9"/>
          <p:cNvSpPr/>
          <p:nvPr/>
        </p:nvSpPr>
        <p:spPr>
          <a:xfrm>
            <a:off x="7635240" y="4745736"/>
            <a:ext cx="3913632" cy="475488"/>
          </a:xfrm>
          <a:prstGeom prst="roundRect">
            <a:avLst>
              <a:gd name="adj" fmla="val 15385"/>
            </a:avLst>
          </a:prstGeom>
          <a:solidFill>
            <a:srgbClr val="FFD709"/>
          </a:solidFill>
          <a:ln w="12700">
            <a:solidFill>
              <a:srgbClr val="FFD709"/>
            </a:solidFill>
            <a:prstDash val="solid"/>
          </a:ln>
        </p:spPr>
      </p:sp>
      <p:sp>
        <p:nvSpPr>
          <p:cNvPr id="12" name="Text 10"/>
          <p:cNvSpPr txBox="1"/>
          <p:nvPr/>
        </p:nvSpPr>
        <p:spPr>
          <a:xfrm>
            <a:off x="7863840" y="4745736"/>
            <a:ext cx="3657600" cy="475488"/>
          </a:xfrm>
          <a:prstGeom prst="rect">
            <a:avLst/>
          </a:prstGeom>
          <a:noFill/>
          <a:ln/>
        </p:spPr>
        <p:txBody>
          <a:bodyPr wrap="square" lIns="0" tIns="0" rIns="0" bIns="0" rtlCol="0" anchor="ctr"/>
          <a:lstStyle/>
          <a:p>
            <a:pPr indent="0" marL="0">
              <a:buNone/>
            </a:pPr>
            <a:r>
              <a:rPr lang="en-US" sz="1300" b="1" dirty="0">
                <a:solidFill>
                  <a:srgbClr val="101014"/>
                </a:solidFill>
                <a:latin typeface="Trebuchet MS" pitchFamily="34" charset="0"/>
                <a:ea typeface="Trebuchet MS" pitchFamily="34" charset="-122"/>
                <a:cs typeface="Trebuchet MS" pitchFamily="34" charset="-120"/>
              </a:rPr>
              <a:t>07   RECOMMENDATION</a:t>
            </a:r>
            <a:endParaRPr lang="en-US" sz="1300" dirty="0"/>
          </a:p>
        </p:txBody>
      </p:sp>
      <p:pic>
        <p:nvPicPr>
          <p:cNvPr id="13" name="Image 0" descr="/home/claude/isaf-group-rito-mitsouka/assets/logo/icon_transparent.png">    </p:cNvPr>
          <p:cNvPicPr>
            <a:picLocks noChangeAspect="1"/>
          </p:cNvPicPr>
          <p:nvPr/>
        </p:nvPicPr>
        <p:blipFill>
          <a:blip r:embed="rId1"/>
          <a:stretch>
            <a:fillRect/>
          </a:stretch>
        </p:blipFill>
        <p:spPr>
          <a:xfrm>
            <a:off x="10771632" y="6035040"/>
            <a:ext cx="777240" cy="3200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457200"/>
            <a:ext cx="9994392" cy="512064"/>
          </a:xfrm>
          <a:prstGeom prst="rect">
            <a:avLst/>
          </a:prstGeom>
          <a:noFill/>
          <a:ln/>
        </p:spPr>
        <p:txBody>
          <a:bodyPr wrap="square" lIns="0" tIns="0" rIns="0" bIns="0" rtlCol="0" anchor="ctr"/>
          <a:lstStyle/>
          <a:p>
            <a:pPr indent="0" marL="0">
              <a:buNone/>
            </a:pPr>
            <a:r>
              <a:rPr lang="en-US" sz="2600" dirty="0">
                <a:solidFill>
                  <a:srgbClr val="1E33C8"/>
                </a:solidFill>
                <a:latin typeface="Impact" pitchFamily="34" charset="0"/>
                <a:ea typeface="Impact" pitchFamily="34" charset="-122"/>
                <a:cs typeface="Impact" pitchFamily="34" charset="-120"/>
              </a:rPr>
              <a:t>DEPLOY THE BASELINE, WATCH THE FAIRNESS</a:t>
            </a:r>
            <a:endParaRPr lang="en-US" sz="2600" dirty="0"/>
          </a:p>
        </p:txBody>
      </p:sp>
      <p:pic>
        <p:nvPicPr>
          <p:cNvPr id="3" name="Image 0" descr="/home/claude/isaf-group-rito-mitsouka/assets/logo/icon_transparent.png">    </p:cNvPr>
          <p:cNvPicPr>
            <a:picLocks noChangeAspect="1"/>
          </p:cNvPicPr>
          <p:nvPr/>
        </p:nvPicPr>
        <p:blipFill>
          <a:blip r:embed="rId1"/>
          <a:stretch>
            <a:fillRect/>
          </a:stretch>
        </p:blipFill>
        <p:spPr>
          <a:xfrm>
            <a:off x="10771632" y="411480"/>
            <a:ext cx="777240" cy="320040"/>
          </a:xfrm>
          <a:prstGeom prst="rect">
            <a:avLst/>
          </a:prstGeom>
        </p:spPr>
      </p:pic>
      <p:sp>
        <p:nvSpPr>
          <p:cNvPr id="4" name="Text 1"/>
          <p:cNvSpPr txBox="1"/>
          <p:nvPr/>
        </p:nvSpPr>
        <p:spPr>
          <a:xfrm>
            <a:off x="640080" y="969264"/>
            <a:ext cx="10908792" cy="365760"/>
          </a:xfrm>
          <a:prstGeom prst="rect">
            <a:avLst/>
          </a:prstGeom>
          <a:noFill/>
          <a:ln/>
        </p:spPr>
        <p:txBody>
          <a:bodyPr wrap="square" lIns="0" tIns="0" rIns="0" bIns="0" rtlCol="0" anchor="ctr"/>
          <a:lstStyle/>
          <a:p>
            <a:pPr indent="0" marL="0">
              <a:buNone/>
            </a:pPr>
            <a:r>
              <a:rPr lang="en-US" sz="1500" dirty="0">
                <a:solidFill>
                  <a:srgbClr val="6B6F80"/>
                </a:solidFill>
                <a:latin typeface="Trebuchet MS" pitchFamily="34" charset="0"/>
                <a:ea typeface="Trebuchet MS" pitchFamily="34" charset="-122"/>
                <a:cs typeface="Trebuchet MS" pitchFamily="34" charset="-120"/>
              </a:rPr>
              <a:t>What do we tell the client to put in production?</a:t>
            </a:r>
            <a:endParaRPr lang="en-US" sz="1500" dirty="0"/>
          </a:p>
        </p:txBody>
      </p:sp>
      <p:sp>
        <p:nvSpPr>
          <p:cNvPr id="5" name="Shape 2"/>
          <p:cNvSpPr/>
          <p:nvPr/>
        </p:nvSpPr>
        <p:spPr>
          <a:xfrm>
            <a:off x="640080" y="5760720"/>
            <a:ext cx="10908792" cy="731520"/>
          </a:xfrm>
          <a:prstGeom prst="roundRect">
            <a:avLst>
              <a:gd name="adj" fmla="val 15000"/>
            </a:avLst>
          </a:prstGeom>
          <a:solidFill>
            <a:srgbClr val="FFD709"/>
          </a:solidFill>
          <a:ln w="12700">
            <a:solidFill>
              <a:srgbClr val="FFD709"/>
            </a:solidFill>
            <a:prstDash val="solid"/>
          </a:ln>
        </p:spPr>
      </p:sp>
      <p:sp>
        <p:nvSpPr>
          <p:cNvPr id="6" name="Text 3"/>
          <p:cNvSpPr txBox="1"/>
          <p:nvPr/>
        </p:nvSpPr>
        <p:spPr>
          <a:xfrm>
            <a:off x="914400" y="5760720"/>
            <a:ext cx="10360152" cy="731520"/>
          </a:xfrm>
          <a:prstGeom prst="rect">
            <a:avLst/>
          </a:prstGeom>
          <a:noFill/>
          <a:ln/>
        </p:spPr>
        <p:txBody>
          <a:bodyPr wrap="square" lIns="0" tIns="0" rIns="0" bIns="0" rtlCol="0" anchor="ctr"/>
          <a:lstStyle/>
          <a:p>
            <a:pPr algn="ctr" indent="0" marL="0">
              <a:buNone/>
            </a:pPr>
            <a:r>
              <a:rPr lang="en-US" sz="1400" b="1" dirty="0">
                <a:solidFill>
                  <a:srgbClr val="101014"/>
                </a:solidFill>
                <a:latin typeface="Trebuchet MS" pitchFamily="34" charset="0"/>
                <a:ea typeface="Trebuchet MS" pitchFamily="34" charset="-122"/>
                <a:cs typeface="Trebuchet MS" pitchFamily="34" charset="-120"/>
              </a:rPr>
              <a:t>PERFORMANCE IS A TIE, SO TRUST DECIDES: INTERPRETABILITY, STABILITY, FAIRNESS.</a:t>
            </a:r>
            <a:endParaRPr lang="en-US" sz="1400" dirty="0"/>
          </a:p>
        </p:txBody>
      </p:sp>
      <p:sp>
        <p:nvSpPr>
          <p:cNvPr id="7" name="Shape 4"/>
          <p:cNvSpPr/>
          <p:nvPr/>
        </p:nvSpPr>
        <p:spPr>
          <a:xfrm>
            <a:off x="640080" y="1783080"/>
            <a:ext cx="347472" cy="347472"/>
          </a:xfrm>
          <a:prstGeom prst="rect">
            <a:avLst/>
          </a:prstGeom>
          <a:solidFill>
            <a:srgbClr val="1E33C8"/>
          </a:solidFill>
          <a:ln w="12700">
            <a:solidFill>
              <a:srgbClr val="1E33C8"/>
            </a:solidFill>
            <a:prstDash val="solid"/>
          </a:ln>
        </p:spPr>
      </p:sp>
      <p:sp>
        <p:nvSpPr>
          <p:cNvPr id="8" name="Text 5"/>
          <p:cNvSpPr txBox="1"/>
          <p:nvPr/>
        </p:nvSpPr>
        <p:spPr>
          <a:xfrm>
            <a:off x="640080" y="17830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1</a:t>
            </a:r>
            <a:endParaRPr lang="en-US" sz="1300" dirty="0"/>
          </a:p>
        </p:txBody>
      </p:sp>
      <p:sp>
        <p:nvSpPr>
          <p:cNvPr id="9" name="Text 6"/>
          <p:cNvSpPr txBox="1"/>
          <p:nvPr/>
        </p:nvSpPr>
        <p:spPr>
          <a:xfrm>
            <a:off x="1188720" y="1746504"/>
            <a:ext cx="10360152" cy="420624"/>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DEPLOY </a:t>
            </a:r>
            <a:pPr indent="0" marL="0">
              <a:buNone/>
            </a:pPr>
            <a:r>
              <a:rPr lang="en-US" sz="1400" dirty="0">
                <a:solidFill>
                  <a:srgbClr val="101014"/>
                </a:solidFill>
                <a:latin typeface="Trebuchet MS" pitchFamily="34" charset="0"/>
                <a:ea typeface="Trebuchet MS" pitchFamily="34" charset="-122"/>
                <a:cs typeface="Trebuchet MS" pitchFamily="34" charset="-120"/>
              </a:rPr>
              <a:t>the 2 stage lasso logistic regression as the transparent baseline.</a:t>
            </a:r>
            <a:endParaRPr lang="en-US" sz="1400" dirty="0"/>
          </a:p>
        </p:txBody>
      </p:sp>
      <p:sp>
        <p:nvSpPr>
          <p:cNvPr id="10" name="Shape 7"/>
          <p:cNvSpPr/>
          <p:nvPr/>
        </p:nvSpPr>
        <p:spPr>
          <a:xfrm>
            <a:off x="640080" y="2331720"/>
            <a:ext cx="347472" cy="347472"/>
          </a:xfrm>
          <a:prstGeom prst="rect">
            <a:avLst/>
          </a:prstGeom>
          <a:solidFill>
            <a:srgbClr val="1E33C8"/>
          </a:solidFill>
          <a:ln w="12700">
            <a:solidFill>
              <a:srgbClr val="1E33C8"/>
            </a:solidFill>
            <a:prstDash val="solid"/>
          </a:ln>
        </p:spPr>
      </p:sp>
      <p:sp>
        <p:nvSpPr>
          <p:cNvPr id="11" name="Text 8"/>
          <p:cNvSpPr txBox="1"/>
          <p:nvPr/>
        </p:nvSpPr>
        <p:spPr>
          <a:xfrm>
            <a:off x="640080" y="2331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2</a:t>
            </a:r>
            <a:endParaRPr lang="en-US" sz="1300" dirty="0"/>
          </a:p>
        </p:txBody>
      </p:sp>
      <p:sp>
        <p:nvSpPr>
          <p:cNvPr id="12" name="Text 9"/>
          <p:cNvSpPr txBox="1"/>
          <p:nvPr/>
        </p:nvSpPr>
        <p:spPr>
          <a:xfrm>
            <a:off x="1188720" y="2295144"/>
            <a:ext cx="10360152" cy="420624"/>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ANCHOR </a:t>
            </a:r>
            <a:pPr indent="0" marL="0">
              <a:buNone/>
            </a:pPr>
            <a:r>
              <a:rPr lang="en-US" sz="1400" dirty="0">
                <a:solidFill>
                  <a:srgbClr val="101014"/>
                </a:solidFill>
                <a:latin typeface="Trebuchet MS" pitchFamily="34" charset="0"/>
                <a:ea typeface="Trebuchet MS" pitchFamily="34" charset="-122"/>
                <a:cs typeface="Trebuchet MS" pitchFamily="34" charset="-120"/>
              </a:rPr>
              <a:t>each retraining to the previous model, to keep the shortlist stable.</a:t>
            </a:r>
            <a:endParaRPr lang="en-US" sz="1400" dirty="0"/>
          </a:p>
        </p:txBody>
      </p:sp>
      <p:sp>
        <p:nvSpPr>
          <p:cNvPr id="13" name="Shape 10"/>
          <p:cNvSpPr/>
          <p:nvPr/>
        </p:nvSpPr>
        <p:spPr>
          <a:xfrm>
            <a:off x="640080" y="2880360"/>
            <a:ext cx="347472" cy="347472"/>
          </a:xfrm>
          <a:prstGeom prst="rect">
            <a:avLst/>
          </a:prstGeom>
          <a:solidFill>
            <a:srgbClr val="1E33C8"/>
          </a:solidFill>
          <a:ln w="12700">
            <a:solidFill>
              <a:srgbClr val="1E33C8"/>
            </a:solidFill>
            <a:prstDash val="solid"/>
          </a:ln>
        </p:spPr>
      </p:sp>
      <p:sp>
        <p:nvSpPr>
          <p:cNvPr id="14" name="Text 11"/>
          <p:cNvSpPr txBox="1"/>
          <p:nvPr/>
        </p:nvSpPr>
        <p:spPr>
          <a:xfrm>
            <a:off x="640080" y="28803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Trebuchet MS" pitchFamily="34" charset="0"/>
                <a:ea typeface="Trebuchet MS" pitchFamily="34" charset="-122"/>
                <a:cs typeface="Trebuchet MS" pitchFamily="34" charset="-120"/>
              </a:rPr>
              <a:t>3</a:t>
            </a:r>
            <a:endParaRPr lang="en-US" sz="1300" dirty="0"/>
          </a:p>
        </p:txBody>
      </p:sp>
      <p:sp>
        <p:nvSpPr>
          <p:cNvPr id="15" name="Text 12"/>
          <p:cNvSpPr txBox="1"/>
          <p:nvPr/>
        </p:nvSpPr>
        <p:spPr>
          <a:xfrm>
            <a:off x="1188720" y="2843784"/>
            <a:ext cx="10360152" cy="420624"/>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SWITCH </a:t>
            </a:r>
            <a:pPr indent="0" marL="0">
              <a:buNone/>
            </a:pPr>
            <a:r>
              <a:rPr lang="en-US" sz="1400" dirty="0">
                <a:solidFill>
                  <a:srgbClr val="101014"/>
                </a:solidFill>
                <a:latin typeface="Trebuchet MS" pitchFamily="34" charset="0"/>
                <a:ea typeface="Trebuchet MS" pitchFamily="34" charset="-122"/>
                <a:cs typeface="Trebuchet MS" pitchFamily="34" charset="-120"/>
              </a:rPr>
              <a:t>to XGBoost if fairness outranks interpretability: it amplifies 1.01 against 1.16.</a:t>
            </a:r>
            <a:endParaRPr lang="en-US" sz="1400" dirty="0"/>
          </a:p>
        </p:txBody>
      </p:sp>
      <p:sp>
        <p:nvSpPr>
          <p:cNvPr id="16" name="Shape 13"/>
          <p:cNvSpPr/>
          <p:nvPr/>
        </p:nvSpPr>
        <p:spPr>
          <a:xfrm>
            <a:off x="640080" y="3429000"/>
            <a:ext cx="347472" cy="347472"/>
          </a:xfrm>
          <a:prstGeom prst="rect">
            <a:avLst/>
          </a:prstGeom>
          <a:solidFill>
            <a:srgbClr val="FFD709"/>
          </a:solidFill>
          <a:ln w="12700">
            <a:solidFill>
              <a:srgbClr val="FFD709"/>
            </a:solidFill>
            <a:prstDash val="solid"/>
          </a:ln>
        </p:spPr>
      </p:sp>
      <p:sp>
        <p:nvSpPr>
          <p:cNvPr id="17" name="Text 14"/>
          <p:cNvSpPr txBox="1"/>
          <p:nvPr/>
        </p:nvSpPr>
        <p:spPr>
          <a:xfrm>
            <a:off x="640080" y="3429000"/>
            <a:ext cx="347472" cy="347472"/>
          </a:xfrm>
          <a:prstGeom prst="rect">
            <a:avLst/>
          </a:prstGeom>
          <a:noFill/>
          <a:ln/>
        </p:spPr>
        <p:txBody>
          <a:bodyPr wrap="square" lIns="0" tIns="0" rIns="0" bIns="0" rtlCol="0" anchor="ctr"/>
          <a:lstStyle/>
          <a:p>
            <a:pPr algn="ctr" indent="0" marL="0">
              <a:buNone/>
            </a:pPr>
            <a:r>
              <a:rPr lang="en-US" sz="1300" b="1" dirty="0">
                <a:solidFill>
                  <a:srgbClr val="101014"/>
                </a:solidFill>
                <a:latin typeface="Trebuchet MS" pitchFamily="34" charset="0"/>
                <a:ea typeface="Trebuchet MS" pitchFamily="34" charset="-122"/>
                <a:cs typeface="Trebuchet MS" pitchFamily="34" charset="-120"/>
              </a:rPr>
              <a:t>4</a:t>
            </a:r>
            <a:endParaRPr lang="en-US" sz="1300" dirty="0"/>
          </a:p>
        </p:txBody>
      </p:sp>
      <p:sp>
        <p:nvSpPr>
          <p:cNvPr id="18" name="Text 15"/>
          <p:cNvSpPr txBox="1"/>
          <p:nvPr/>
        </p:nvSpPr>
        <p:spPr>
          <a:xfrm>
            <a:off x="1188720" y="3392424"/>
            <a:ext cx="10360152" cy="420624"/>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DO NOT </a:t>
            </a:r>
            <a:pPr indent="0" marL="0">
              <a:buNone/>
            </a:pPr>
            <a:r>
              <a:rPr lang="en-US" sz="1400" dirty="0">
                <a:solidFill>
                  <a:srgbClr val="101014"/>
                </a:solidFill>
                <a:latin typeface="Trebuchet MS" pitchFamily="34" charset="0"/>
                <a:ea typeface="Trebuchet MS" pitchFamily="34" charset="-122"/>
                <a:cs typeface="Trebuchet MS" pitchFamily="34" charset="-120"/>
              </a:rPr>
              <a:t>remove ethnicity blindly, monitor the proxies instead.</a:t>
            </a:r>
            <a:endParaRPr lang="en-US" sz="1400" dirty="0"/>
          </a:p>
        </p:txBody>
      </p:sp>
      <p:sp>
        <p:nvSpPr>
          <p:cNvPr id="19" name="Shape 16"/>
          <p:cNvSpPr/>
          <p:nvPr/>
        </p:nvSpPr>
        <p:spPr>
          <a:xfrm>
            <a:off x="640080" y="3977640"/>
            <a:ext cx="347472" cy="347472"/>
          </a:xfrm>
          <a:prstGeom prst="rect">
            <a:avLst/>
          </a:prstGeom>
          <a:solidFill>
            <a:srgbClr val="FFD709"/>
          </a:solidFill>
          <a:ln w="12700">
            <a:solidFill>
              <a:srgbClr val="FFD709"/>
            </a:solidFill>
            <a:prstDash val="solid"/>
          </a:ln>
        </p:spPr>
      </p:sp>
      <p:sp>
        <p:nvSpPr>
          <p:cNvPr id="20" name="Text 17"/>
          <p:cNvSpPr txBox="1"/>
          <p:nvPr/>
        </p:nvSpPr>
        <p:spPr>
          <a:xfrm>
            <a:off x="640080" y="3977640"/>
            <a:ext cx="347472" cy="347472"/>
          </a:xfrm>
          <a:prstGeom prst="rect">
            <a:avLst/>
          </a:prstGeom>
          <a:noFill/>
          <a:ln/>
        </p:spPr>
        <p:txBody>
          <a:bodyPr wrap="square" lIns="0" tIns="0" rIns="0" bIns="0" rtlCol="0" anchor="ctr"/>
          <a:lstStyle/>
          <a:p>
            <a:pPr algn="ctr" indent="0" marL="0">
              <a:buNone/>
            </a:pPr>
            <a:r>
              <a:rPr lang="en-US" sz="1300" b="1" dirty="0">
                <a:solidFill>
                  <a:srgbClr val="101014"/>
                </a:solidFill>
                <a:latin typeface="Trebuchet MS" pitchFamily="34" charset="0"/>
                <a:ea typeface="Trebuchet MS" pitchFamily="34" charset="-122"/>
                <a:cs typeface="Trebuchet MS" pitchFamily="34" charset="-120"/>
              </a:rPr>
              <a:t>5</a:t>
            </a:r>
            <a:endParaRPr lang="en-US" sz="1300" dirty="0"/>
          </a:p>
        </p:txBody>
      </p:sp>
      <p:sp>
        <p:nvSpPr>
          <p:cNvPr id="21" name="Text 18"/>
          <p:cNvSpPr txBox="1"/>
          <p:nvPr/>
        </p:nvSpPr>
        <p:spPr>
          <a:xfrm>
            <a:off x="1188720" y="3941064"/>
            <a:ext cx="10360152" cy="420624"/>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LET THE CLIENT </a:t>
            </a:r>
            <a:pPr indent="0" marL="0">
              <a:buNone/>
            </a:pPr>
            <a:r>
              <a:rPr lang="en-US" sz="1400" dirty="0">
                <a:solidFill>
                  <a:srgbClr val="101014"/>
                </a:solidFill>
                <a:latin typeface="Trebuchet MS" pitchFamily="34" charset="0"/>
                <a:ea typeface="Trebuchet MS" pitchFamily="34" charset="-122"/>
                <a:cs typeface="Trebuchet MS" pitchFamily="34" charset="-120"/>
              </a:rPr>
              <a:t>choose the shortlist length from the business value of a match.</a:t>
            </a:r>
            <a:endParaRPr lang="en-US" sz="1400" dirty="0"/>
          </a:p>
        </p:txBody>
      </p:sp>
      <p:sp>
        <p:nvSpPr>
          <p:cNvPr id="22" name="Shape 19"/>
          <p:cNvSpPr/>
          <p:nvPr/>
        </p:nvSpPr>
        <p:spPr>
          <a:xfrm>
            <a:off x="640080" y="4526280"/>
            <a:ext cx="347472" cy="347472"/>
          </a:xfrm>
          <a:prstGeom prst="rect">
            <a:avLst/>
          </a:prstGeom>
          <a:solidFill>
            <a:srgbClr val="FFD709"/>
          </a:solidFill>
          <a:ln w="12700">
            <a:solidFill>
              <a:srgbClr val="FFD709"/>
            </a:solidFill>
            <a:prstDash val="solid"/>
          </a:ln>
        </p:spPr>
      </p:sp>
      <p:sp>
        <p:nvSpPr>
          <p:cNvPr id="23" name="Text 20"/>
          <p:cNvSpPr txBox="1"/>
          <p:nvPr/>
        </p:nvSpPr>
        <p:spPr>
          <a:xfrm>
            <a:off x="640080" y="4526280"/>
            <a:ext cx="347472" cy="347472"/>
          </a:xfrm>
          <a:prstGeom prst="rect">
            <a:avLst/>
          </a:prstGeom>
          <a:noFill/>
          <a:ln/>
        </p:spPr>
        <p:txBody>
          <a:bodyPr wrap="square" lIns="0" tIns="0" rIns="0" bIns="0" rtlCol="0" anchor="ctr"/>
          <a:lstStyle/>
          <a:p>
            <a:pPr algn="ctr" indent="0" marL="0">
              <a:buNone/>
            </a:pPr>
            <a:r>
              <a:rPr lang="en-US" sz="1300" b="1" dirty="0">
                <a:solidFill>
                  <a:srgbClr val="101014"/>
                </a:solidFill>
                <a:latin typeface="Trebuchet MS" pitchFamily="34" charset="0"/>
                <a:ea typeface="Trebuchet MS" pitchFamily="34" charset="-122"/>
                <a:cs typeface="Trebuchet MS" pitchFamily="34" charset="-120"/>
              </a:rPr>
              <a:t>6</a:t>
            </a:r>
            <a:endParaRPr lang="en-US" sz="1300" dirty="0"/>
          </a:p>
        </p:txBody>
      </p:sp>
      <p:sp>
        <p:nvSpPr>
          <p:cNvPr id="24" name="Text 21"/>
          <p:cNvSpPr txBox="1"/>
          <p:nvPr/>
        </p:nvSpPr>
        <p:spPr>
          <a:xfrm>
            <a:off x="1188720" y="4489704"/>
            <a:ext cx="10360152" cy="420624"/>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COLLECT </a:t>
            </a:r>
            <a:pPr indent="0" marL="0">
              <a:buNone/>
            </a:pPr>
            <a:r>
              <a:rPr lang="en-US" sz="1400" dirty="0">
                <a:solidFill>
                  <a:srgbClr val="101014"/>
                </a:solidFill>
                <a:latin typeface="Trebuchet MS" pitchFamily="34" charset="0"/>
                <a:ea typeface="Trebuchet MS" pitchFamily="34" charset="-122"/>
                <a:cs typeface="Trebuchet MS" pitchFamily="34" charset="-120"/>
              </a:rPr>
              <a:t>interaction data to improve recommendations for new users.</a:t>
            </a:r>
            <a:endParaRPr lang="en-US" sz="1400" dirty="0"/>
          </a:p>
        </p:txBody>
      </p:sp>
      <p:sp>
        <p:nvSpPr>
          <p:cNvPr id="25" name="Shape 22"/>
          <p:cNvSpPr/>
          <p:nvPr/>
        </p:nvSpPr>
        <p:spPr>
          <a:xfrm>
            <a:off x="640080" y="5074920"/>
            <a:ext cx="347472" cy="347472"/>
          </a:xfrm>
          <a:prstGeom prst="rect">
            <a:avLst/>
          </a:prstGeom>
          <a:solidFill>
            <a:srgbClr val="FFD709"/>
          </a:solidFill>
          <a:ln w="12700">
            <a:solidFill>
              <a:srgbClr val="FFD709"/>
            </a:solidFill>
            <a:prstDash val="solid"/>
          </a:ln>
        </p:spPr>
      </p:sp>
      <p:sp>
        <p:nvSpPr>
          <p:cNvPr id="26" name="Text 23"/>
          <p:cNvSpPr txBox="1"/>
          <p:nvPr/>
        </p:nvSpPr>
        <p:spPr>
          <a:xfrm>
            <a:off x="640080" y="5074920"/>
            <a:ext cx="347472" cy="347472"/>
          </a:xfrm>
          <a:prstGeom prst="rect">
            <a:avLst/>
          </a:prstGeom>
          <a:noFill/>
          <a:ln/>
        </p:spPr>
        <p:txBody>
          <a:bodyPr wrap="square" lIns="0" tIns="0" rIns="0" bIns="0" rtlCol="0" anchor="ctr"/>
          <a:lstStyle/>
          <a:p>
            <a:pPr algn="ctr" indent="0" marL="0">
              <a:buNone/>
            </a:pPr>
            <a:r>
              <a:rPr lang="en-US" sz="1300" b="1" dirty="0">
                <a:solidFill>
                  <a:srgbClr val="101014"/>
                </a:solidFill>
                <a:latin typeface="Trebuchet MS" pitchFamily="34" charset="0"/>
                <a:ea typeface="Trebuchet MS" pitchFamily="34" charset="-122"/>
                <a:cs typeface="Trebuchet MS" pitchFamily="34" charset="-120"/>
              </a:rPr>
              <a:t>7</a:t>
            </a:r>
            <a:endParaRPr lang="en-US" sz="1300" dirty="0"/>
          </a:p>
        </p:txBody>
      </p:sp>
      <p:sp>
        <p:nvSpPr>
          <p:cNvPr id="27" name="Text 24"/>
          <p:cNvSpPr txBox="1"/>
          <p:nvPr/>
        </p:nvSpPr>
        <p:spPr>
          <a:xfrm>
            <a:off x="1188720" y="5038344"/>
            <a:ext cx="10360152" cy="420624"/>
          </a:xfrm>
          <a:prstGeom prst="rect">
            <a:avLst/>
          </a:prstGeom>
          <a:noFill/>
          <a:ln/>
        </p:spPr>
        <p:txBody>
          <a:bodyPr wrap="square" lIns="0" tIns="0" rIns="0" bIns="0" rtlCol="0" anchor="ctr"/>
          <a:lstStyle/>
          <a:p>
            <a:pPr indent="0" marL="0">
              <a:buNone/>
            </a:pPr>
            <a:r>
              <a:rPr lang="en-US" sz="1400" b="1" dirty="0">
                <a:solidFill>
                  <a:srgbClr val="1E33C8"/>
                </a:solidFill>
                <a:latin typeface="Trebuchet MS" pitchFamily="34" charset="0"/>
                <a:ea typeface="Trebuchet MS" pitchFamily="34" charset="-122"/>
                <a:cs typeface="Trebuchet MS" pitchFamily="34" charset="-120"/>
              </a:rPr>
              <a:t>RE-RUN </a:t>
            </a:r>
            <a:pPr indent="0" marL="0">
              <a:buNone/>
            </a:pPr>
            <a:r>
              <a:rPr lang="en-US" sz="1400" dirty="0">
                <a:solidFill>
                  <a:srgbClr val="101014"/>
                </a:solidFill>
                <a:latin typeface="Trebuchet MS" pitchFamily="34" charset="0"/>
                <a:ea typeface="Trebuchet MS" pitchFamily="34" charset="-122"/>
                <a:cs typeface="Trebuchet MS" pitchFamily="34" charset="-120"/>
              </a:rPr>
              <a:t>the fairness tests as the user base grows.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E33C8"/>
        </a:solidFill>
      </p:bgPr>
    </p:bg>
    <p:spTree>
      <p:nvGrpSpPr>
        <p:cNvPr id="1" name=""/>
        <p:cNvGrpSpPr/>
        <p:nvPr/>
      </p:nvGrpSpPr>
      <p:grpSpPr>
        <a:xfrm>
          <a:off x="0" y="0"/>
          <a:ext cx="0" cy="0"/>
          <a:chOff x="0" y="0"/>
          <a:chExt cx="0" cy="0"/>
        </a:xfrm>
      </p:grpSpPr>
      <p:sp>
        <p:nvSpPr>
          <p:cNvPr id="2" name="Text 0"/>
          <p:cNvSpPr txBox="1"/>
          <p:nvPr/>
        </p:nvSpPr>
        <p:spPr>
          <a:xfrm>
            <a:off x="640080" y="457200"/>
            <a:ext cx="9994392" cy="603504"/>
          </a:xfrm>
          <a:prstGeom prst="rect">
            <a:avLst/>
          </a:prstGeom>
          <a:noFill/>
          <a:ln/>
        </p:spPr>
        <p:txBody>
          <a:bodyPr wrap="square" lIns="0" tIns="0" rIns="0" bIns="0" rtlCol="0" anchor="ctr"/>
          <a:lstStyle/>
          <a:p>
            <a:pPr indent="0" marL="0">
              <a:buNone/>
            </a:pPr>
            <a:r>
              <a:rPr lang="en-US" sz="2800" dirty="0">
                <a:solidFill>
                  <a:srgbClr val="FFFFFF"/>
                </a:solidFill>
                <a:latin typeface="Impact" pitchFamily="34" charset="0"/>
                <a:ea typeface="Impact" pitchFamily="34" charset="-122"/>
                <a:cs typeface="Impact" pitchFamily="34" charset="-120"/>
              </a:rPr>
              <a:t>THE CLIENT CAN TEST ALL OF THIS TODAY</a:t>
            </a:r>
            <a:endParaRPr lang="en-US" sz="2800" dirty="0"/>
          </a:p>
        </p:txBody>
      </p:sp>
      <p:sp>
        <p:nvSpPr>
          <p:cNvPr id="3" name="Text 1"/>
          <p:cNvSpPr txBox="1"/>
          <p:nvPr/>
        </p:nvSpPr>
        <p:spPr>
          <a:xfrm>
            <a:off x="640080" y="1097280"/>
            <a:ext cx="10908792" cy="365760"/>
          </a:xfrm>
          <a:prstGeom prst="rect">
            <a:avLst/>
          </a:prstGeom>
          <a:noFill/>
          <a:ln/>
        </p:spPr>
        <p:txBody>
          <a:bodyPr wrap="square" lIns="0" tIns="0" rIns="0" bIns="0" rtlCol="0" anchor="ctr"/>
          <a:lstStyle/>
          <a:p>
            <a:pPr indent="0" marL="0">
              <a:buNone/>
            </a:pPr>
            <a:r>
              <a:rPr lang="en-US" sz="1500" dirty="0">
                <a:solidFill>
                  <a:srgbClr val="FFD709"/>
                </a:solidFill>
                <a:latin typeface="Trebuchet MS" pitchFamily="34" charset="0"/>
                <a:ea typeface="Trebuchet MS" pitchFamily="34" charset="-122"/>
                <a:cs typeface="Trebuchet MS" pitchFamily="34" charset="-120"/>
              </a:rPr>
              <a:t>A Streamlit app, 4 tabs, no code required.</a:t>
            </a:r>
            <a:endParaRPr lang="en-US" sz="1500" dirty="0"/>
          </a:p>
        </p:txBody>
      </p:sp>
      <p:sp>
        <p:nvSpPr>
          <p:cNvPr id="4" name="Shape 2"/>
          <p:cNvSpPr/>
          <p:nvPr/>
        </p:nvSpPr>
        <p:spPr>
          <a:xfrm>
            <a:off x="640080" y="1965960"/>
            <a:ext cx="2560320" cy="2606040"/>
          </a:xfrm>
          <a:prstGeom prst="roundRect">
            <a:avLst>
              <a:gd name="adj" fmla="val 2857"/>
            </a:avLst>
          </a:prstGeom>
          <a:solidFill>
            <a:srgbClr val="FFFFFF"/>
          </a:solidFill>
          <a:ln w="12700">
            <a:solidFill>
              <a:srgbClr val="FFFFFF"/>
            </a:solidFill>
            <a:prstDash val="solid"/>
          </a:ln>
          <a:effectLst>
            <a:outerShdw sx="100000" sy="100000" kx="0" ky="0" algn="bl" rotWithShape="0" blurRad="76200" dist="381" dir="5400000">
              <a:srgbClr val="9096B8">
                <a:alpha val="22000"/>
              </a:srgbClr>
            </a:outerShdw>
          </a:effectLst>
        </p:spPr>
      </p:sp>
      <p:sp>
        <p:nvSpPr>
          <p:cNvPr id="5" name="Text 3"/>
          <p:cNvSpPr txBox="1"/>
          <p:nvPr/>
        </p:nvSpPr>
        <p:spPr>
          <a:xfrm>
            <a:off x="841248" y="2212848"/>
            <a:ext cx="2194560" cy="411480"/>
          </a:xfrm>
          <a:prstGeom prst="rect">
            <a:avLst/>
          </a:prstGeom>
          <a:noFill/>
          <a:ln/>
        </p:spPr>
        <p:txBody>
          <a:bodyPr wrap="square" lIns="0" tIns="0" rIns="0" bIns="0" rtlCol="0" anchor="ctr"/>
          <a:lstStyle/>
          <a:p>
            <a:pPr indent="0" marL="0">
              <a:buNone/>
            </a:pPr>
            <a:r>
              <a:rPr lang="en-US" sz="1900" dirty="0">
                <a:solidFill>
                  <a:srgbClr val="1E33C8"/>
                </a:solidFill>
                <a:latin typeface="Impact" pitchFamily="34" charset="0"/>
                <a:ea typeface="Impact" pitchFamily="34" charset="-122"/>
                <a:cs typeface="Impact" pitchFamily="34" charset="-120"/>
              </a:rPr>
              <a:t>COMPARE</a:t>
            </a:r>
            <a:endParaRPr lang="en-US" sz="1900" dirty="0"/>
          </a:p>
        </p:txBody>
      </p:sp>
      <p:sp>
        <p:nvSpPr>
          <p:cNvPr id="6" name="Text 4"/>
          <p:cNvSpPr txBox="1"/>
          <p:nvPr/>
        </p:nvSpPr>
        <p:spPr>
          <a:xfrm>
            <a:off x="841248" y="2724912"/>
            <a:ext cx="2194560" cy="1691640"/>
          </a:xfrm>
          <a:prstGeom prst="rect">
            <a:avLst/>
          </a:prstGeom>
          <a:noFill/>
          <a:ln/>
        </p:spPr>
        <p:txBody>
          <a:bodyPr wrap="square" lIns="0" tIns="0" rIns="0" bIns="0" rtlCol="0" anchor="ctr"/>
          <a:lstStyle/>
          <a:p>
            <a:pPr indent="0" marL="0">
              <a:buNone/>
            </a:pPr>
            <a:r>
              <a:rPr lang="en-US" sz="1250" dirty="0">
                <a:solidFill>
                  <a:srgbClr val="101014"/>
                </a:solidFill>
                <a:latin typeface="Trebuchet MS" pitchFamily="34" charset="0"/>
                <a:ea typeface="Trebuchet MS" pitchFamily="34" charset="-122"/>
                <a:cs typeface="Trebuchet MS" pitchFamily="34" charset="-120"/>
              </a:rPr>
              <a:t>The 3 engines side by side: PR-AUC, top decile rate, lift.</a:t>
            </a:r>
            <a:endParaRPr lang="en-US" sz="1250" dirty="0"/>
          </a:p>
        </p:txBody>
      </p:sp>
      <p:sp>
        <p:nvSpPr>
          <p:cNvPr id="7" name="Shape 5"/>
          <p:cNvSpPr/>
          <p:nvPr/>
        </p:nvSpPr>
        <p:spPr>
          <a:xfrm>
            <a:off x="3422874" y="1965960"/>
            <a:ext cx="2560320" cy="2606040"/>
          </a:xfrm>
          <a:prstGeom prst="roundRect">
            <a:avLst>
              <a:gd name="adj" fmla="val 2857"/>
            </a:avLst>
          </a:prstGeom>
          <a:solidFill>
            <a:srgbClr val="FFFFFF"/>
          </a:solidFill>
          <a:ln w="12700">
            <a:solidFill>
              <a:srgbClr val="FFFFFF"/>
            </a:solidFill>
            <a:prstDash val="solid"/>
          </a:ln>
          <a:effectLst>
            <a:outerShdw sx="100000" sy="100000" kx="0" ky="0" algn="bl" rotWithShape="0" blurRad="76200" dist="381" dir="5400000">
              <a:srgbClr val="9096B8">
                <a:alpha val="22000"/>
              </a:srgbClr>
            </a:outerShdw>
          </a:effectLst>
        </p:spPr>
      </p:sp>
      <p:sp>
        <p:nvSpPr>
          <p:cNvPr id="8" name="Text 6"/>
          <p:cNvSpPr txBox="1"/>
          <p:nvPr/>
        </p:nvSpPr>
        <p:spPr>
          <a:xfrm>
            <a:off x="3624042" y="2212848"/>
            <a:ext cx="2194560" cy="411480"/>
          </a:xfrm>
          <a:prstGeom prst="rect">
            <a:avLst/>
          </a:prstGeom>
          <a:noFill/>
          <a:ln/>
        </p:spPr>
        <p:txBody>
          <a:bodyPr wrap="square" lIns="0" tIns="0" rIns="0" bIns="0" rtlCol="0" anchor="ctr"/>
          <a:lstStyle/>
          <a:p>
            <a:pPr indent="0" marL="0">
              <a:buNone/>
            </a:pPr>
            <a:r>
              <a:rPr lang="en-US" sz="1900" dirty="0">
                <a:solidFill>
                  <a:srgbClr val="1E33C8"/>
                </a:solidFill>
                <a:latin typeface="Impact" pitchFamily="34" charset="0"/>
                <a:ea typeface="Impact" pitchFamily="34" charset="-122"/>
                <a:cs typeface="Impact" pitchFamily="34" charset="-120"/>
              </a:rPr>
              <a:t>ENGINE</a:t>
            </a:r>
            <a:endParaRPr lang="en-US" sz="1900" dirty="0"/>
          </a:p>
        </p:txBody>
      </p:sp>
      <p:sp>
        <p:nvSpPr>
          <p:cNvPr id="9" name="Text 7"/>
          <p:cNvSpPr txBox="1"/>
          <p:nvPr/>
        </p:nvSpPr>
        <p:spPr>
          <a:xfrm>
            <a:off x="3624042" y="2724912"/>
            <a:ext cx="2194560" cy="1691640"/>
          </a:xfrm>
          <a:prstGeom prst="rect">
            <a:avLst/>
          </a:prstGeom>
          <a:noFill/>
          <a:ln/>
        </p:spPr>
        <p:txBody>
          <a:bodyPr wrap="square" lIns="0" tIns="0" rIns="0" bIns="0" rtlCol="0" anchor="ctr"/>
          <a:lstStyle/>
          <a:p>
            <a:pPr indent="0" marL="0">
              <a:buNone/>
            </a:pPr>
            <a:r>
              <a:rPr lang="en-US" sz="1250" dirty="0">
                <a:solidFill>
                  <a:srgbClr val="101014"/>
                </a:solidFill>
                <a:latin typeface="Trebuchet MS" pitchFamily="34" charset="0"/>
                <a:ea typeface="Trebuchet MS" pitchFamily="34" charset="-122"/>
                <a:cs typeface="Trebuchet MS" pitchFamily="34" charset="-120"/>
              </a:rPr>
              <a:t>What makes 2 people say yes, and whether it holds after a retraining.</a:t>
            </a:r>
            <a:endParaRPr lang="en-US" sz="1250" dirty="0"/>
          </a:p>
        </p:txBody>
      </p:sp>
      <p:sp>
        <p:nvSpPr>
          <p:cNvPr id="10" name="Shape 8"/>
          <p:cNvSpPr/>
          <p:nvPr/>
        </p:nvSpPr>
        <p:spPr>
          <a:xfrm>
            <a:off x="6205667" y="1965960"/>
            <a:ext cx="2560320" cy="2606040"/>
          </a:xfrm>
          <a:prstGeom prst="roundRect">
            <a:avLst>
              <a:gd name="adj" fmla="val 2857"/>
            </a:avLst>
          </a:prstGeom>
          <a:solidFill>
            <a:srgbClr val="FFFFFF"/>
          </a:solidFill>
          <a:ln w="12700">
            <a:solidFill>
              <a:srgbClr val="FFFFFF"/>
            </a:solidFill>
            <a:prstDash val="solid"/>
          </a:ln>
          <a:effectLst>
            <a:outerShdw sx="100000" sy="100000" kx="0" ky="0" algn="bl" rotWithShape="0" blurRad="76200" dist="381" dir="5400000">
              <a:srgbClr val="9096B8">
                <a:alpha val="22000"/>
              </a:srgbClr>
            </a:outerShdw>
          </a:effectLst>
        </p:spPr>
      </p:sp>
      <p:sp>
        <p:nvSpPr>
          <p:cNvPr id="11" name="Text 9"/>
          <p:cNvSpPr txBox="1"/>
          <p:nvPr/>
        </p:nvSpPr>
        <p:spPr>
          <a:xfrm>
            <a:off x="6406835" y="2212848"/>
            <a:ext cx="2194560" cy="411480"/>
          </a:xfrm>
          <a:prstGeom prst="rect">
            <a:avLst/>
          </a:prstGeom>
          <a:noFill/>
          <a:ln/>
        </p:spPr>
        <p:txBody>
          <a:bodyPr wrap="square" lIns="0" tIns="0" rIns="0" bIns="0" rtlCol="0" anchor="ctr"/>
          <a:lstStyle/>
          <a:p>
            <a:pPr indent="0" marL="0">
              <a:buNone/>
            </a:pPr>
            <a:r>
              <a:rPr lang="en-US" sz="1900" dirty="0">
                <a:solidFill>
                  <a:srgbClr val="1E33C8"/>
                </a:solidFill>
                <a:latin typeface="Impact" pitchFamily="34" charset="0"/>
                <a:ea typeface="Impact" pitchFamily="34" charset="-122"/>
                <a:cs typeface="Impact" pitchFamily="34" charset="-120"/>
              </a:rPr>
              <a:t>WORTH</a:t>
            </a:r>
            <a:endParaRPr lang="en-US" sz="1900" dirty="0"/>
          </a:p>
        </p:txBody>
      </p:sp>
      <p:sp>
        <p:nvSpPr>
          <p:cNvPr id="12" name="Text 10"/>
          <p:cNvSpPr txBox="1"/>
          <p:nvPr/>
        </p:nvSpPr>
        <p:spPr>
          <a:xfrm>
            <a:off x="6406835" y="2724912"/>
            <a:ext cx="2194560" cy="1691640"/>
          </a:xfrm>
          <a:prstGeom prst="rect">
            <a:avLst/>
          </a:prstGeom>
          <a:noFill/>
          <a:ln/>
        </p:spPr>
        <p:txBody>
          <a:bodyPr wrap="square" lIns="0" tIns="0" rIns="0" bIns="0" rtlCol="0" anchor="ctr"/>
          <a:lstStyle/>
          <a:p>
            <a:pPr indent="0" marL="0">
              <a:buNone/>
            </a:pPr>
            <a:r>
              <a:rPr lang="en-US" sz="1250" dirty="0">
                <a:solidFill>
                  <a:srgbClr val="101014"/>
                </a:solidFill>
                <a:latin typeface="Trebuchet MS" pitchFamily="34" charset="0"/>
                <a:ea typeface="Trebuchet MS" pitchFamily="34" charset="-122"/>
                <a:cs typeface="Trebuchet MS" pitchFamily="34" charset="-120"/>
              </a:rPr>
              <a:t>Matches per 1,000 shown, for any shortlist length you pick.</a:t>
            </a:r>
            <a:endParaRPr lang="en-US" sz="1250" dirty="0"/>
          </a:p>
        </p:txBody>
      </p:sp>
      <p:sp>
        <p:nvSpPr>
          <p:cNvPr id="13" name="Shape 11"/>
          <p:cNvSpPr/>
          <p:nvPr/>
        </p:nvSpPr>
        <p:spPr>
          <a:xfrm>
            <a:off x="8988461" y="1965960"/>
            <a:ext cx="2560320" cy="2606040"/>
          </a:xfrm>
          <a:prstGeom prst="roundRect">
            <a:avLst>
              <a:gd name="adj" fmla="val 2857"/>
            </a:avLst>
          </a:prstGeom>
          <a:solidFill>
            <a:srgbClr val="FFFFFF"/>
          </a:solidFill>
          <a:ln w="12700">
            <a:solidFill>
              <a:srgbClr val="FFFFFF"/>
            </a:solidFill>
            <a:prstDash val="solid"/>
          </a:ln>
          <a:effectLst>
            <a:outerShdw sx="100000" sy="100000" kx="0" ky="0" algn="bl" rotWithShape="0" blurRad="76200" dist="381" dir="5400000">
              <a:srgbClr val="9096B8">
                <a:alpha val="22000"/>
              </a:srgbClr>
            </a:outerShdw>
          </a:effectLst>
        </p:spPr>
      </p:sp>
      <p:sp>
        <p:nvSpPr>
          <p:cNvPr id="14" name="Text 12"/>
          <p:cNvSpPr txBox="1"/>
          <p:nvPr/>
        </p:nvSpPr>
        <p:spPr>
          <a:xfrm>
            <a:off x="9189629" y="2212848"/>
            <a:ext cx="2194560" cy="411480"/>
          </a:xfrm>
          <a:prstGeom prst="rect">
            <a:avLst/>
          </a:prstGeom>
          <a:noFill/>
          <a:ln/>
        </p:spPr>
        <p:txBody>
          <a:bodyPr wrap="square" lIns="0" tIns="0" rIns="0" bIns="0" rtlCol="0" anchor="ctr"/>
          <a:lstStyle/>
          <a:p>
            <a:pPr indent="0" marL="0">
              <a:buNone/>
            </a:pPr>
            <a:r>
              <a:rPr lang="en-US" sz="1900" dirty="0">
                <a:solidFill>
                  <a:srgbClr val="1E33C8"/>
                </a:solidFill>
                <a:latin typeface="Impact" pitchFamily="34" charset="0"/>
                <a:ea typeface="Impact" pitchFamily="34" charset="-122"/>
                <a:cs typeface="Impact" pitchFamily="34" charset="-120"/>
              </a:rPr>
              <a:t>FAIR</a:t>
            </a:r>
            <a:endParaRPr lang="en-US" sz="1900" dirty="0"/>
          </a:p>
        </p:txBody>
      </p:sp>
      <p:sp>
        <p:nvSpPr>
          <p:cNvPr id="15" name="Text 13"/>
          <p:cNvSpPr txBox="1"/>
          <p:nvPr/>
        </p:nvSpPr>
        <p:spPr>
          <a:xfrm>
            <a:off x="9189629" y="2724912"/>
            <a:ext cx="2194560" cy="1691640"/>
          </a:xfrm>
          <a:prstGeom prst="rect">
            <a:avLst/>
          </a:prstGeom>
          <a:noFill/>
          <a:ln/>
        </p:spPr>
        <p:txBody>
          <a:bodyPr wrap="square" lIns="0" tIns="0" rIns="0" bIns="0" rtlCol="0" anchor="ctr"/>
          <a:lstStyle/>
          <a:p>
            <a:pPr indent="0" marL="0">
              <a:buNone/>
            </a:pPr>
            <a:r>
              <a:rPr lang="en-US" sz="1250" dirty="0">
                <a:solidFill>
                  <a:srgbClr val="101014"/>
                </a:solidFill>
                <a:latin typeface="Trebuchet MS" pitchFamily="34" charset="0"/>
                <a:ea typeface="Trebuchet MS" pitchFamily="34" charset="-122"/>
                <a:cs typeface="Trebuchet MS" pitchFamily="34" charset="-120"/>
              </a:rPr>
              <a:t>Who gets recommended, by ethnic group, for each engine.</a:t>
            </a:r>
            <a:endParaRPr lang="en-US" sz="1250" dirty="0"/>
          </a:p>
        </p:txBody>
      </p:sp>
      <p:sp>
        <p:nvSpPr>
          <p:cNvPr id="16" name="Text 14"/>
          <p:cNvSpPr txBox="1"/>
          <p:nvPr/>
        </p:nvSpPr>
        <p:spPr>
          <a:xfrm>
            <a:off x="640080" y="5212080"/>
            <a:ext cx="7772400" cy="548640"/>
          </a:xfrm>
          <a:prstGeom prst="rect">
            <a:avLst/>
          </a:prstGeom>
          <a:noFill/>
          <a:ln/>
        </p:spPr>
        <p:txBody>
          <a:bodyPr wrap="square" lIns="0" tIns="0" rIns="0" bIns="0" rtlCol="0" anchor="ctr"/>
          <a:lstStyle/>
          <a:p>
            <a:pPr indent="0" marL="0">
              <a:buNone/>
            </a:pPr>
            <a:r>
              <a:rPr lang="en-US" sz="2600" dirty="0">
                <a:solidFill>
                  <a:srgbClr val="FFFFFF"/>
                </a:solidFill>
                <a:latin typeface="Impact" pitchFamily="34" charset="0"/>
                <a:ea typeface="Impact" pitchFamily="34" charset="-122"/>
                <a:cs typeface="Impact" pitchFamily="34" charset="-120"/>
              </a:rPr>
              <a:t>THANK YOU. QUESTIONS WELCOME.</a:t>
            </a:r>
            <a:endParaRPr lang="en-US" sz="2600" dirty="0"/>
          </a:p>
        </p:txBody>
      </p:sp>
      <p:pic>
        <p:nvPicPr>
          <p:cNvPr id="17" name="Image 0" descr="/home/claude/isaf-group-rito-mitsouka/assets/logo/icon_transparent.png">    </p:cNvPr>
          <p:cNvPicPr>
            <a:picLocks noChangeAspect="1"/>
          </p:cNvPicPr>
          <p:nvPr/>
        </p:nvPicPr>
        <p:blipFill>
          <a:blip r:embed="rId1"/>
          <a:stretch>
            <a:fillRect/>
          </a:stretch>
        </p:blipFill>
        <p:spPr>
          <a:xfrm>
            <a:off x="9966960" y="5166360"/>
            <a:ext cx="1554480" cy="640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ISAF Project - Rito Mitsouka</dc:title>
  <dc:subject>PptxGenJS Presentation</dc:subject>
  <dc:creator>Les Rito Mitsouka</dc:creator>
  <cp:lastModifiedBy>Les Rito Mitsouka</cp:lastModifiedBy>
  <cp:revision>1</cp:revision>
  <dcterms:created xsi:type="dcterms:W3CDTF">2026-09-27T17:12:38Z</dcterms:created>
  <dcterms:modified xsi:type="dcterms:W3CDTF">2026-09-27T17:12:38Z</dcterms:modified>
</cp:coreProperties>
</file>