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63" r:id="rId5"/>
    <p:sldId id="257" r:id="rId6"/>
    <p:sldId id="266" r:id="rId7"/>
    <p:sldId id="267" r:id="rId8"/>
    <p:sldId id="258" r:id="rId9"/>
    <p:sldId id="261" r:id="rId10"/>
    <p:sldId id="259" r:id="rId11"/>
    <p:sldId id="260" r:id="rId12"/>
    <p:sldId id="270" r:id="rId13"/>
    <p:sldId id="271" r:id="rId14"/>
    <p:sldId id="269" r:id="rId1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9"/>
    <a:srgbClr val="1E33C8"/>
    <a:srgbClr val="F8F9B5"/>
    <a:srgbClr val="FCEA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99F0A-4B67-5B42-9EF3-4BCA5D10653F}" v="1147" dt="2026-09-25T13:22:24.845"/>
    <p1510:client id="{410F67B5-3D0A-6A40-98B1-F076B15783B3}" v="594" dt="2026-09-24T14:47:25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1592-292E-E7DE-BAB1-3F11317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0EADB-7CF0-8253-BBF5-55DA21A0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23081-14E0-2559-7390-5955127A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AFA4E-0C4E-0D52-5EC2-64ECA7AB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8D17-4A39-0069-5B52-77EF539A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4764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1DD-1437-9A1E-9ECF-C9DFB099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EDBE-E564-B3F3-9A50-381747DDC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D3AB5-A425-592D-5278-A8BBB226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97D7-0EBC-B779-C526-FEC37FCA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8242C-52A4-493E-1623-6C8D743E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0928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E02C-5A92-D24A-9211-951C23F4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BB839-FB89-5B54-42CE-3ED3F11B1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11238-5248-4BEE-BE5D-DA5C090A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3113-DCFE-CFF9-5089-5BA4CCC4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45CB-79A4-D5BD-50B1-1FD828B3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2173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5F77-4591-E97D-BE31-2DA5E1E66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A1469-75C0-DD81-029A-3423FDF13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94947-1D4D-B87D-25E4-DC23D4A62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EE713-3D06-A283-C0D0-60C8EC59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78122-C5A2-E444-04C1-FE178E83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12892-0B15-4707-2419-1ED8C70A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0491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BEAE-0AE3-2B3E-04AD-E3D0976B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73948-4930-0610-8DAA-7D480163F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45E73-E6C3-7253-4A86-FBC8ED347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EDCA8-31EA-03F4-CB81-A583D5841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1ECAC-AC21-EFAF-C6EA-AB9AB7FC6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20CDA-B76A-DF61-407E-3642A7C1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BA03F-0D41-0467-00AD-96460BD6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857B1-C092-344D-35BD-69878A69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3967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F6B4-4030-4E95-F6BE-8B819A9F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2FBB4-E68C-3BC7-D9FB-9E92E5ED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852EB-EECD-F7BB-F969-217FD95C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99A97-53DF-42F1-EC6B-1B5F1D4B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8882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87851-E1F3-62D4-1F6C-85786F99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66D53-6B89-061E-4FC3-96C66523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BFF3-A493-94A2-1D2F-0663AA40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3507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0184-8640-55F5-FF95-BA4ABE97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C0E3-11BE-73E2-F9EE-7F4C25FCC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24E8A-9212-A290-C2F2-8A6077172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7787C-4CFC-4EAF-AC90-5CAE89AC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CE448-DC17-67F2-B957-DC57C93B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FA469-EE40-EEFB-7C85-6B544F27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3902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54F8-BAC1-43AA-B8B5-7D3FCE1A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A738F-D2B5-67D9-7E63-55A5716C045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50539-C67F-3EA0-C26E-4871F223A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3C5A6-E596-7F42-7304-A62788F6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8EB1E-9F96-A17E-5FF1-3856075A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C1C06-3B1C-ADFF-1130-4EFF5C2C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7447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799D-57A1-EDC1-9EB9-9DEF02A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9F024-6C42-3D65-B194-87B0D9B1D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272A-3C39-FD70-33A4-141CD67C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41BF9-9E2D-1BC7-42B3-635D26F80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C35F-4ED1-5C3C-4F3B-D96A1A0B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750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2E580-A69E-36A2-5D88-875EC267E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B483F-E03E-893C-8906-9D8827BE6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C091-9570-7B8C-4A85-FE0E7505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F7932-1BBD-76FB-B8D6-8780587C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6ED8-D14D-9563-0B18-3B6592DD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5844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6F635-8022-1EFF-4592-A3A2833CC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B10C9-F0B0-5667-C767-AD325466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AEE82-894F-B956-DEFB-9D393FE8A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D274A-AA61-934B-8F71-92718C455747}" type="datetimeFigureOut">
              <a:rPr lang="en-FR" smtClean="0"/>
              <a:t>9/27/26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8C171-A193-1884-269C-F0CA29EF2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96467-550A-4B3B-F786-C58E0F159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98575-60C5-C447-AD86-393117700403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6556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C17DB6-B60B-DD73-A910-50774E44CCCD}"/>
              </a:ext>
            </a:extLst>
          </p:cNvPr>
          <p:cNvSpPr/>
          <p:nvPr/>
        </p:nvSpPr>
        <p:spPr>
          <a:xfrm>
            <a:off x="0" y="1740"/>
            <a:ext cx="12192000" cy="6858000"/>
          </a:xfrm>
          <a:prstGeom prst="rect">
            <a:avLst/>
          </a:prstGeom>
          <a:solidFill>
            <a:srgbClr val="1E33C8"/>
          </a:solidFill>
          <a:ln>
            <a:solidFill>
              <a:srgbClr val="1E3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9CD38-3000-513F-DBA8-14B06955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276" y="676121"/>
            <a:ext cx="5437443" cy="16506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6E4442-10BD-D62C-A3E7-ACB52D789E25}"/>
              </a:ext>
            </a:extLst>
          </p:cNvPr>
          <p:cNvSpPr txBox="1"/>
          <p:nvPr/>
        </p:nvSpPr>
        <p:spPr>
          <a:xfrm>
            <a:off x="679447" y="2659994"/>
            <a:ext cx="1083309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rgbClr val="FFD709"/>
                </a:solidFill>
                <a:latin typeface="Impact" panose="020B0806030902050204" pitchFamily="34" charset="0"/>
                <a:cs typeface="Euphemia UCAS" panose="020B0503040102020104" pitchFamily="34" charset="-79"/>
              </a:rPr>
              <a:t>How data-driven recommendations can improve match quality while protecting user trust ?</a:t>
            </a:r>
          </a:p>
          <a:p>
            <a:pPr algn="ctr"/>
            <a:br>
              <a:rPr lang="en-GB" sz="4000">
                <a:solidFill>
                  <a:srgbClr val="FFD709"/>
                </a:solidFill>
                <a:latin typeface="Impact" panose="020B0806030902050204" pitchFamily="34" charset="0"/>
                <a:cs typeface="Euphemia UCAS" panose="020B0503040102020104" pitchFamily="34" charset="-79"/>
              </a:rPr>
            </a:br>
            <a:endParaRPr lang="en-FR" sz="4000">
              <a:solidFill>
                <a:srgbClr val="FFD709"/>
              </a:solidFill>
              <a:latin typeface="Impact" panose="020B0806030902050204" pitchFamily="34" charset="0"/>
              <a:cs typeface="Euphemia UCAS" panose="020B0503040102020104" pitchFamily="34" charset="-79"/>
            </a:endParaRPr>
          </a:p>
          <a:p>
            <a:pPr algn="ctr"/>
            <a:r>
              <a:rPr lang="en-FR" sz="1400">
                <a:solidFill>
                  <a:srgbClr val="FFD709"/>
                </a:solidFill>
                <a:latin typeface="DIN Alternate" panose="020B0500000000000000" pitchFamily="34" charset="77"/>
                <a:cs typeface="Euphemia UCAS" panose="020B0503040102020104" pitchFamily="34" charset="-79"/>
              </a:rPr>
              <a:t>Alec Seugnet, Simone Capizzi, Celia Morais, Julian Fix, Ithier d’Aramon, Justin Martin</a:t>
            </a:r>
          </a:p>
          <a:p>
            <a:pPr algn="ctr"/>
            <a:r>
              <a:rPr lang="en-FR" sz="1600">
                <a:solidFill>
                  <a:srgbClr val="FFD709"/>
                </a:solidFill>
                <a:latin typeface="DIN Alternate" panose="020B0500000000000000" pitchFamily="34" charset="77"/>
                <a:cs typeface="Euphemia UCAS" panose="020B0503040102020104" pitchFamily="34" charset="-79"/>
              </a:rPr>
              <a:t>28/09/2026 – ISAF Course</a:t>
            </a:r>
            <a:endParaRPr lang="en-FR" sz="900">
              <a:latin typeface="DIN Alternate" panose="020B0500000000000000" pitchFamily="34" charset="77"/>
            </a:endParaRPr>
          </a:p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4767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9164-D4DD-5E14-B88E-869C3748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28C3E-BAC3-D70A-2580-4A880ED6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55926-BAFB-ADED-D8D0-08D6743DB7E6}"/>
              </a:ext>
            </a:extLst>
          </p:cNvPr>
          <p:cNvSpPr txBox="1"/>
          <p:nvPr/>
        </p:nvSpPr>
        <p:spPr>
          <a:xfrm>
            <a:off x="0" y="32804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Who should we recommend?</a:t>
            </a:r>
          </a:p>
        </p:txBody>
      </p:sp>
      <p:sp>
        <p:nvSpPr>
          <p:cNvPr id="2" name="Merge 1">
            <a:extLst>
              <a:ext uri="{FF2B5EF4-FFF2-40B4-BE49-F238E27FC236}">
                <a16:creationId xmlns:a16="http://schemas.microsoft.com/office/drawing/2014/main" id="{FD2939ED-C3D5-6910-DA2C-C385AE9C9210}"/>
              </a:ext>
            </a:extLst>
          </p:cNvPr>
          <p:cNvSpPr/>
          <p:nvPr/>
        </p:nvSpPr>
        <p:spPr>
          <a:xfrm>
            <a:off x="964582" y="2127251"/>
            <a:ext cx="1930400" cy="2279051"/>
          </a:xfrm>
          <a:prstGeom prst="flowChartMerge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383B9-EB07-CAB6-C764-5024F2448B4D}"/>
              </a:ext>
            </a:extLst>
          </p:cNvPr>
          <p:cNvSpPr txBox="1"/>
          <p:nvPr/>
        </p:nvSpPr>
        <p:spPr>
          <a:xfrm>
            <a:off x="549917" y="1616494"/>
            <a:ext cx="275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Large catalogue of profiles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F347D-A94E-4640-8199-419999F77F3F}"/>
              </a:ext>
            </a:extLst>
          </p:cNvPr>
          <p:cNvSpPr txBox="1"/>
          <p:nvPr/>
        </p:nvSpPr>
        <p:spPr>
          <a:xfrm>
            <a:off x="621373" y="4547727"/>
            <a:ext cx="2616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Shortlist shown to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AD805-556E-46F0-1420-17AFCDC77C48}"/>
              </a:ext>
            </a:extLst>
          </p:cNvPr>
          <p:cNvSpPr txBox="1"/>
          <p:nvPr/>
        </p:nvSpPr>
        <p:spPr>
          <a:xfrm>
            <a:off x="621373" y="2812615"/>
            <a:ext cx="2616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>
                <a:solidFill>
                  <a:srgbClr val="1E33C8"/>
                </a:solidFill>
                <a:latin typeface="DIN Alternate" panose="020B0500000000000000" pitchFamily="34" charset="77"/>
              </a:rPr>
              <a:t> Recommendation</a:t>
            </a:r>
          </a:p>
          <a:p>
            <a:pPr algn="ctr"/>
            <a:r>
              <a:rPr lang="en-GB" sz="1200">
                <a:solidFill>
                  <a:srgbClr val="1E33C8"/>
                </a:solidFill>
                <a:latin typeface="DIN Alternate" panose="020B0500000000000000" pitchFamily="34" charset="77"/>
              </a:rPr>
              <a:t>engine</a:t>
            </a:r>
            <a:endParaRPr lang="en-FR" sz="1200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6ED58-8B8F-77FD-F80C-49E0BEFCCBD2}"/>
              </a:ext>
            </a:extLst>
          </p:cNvPr>
          <p:cNvSpPr txBox="1"/>
          <p:nvPr/>
        </p:nvSpPr>
        <p:spPr>
          <a:xfrm>
            <a:off x="4639056" y="2888703"/>
            <a:ext cx="74164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Model-based recommendations: 		match rate in the top decile</a:t>
            </a:r>
          </a:p>
          <a:p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Three candidate engines:</a:t>
            </a:r>
          </a:p>
          <a:p>
            <a:b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</a:b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52852-33D4-5F4C-45FA-B55B977E176F}"/>
              </a:ext>
            </a:extLst>
          </p:cNvPr>
          <p:cNvSpPr txBox="1"/>
          <p:nvPr/>
        </p:nvSpPr>
        <p:spPr>
          <a:xfrm>
            <a:off x="4639056" y="2127251"/>
            <a:ext cx="514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Random recommendations: 		    match rate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9F595C-75C3-DD42-AB8F-E2D147114932}"/>
              </a:ext>
            </a:extLst>
          </p:cNvPr>
          <p:cNvSpPr/>
          <p:nvPr/>
        </p:nvSpPr>
        <p:spPr>
          <a:xfrm>
            <a:off x="7482778" y="2127251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16.5%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5A5DCF4-A884-7E6E-C403-5FE52EEB5932}"/>
              </a:ext>
            </a:extLst>
          </p:cNvPr>
          <p:cNvSpPr/>
          <p:nvPr/>
        </p:nvSpPr>
        <p:spPr>
          <a:xfrm>
            <a:off x="8016178" y="2909088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29.8%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97E85D0-912B-8790-F740-5936323731EF}"/>
              </a:ext>
            </a:extLst>
          </p:cNvPr>
          <p:cNvSpPr/>
          <p:nvPr/>
        </p:nvSpPr>
        <p:spPr>
          <a:xfrm>
            <a:off x="4639056" y="4191477"/>
            <a:ext cx="2084832" cy="1133856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 Lasso Logistic Regression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FDCC12E-9F45-8D58-DCD8-4F9C3935794E}"/>
              </a:ext>
            </a:extLst>
          </p:cNvPr>
          <p:cNvSpPr/>
          <p:nvPr/>
        </p:nvSpPr>
        <p:spPr>
          <a:xfrm>
            <a:off x="7138416" y="4191477"/>
            <a:ext cx="2084832" cy="1133856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XGBoost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5EA111A-FA73-91E2-4D7B-863666695A9A}"/>
              </a:ext>
            </a:extLst>
          </p:cNvPr>
          <p:cNvSpPr/>
          <p:nvPr/>
        </p:nvSpPr>
        <p:spPr>
          <a:xfrm>
            <a:off x="9637776" y="4191477"/>
            <a:ext cx="2084832" cy="1133856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TabPFN</a:t>
            </a:r>
          </a:p>
        </p:txBody>
      </p:sp>
    </p:spTree>
    <p:extLst>
      <p:ext uri="{BB962C8B-B14F-4D97-AF65-F5344CB8AC3E}">
        <p14:creationId xmlns:p14="http://schemas.microsoft.com/office/powerpoint/2010/main" val="328662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B073-C514-B6C7-E5A4-B103A4C8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F05C1-FFA4-4060-FF6F-CEDD44A3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CCE825-AE87-92AF-9EC5-74D359171061}"/>
              </a:ext>
            </a:extLst>
          </p:cNvPr>
          <p:cNvSpPr txBox="1"/>
          <p:nvPr/>
        </p:nvSpPr>
        <p:spPr>
          <a:xfrm>
            <a:off x="0" y="32804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What the model predicts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33046-6548-5135-77ED-61B05A518579}"/>
              </a:ext>
            </a:extLst>
          </p:cNvPr>
          <p:cNvSpPr txBox="1"/>
          <p:nvPr/>
        </p:nvSpPr>
        <p:spPr>
          <a:xfrm>
            <a:off x="732627" y="1616494"/>
            <a:ext cx="6647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A match requires two independent decisions :</a:t>
            </a:r>
          </a:p>
          <a:p>
            <a:b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</a:b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B74A07-4989-93E3-6339-51E5750F5868}"/>
              </a:ext>
            </a:extLst>
          </p:cNvPr>
          <p:cNvSpPr/>
          <p:nvPr/>
        </p:nvSpPr>
        <p:spPr>
          <a:xfrm>
            <a:off x="849088" y="2306871"/>
            <a:ext cx="2084832" cy="701040"/>
          </a:xfrm>
          <a:prstGeom prst="roundRect">
            <a:avLst/>
          </a:prstGeom>
          <a:solidFill>
            <a:srgbClr val="1E3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FFD709"/>
                </a:solidFill>
              </a:rPr>
              <a:t>She says yes</a:t>
            </a:r>
            <a:endParaRPr lang="en-FR">
              <a:solidFill>
                <a:srgbClr val="FFD709"/>
              </a:solidFill>
              <a:latin typeface="DIN Alternate" panose="020B0500000000000000" pitchFamily="34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2F2B26-ADDF-191B-370B-DFDCFCEAA39A}"/>
              </a:ext>
            </a:extLst>
          </p:cNvPr>
          <p:cNvSpPr/>
          <p:nvPr/>
        </p:nvSpPr>
        <p:spPr>
          <a:xfrm>
            <a:off x="6026327" y="2314678"/>
            <a:ext cx="2084832" cy="701040"/>
          </a:xfrm>
          <a:prstGeom prst="roundRect">
            <a:avLst/>
          </a:prstGeom>
          <a:solidFill>
            <a:srgbClr val="1E3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FFD709"/>
                </a:solidFill>
                <a:latin typeface="DIN Alternate" panose="020B0500000000000000" pitchFamily="34" charset="77"/>
              </a:rPr>
              <a:t>He says 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E0485A-1E1B-912C-EF6C-45D480BFCF84}"/>
              </a:ext>
            </a:extLst>
          </p:cNvPr>
          <p:cNvSpPr txBox="1"/>
          <p:nvPr/>
        </p:nvSpPr>
        <p:spPr>
          <a:xfrm>
            <a:off x="3536332" y="2426558"/>
            <a:ext cx="1887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2400">
                <a:solidFill>
                  <a:srgbClr val="FFD709"/>
                </a:solidFill>
                <a:latin typeface="DIN Alternate" panose="020B0500000000000000" pitchFamily="34" charset="77"/>
                <a:cs typeface="Euphemia UCAS" panose="020B0503040102020104" pitchFamily="34" charset="-79"/>
              </a:rPr>
              <a:t>AND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E7938977-2FD6-BD00-FBEF-56346632463E}"/>
              </a:ext>
            </a:extLst>
          </p:cNvPr>
          <p:cNvSpPr/>
          <p:nvPr/>
        </p:nvSpPr>
        <p:spPr>
          <a:xfrm rot="5400000">
            <a:off x="1493680" y="3506915"/>
            <a:ext cx="795647" cy="360970"/>
          </a:xfrm>
          <a:prstGeom prst="rightArrow">
            <a:avLst/>
          </a:prstGeom>
          <a:solidFill>
            <a:srgbClr val="FFD709"/>
          </a:solidFill>
          <a:ln>
            <a:solidFill>
              <a:srgbClr val="FFD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AA25B4DB-6D29-C088-D445-2C365FFA4FB7}"/>
              </a:ext>
            </a:extLst>
          </p:cNvPr>
          <p:cNvSpPr/>
          <p:nvPr/>
        </p:nvSpPr>
        <p:spPr>
          <a:xfrm rot="5400000">
            <a:off x="6819839" y="3499108"/>
            <a:ext cx="795647" cy="360970"/>
          </a:xfrm>
          <a:prstGeom prst="rightArrow">
            <a:avLst/>
          </a:prstGeom>
          <a:solidFill>
            <a:srgbClr val="FFD709"/>
          </a:solidFill>
          <a:ln>
            <a:solidFill>
              <a:srgbClr val="FFD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B17454-427B-DA41-19B4-075562C2D916}"/>
              </a:ext>
            </a:extLst>
          </p:cNvPr>
          <p:cNvSpPr txBox="1"/>
          <p:nvPr/>
        </p:nvSpPr>
        <p:spPr>
          <a:xfrm>
            <a:off x="1200127" y="4182223"/>
            <a:ext cx="138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Probability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0C813-3721-2A8B-25AD-FBA07110E2E4}"/>
              </a:ext>
            </a:extLst>
          </p:cNvPr>
          <p:cNvSpPr txBox="1"/>
          <p:nvPr/>
        </p:nvSpPr>
        <p:spPr>
          <a:xfrm>
            <a:off x="6526286" y="4182223"/>
            <a:ext cx="138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Probability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41F84A-6BC5-EA09-347D-F27AF34A0589}"/>
              </a:ext>
            </a:extLst>
          </p:cNvPr>
          <p:cNvSpPr txBox="1"/>
          <p:nvPr/>
        </p:nvSpPr>
        <p:spPr>
          <a:xfrm>
            <a:off x="3029493" y="5452669"/>
            <a:ext cx="305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Pair recommendation score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923D3FFA-19D9-0FFA-AFE7-EE0D2A03DC81}"/>
              </a:ext>
            </a:extLst>
          </p:cNvPr>
          <p:cNvSpPr/>
          <p:nvPr/>
        </p:nvSpPr>
        <p:spPr>
          <a:xfrm rot="5400000">
            <a:off x="4213247" y="2327894"/>
            <a:ext cx="691376" cy="5329646"/>
          </a:xfrm>
          <a:prstGeom prst="rightBrace">
            <a:avLst>
              <a:gd name="adj1" fmla="val 42342"/>
              <a:gd name="adj2" fmla="val 50000"/>
            </a:avLst>
          </a:prstGeom>
          <a:noFill/>
          <a:ln>
            <a:solidFill>
              <a:srgbClr val="FFD7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0369E0-849C-DED8-4291-87CDDCF0EE9F}"/>
              </a:ext>
            </a:extLst>
          </p:cNvPr>
          <p:cNvSpPr txBox="1"/>
          <p:nvPr/>
        </p:nvSpPr>
        <p:spPr>
          <a:xfrm>
            <a:off x="8337474" y="2426558"/>
            <a:ext cx="385147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The model predicts each person’s decision separately</a:t>
            </a:r>
            <a:b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</a:br>
            <a:endParaRPr lang="en-GB" sz="1800" b="0" i="0">
              <a:solidFill>
                <a:srgbClr val="1E33C8"/>
              </a:solidFill>
              <a:effectLst/>
              <a:latin typeface="DIN Alternate" panose="020B0500000000000000" pitchFamily="34" charset="77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The two probabilities are multiplied to obtain the pair score.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This reflects the real product outcome: both users must be interested</a:t>
            </a:r>
            <a:b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</a:br>
            <a:endParaRPr lang="en-FR" sz="1000" b="0" i="0">
              <a:solidFill>
                <a:srgbClr val="1E33C8"/>
              </a:solidFill>
              <a:effectLst/>
              <a:latin typeface="DIN Alternate" panose="020B0500000000000000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488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5237A-9E43-1A21-EFBC-26163C22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E0E6D-70AD-883C-1A24-785C0B58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5D7EC1-FE74-A8F8-6BD5-2F8459E88F7B}"/>
              </a:ext>
            </a:extLst>
          </p:cNvPr>
          <p:cNvSpPr txBox="1"/>
          <p:nvPr/>
        </p:nvSpPr>
        <p:spPr>
          <a:xfrm>
            <a:off x="3858768" y="328040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The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027CE-9FF7-5DD7-31CB-F5AE8F8FF7E8}"/>
              </a:ext>
            </a:extLst>
          </p:cNvPr>
          <p:cNvSpPr txBox="1"/>
          <p:nvPr/>
        </p:nvSpPr>
        <p:spPr>
          <a:xfrm>
            <a:off x="4639056" y="6328968"/>
            <a:ext cx="224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Protected atribute is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D8B92F-5BFB-125E-F93E-CC8D5DCD2835}"/>
              </a:ext>
            </a:extLst>
          </p:cNvPr>
          <p:cNvSpPr/>
          <p:nvPr/>
        </p:nvSpPr>
        <p:spPr>
          <a:xfrm>
            <a:off x="6723888" y="6328968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ethnicity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C6E1D7-E6A7-7062-75B1-883E0E3FE422}"/>
              </a:ext>
            </a:extLst>
          </p:cNvPr>
          <p:cNvCxnSpPr>
            <a:cxnSpLocks/>
          </p:cNvCxnSpPr>
          <p:nvPr/>
        </p:nvCxnSpPr>
        <p:spPr>
          <a:xfrm>
            <a:off x="6154664" y="1660981"/>
            <a:ext cx="0" cy="3682916"/>
          </a:xfrm>
          <a:prstGeom prst="line">
            <a:avLst/>
          </a:prstGeom>
          <a:ln>
            <a:solidFill>
              <a:srgbClr val="FFD7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9618DC-AE17-08B0-1304-8CE7050E9B14}"/>
              </a:ext>
            </a:extLst>
          </p:cNvPr>
          <p:cNvSpPr txBox="1"/>
          <p:nvPr/>
        </p:nvSpPr>
        <p:spPr>
          <a:xfrm>
            <a:off x="217168" y="1843167"/>
            <a:ext cx="575498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b="1">
                <a:solidFill>
                  <a:srgbClr val="1E33C8"/>
                </a:solidFill>
                <a:latin typeface="DIN Alternate" panose="020B0500000000000000" pitchFamily="34" charset="77"/>
              </a:rPr>
              <a:t>Study from Columbia University</a:t>
            </a:r>
          </a:p>
          <a:p>
            <a:pPr algn="just"/>
            <a:r>
              <a:rPr lang="en-GB" sz="1200">
                <a:solidFill>
                  <a:srgbClr val="1E33C8"/>
                </a:solidFill>
                <a:latin typeface="DIN Alternate" panose="020B0500000000000000" pitchFamily="34" charset="77"/>
              </a:rPr>
              <a:t>Source : </a:t>
            </a:r>
            <a:r>
              <a:rPr lang="en-GB" sz="1200" i="1">
                <a:solidFill>
                  <a:srgbClr val="1E33C8"/>
                </a:solidFill>
                <a:latin typeface="DIN Alternate" panose="020B0500000000000000" pitchFamily="34" charset="77"/>
              </a:rPr>
              <a:t>Fisman, Iyengar, </a:t>
            </a:r>
            <a:r>
              <a:rPr lang="en-GB" sz="1200" i="1" err="1">
                <a:solidFill>
                  <a:srgbClr val="1E33C8"/>
                </a:solidFill>
                <a:latin typeface="DIN Alternate" panose="020B0500000000000000" pitchFamily="34" charset="77"/>
              </a:rPr>
              <a:t>Kamenica</a:t>
            </a:r>
            <a:r>
              <a:rPr lang="en-GB" sz="1200" i="1">
                <a:solidFill>
                  <a:srgbClr val="1E33C8"/>
                </a:solidFill>
                <a:latin typeface="DIN Alternate" panose="020B0500000000000000" pitchFamily="34" charset="77"/>
              </a:rPr>
              <a:t> &amp; Simonson (2006), QJE — Speed Dating Experiment</a:t>
            </a:r>
          </a:p>
          <a:p>
            <a:pPr algn="just"/>
            <a:endParaRPr lang="en-FR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8,378 rows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4,184 pairs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551 participants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21 waves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16.5% match</a:t>
            </a:r>
          </a:p>
          <a:p>
            <a:pPr algn="just"/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195 features</a:t>
            </a:r>
          </a:p>
          <a:p>
            <a:pPr algn="just"/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1EA82-1BFD-42D7-9827-233F191783BD}"/>
              </a:ext>
            </a:extLst>
          </p:cNvPr>
          <p:cNvSpPr txBox="1"/>
          <p:nvPr/>
        </p:nvSpPr>
        <p:spPr>
          <a:xfrm>
            <a:off x="6337175" y="1660981"/>
            <a:ext cx="54429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FR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Each date appears twice, once from each side → one row per pair, her_* / his_*</a:t>
            </a:r>
          </a:p>
          <a:p>
            <a:pPr algn="just"/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108 of the 195 columns are filled in during or after the date → leakage, removed</a:t>
            </a:r>
          </a:p>
          <a:p>
            <a:pPr algn="just"/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Income is missing for 62% of Latino and 60% of Asian participants against 31% of Black 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5DE3E9-6E23-5C4B-2F5A-C84467FD0BA6}"/>
              </a:ext>
            </a:extLst>
          </p:cNvPr>
          <p:cNvSpPr/>
          <p:nvPr/>
        </p:nvSpPr>
        <p:spPr>
          <a:xfrm>
            <a:off x="2561261" y="1132137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Before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184278-45DC-CB92-9FB0-A00E8D499945}"/>
              </a:ext>
            </a:extLst>
          </p:cNvPr>
          <p:cNvSpPr/>
          <p:nvPr/>
        </p:nvSpPr>
        <p:spPr>
          <a:xfrm>
            <a:off x="8616495" y="1132137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After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AFD24-6387-9E83-823B-EEB2D46627ED}"/>
              </a:ext>
            </a:extLst>
          </p:cNvPr>
          <p:cNvSpPr txBox="1"/>
          <p:nvPr/>
        </p:nvSpPr>
        <p:spPr>
          <a:xfrm>
            <a:off x="4639056" y="589408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Target feature is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68C6C5C-C7C6-5A4D-0463-B0D3CB52D623}"/>
              </a:ext>
            </a:extLst>
          </p:cNvPr>
          <p:cNvSpPr/>
          <p:nvPr/>
        </p:nvSpPr>
        <p:spPr>
          <a:xfrm>
            <a:off x="6723888" y="5894087"/>
            <a:ext cx="1066800" cy="369332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match</a:t>
            </a:r>
          </a:p>
        </p:txBody>
      </p:sp>
    </p:spTree>
    <p:extLst>
      <p:ext uri="{BB962C8B-B14F-4D97-AF65-F5344CB8AC3E}">
        <p14:creationId xmlns:p14="http://schemas.microsoft.com/office/powerpoint/2010/main" val="48521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0DD0-89EB-1F51-94A4-F41F6433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4F17D0-6E8B-0B09-3E90-88A0BAAD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54AF2-4871-1863-C906-ED7EA71583CE}"/>
              </a:ext>
            </a:extLst>
          </p:cNvPr>
          <p:cNvSpPr txBox="1"/>
          <p:nvPr/>
        </p:nvSpPr>
        <p:spPr>
          <a:xfrm>
            <a:off x="3858768" y="328040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Business model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AB6FD1-1941-B827-C74C-2E88C2808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16" t="12553" r="8774" b="12997"/>
          <a:stretch>
            <a:fillRect/>
          </a:stretch>
        </p:blipFill>
        <p:spPr>
          <a:xfrm>
            <a:off x="1823243" y="1610261"/>
            <a:ext cx="568678" cy="721939"/>
          </a:xfrm>
          <a:prstGeom prst="round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2E1F816-3E4A-12EB-3B91-26F56B2215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92" t="14730" r="41591" b="52384"/>
          <a:stretch>
            <a:fillRect/>
          </a:stretch>
        </p:blipFill>
        <p:spPr>
          <a:xfrm>
            <a:off x="5796223" y="1667231"/>
            <a:ext cx="599553" cy="607997"/>
          </a:xfrm>
          <a:prstGeom prst="round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BF79FA-5B0E-7C10-5525-7288F47C24B6}"/>
              </a:ext>
            </a:extLst>
          </p:cNvPr>
          <p:cNvSpPr txBox="1"/>
          <p:nvPr/>
        </p:nvSpPr>
        <p:spPr>
          <a:xfrm>
            <a:off x="135646" y="3082764"/>
            <a:ext cx="372312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Monthly subscription unlocks algorithmic recommendations instead of random matching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GB" sz="1800" b="0" i="0">
              <a:solidFill>
                <a:srgbClr val="1E33C8"/>
              </a:solidFill>
              <a:effectLst/>
              <a:latin typeface="DIN Alternate" panose="020B0500000000000000" pitchFamily="34" charset="77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The advantage should remain calibrated: enough to create value without making the user experience feel “solved” too quickly</a:t>
            </a:r>
            <a:endParaRPr lang="en-FR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FR" sz="1000" b="0" i="0">
              <a:solidFill>
                <a:srgbClr val="1E33C8"/>
              </a:solidFill>
              <a:effectLst/>
              <a:latin typeface="DIN Alternate" panose="020B0500000000000000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8D8DE5-6086-6404-CB40-CB8BB25D8B4A}"/>
              </a:ext>
            </a:extLst>
          </p:cNvPr>
          <p:cNvSpPr txBox="1"/>
          <p:nvPr/>
        </p:nvSpPr>
        <p:spPr>
          <a:xfrm>
            <a:off x="1474236" y="2340394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Subscribes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554859AB-9884-EC15-584F-9CBB9F5770C0}"/>
              </a:ext>
            </a:extLst>
          </p:cNvPr>
          <p:cNvSpPr/>
          <p:nvPr/>
        </p:nvSpPr>
        <p:spPr>
          <a:xfrm>
            <a:off x="3696248" y="1790745"/>
            <a:ext cx="795647" cy="360970"/>
          </a:xfrm>
          <a:prstGeom prst="rightArrow">
            <a:avLst/>
          </a:prstGeom>
          <a:solidFill>
            <a:srgbClr val="FFD709"/>
          </a:solidFill>
          <a:ln>
            <a:solidFill>
              <a:srgbClr val="FFD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C6BFE-79B0-6D17-46BB-CE85FCDAB5E9}"/>
              </a:ext>
            </a:extLst>
          </p:cNvPr>
          <p:cNvSpPr txBox="1"/>
          <p:nvPr/>
        </p:nvSpPr>
        <p:spPr>
          <a:xfrm>
            <a:off x="4801901" y="2275228"/>
            <a:ext cx="258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Better recommandations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5CF83E-D626-9B49-A1FC-8033C84C3594}"/>
              </a:ext>
            </a:extLst>
          </p:cNvPr>
          <p:cNvGrpSpPr/>
          <p:nvPr/>
        </p:nvGrpSpPr>
        <p:grpSpPr>
          <a:xfrm>
            <a:off x="9659944" y="1610261"/>
            <a:ext cx="599553" cy="605594"/>
            <a:chOff x="8680862" y="1474032"/>
            <a:chExt cx="914400" cy="914400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44D152BC-9B47-AE88-279E-CD72F3765102}"/>
                </a:ext>
              </a:extLst>
            </p:cNvPr>
            <p:cNvSpPr/>
            <p:nvPr/>
          </p:nvSpPr>
          <p:spPr>
            <a:xfrm>
              <a:off x="8680862" y="1474032"/>
              <a:ext cx="914400" cy="914400"/>
            </a:xfrm>
            <a:prstGeom prst="roundRect">
              <a:avLst/>
            </a:prstGeom>
            <a:solidFill>
              <a:srgbClr val="1E33C8"/>
            </a:solidFill>
            <a:ln>
              <a:solidFill>
                <a:srgbClr val="1E33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6FA8AA8-BD6F-3842-CE3B-7F336B722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8679" y="1551321"/>
              <a:ext cx="823141" cy="759822"/>
            </a:xfrm>
            <a:prstGeom prst="rect">
              <a:avLst/>
            </a:prstGeom>
          </p:spPr>
        </p:pic>
      </p:grpSp>
      <p:sp>
        <p:nvSpPr>
          <p:cNvPr id="32" name="Right Arrow 31">
            <a:extLst>
              <a:ext uri="{FF2B5EF4-FFF2-40B4-BE49-F238E27FC236}">
                <a16:creationId xmlns:a16="http://schemas.microsoft.com/office/drawing/2014/main" id="{DA1748B0-E76C-8BCF-E18E-DCE4EC0FBC17}"/>
              </a:ext>
            </a:extLst>
          </p:cNvPr>
          <p:cNvSpPr/>
          <p:nvPr/>
        </p:nvSpPr>
        <p:spPr>
          <a:xfrm>
            <a:off x="7700104" y="1790744"/>
            <a:ext cx="795647" cy="360970"/>
          </a:xfrm>
          <a:prstGeom prst="rightArrow">
            <a:avLst/>
          </a:prstGeom>
          <a:solidFill>
            <a:srgbClr val="FFD709"/>
          </a:solidFill>
          <a:ln>
            <a:solidFill>
              <a:srgbClr val="FFD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78DC0D-C0C4-9FB5-1E5E-BA2E65FDD031}"/>
              </a:ext>
            </a:extLst>
          </p:cNvPr>
          <p:cNvSpPr txBox="1"/>
          <p:nvPr/>
        </p:nvSpPr>
        <p:spPr>
          <a:xfrm>
            <a:off x="8867532" y="2214654"/>
            <a:ext cx="2119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Retention</a:t>
            </a:r>
            <a:b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</a:br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+ recurring revenue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6B2BD-4611-812B-98D8-01BF3D901889}"/>
              </a:ext>
            </a:extLst>
          </p:cNvPr>
          <p:cNvSpPr txBox="1"/>
          <p:nvPr/>
        </p:nvSpPr>
        <p:spPr>
          <a:xfrm>
            <a:off x="4315997" y="3082764"/>
            <a:ext cx="7464111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Recurring subscription revenue from premium users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Higher retention and lower churn through a more satisfying matching experience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R="0" lvl="0" algn="just">
              <a:spcBef>
                <a:spcPts val="300"/>
              </a:spcBef>
              <a:spcAft>
                <a:spcPts val="300"/>
              </a:spcAft>
            </a:pP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  <a:sym typeface="Wingdings" pitchFamily="2" charset="2"/>
              </a:rPr>
              <a:t> À </a:t>
            </a:r>
            <a:r>
              <a:rPr lang="en-GB" err="1">
                <a:solidFill>
                  <a:srgbClr val="1E33C8"/>
                </a:solidFill>
                <a:latin typeface="DIN Alternate" panose="020B0500000000000000" pitchFamily="34" charset="77"/>
                <a:sym typeface="Wingdings" pitchFamily="2" charset="2"/>
              </a:rPr>
              <a:t>remplacer</a:t>
            </a: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  <a:sym typeface="Wingdings" pitchFamily="2" charset="2"/>
              </a:rPr>
              <a:t> par les </a:t>
            </a:r>
            <a:r>
              <a:rPr lang="en-GB" err="1">
                <a:solidFill>
                  <a:srgbClr val="1E33C8"/>
                </a:solidFill>
                <a:latin typeface="DIN Alternate" panose="020B0500000000000000" pitchFamily="34" charset="77"/>
                <a:sym typeface="Wingdings" pitchFamily="2" charset="2"/>
              </a:rPr>
              <a:t>vrais</a:t>
            </a:r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  <a:sym typeface="Wingdings" pitchFamily="2" charset="2"/>
              </a:rPr>
              <a:t> chiffres après : </a:t>
            </a:r>
            <a:endParaRPr lang="en-GB">
              <a:solidFill>
                <a:srgbClr val="1E33C8"/>
              </a:solidFill>
              <a:latin typeface="DIN Alternate" panose="020B0500000000000000" pitchFamily="34" charset="77"/>
            </a:endParaRP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Estimate the inference cost of running the model per user and per month.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Benchmark against the share of users already paying for premium features on platforms such as Tinder or Hinge.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Set the subscription price above the variable recommendation cost while remaining competitive with existing premium plans.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800" b="0" i="0">
                <a:solidFill>
                  <a:srgbClr val="1E33C8"/>
                </a:solidFill>
                <a:effectLst/>
                <a:latin typeface="DIN Alternate" panose="020B0500000000000000" pitchFamily="34" charset="77"/>
              </a:rPr>
              <a:t>Monitor the trade-off between recommendation performance, user retention, and profitability.</a:t>
            </a:r>
          </a:p>
          <a:p>
            <a:pPr marL="342900" marR="0" lvl="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800" b="0" i="0">
              <a:solidFill>
                <a:srgbClr val="1E33C8"/>
              </a:solidFill>
              <a:effectLst/>
              <a:latin typeface="DIN Alternate" panose="020B0500000000000000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0774CA-9EA9-0E33-C9F8-10DC21452FDD}"/>
              </a:ext>
            </a:extLst>
          </p:cNvPr>
          <p:cNvCxnSpPr>
            <a:cxnSpLocks/>
          </p:cNvCxnSpPr>
          <p:nvPr/>
        </p:nvCxnSpPr>
        <p:spPr>
          <a:xfrm>
            <a:off x="4087382" y="2644560"/>
            <a:ext cx="0" cy="3682916"/>
          </a:xfrm>
          <a:prstGeom prst="line">
            <a:avLst/>
          </a:prstGeom>
          <a:ln>
            <a:solidFill>
              <a:srgbClr val="FFD7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2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7D98-BFF5-F311-C7B9-6457F9E6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C88FC8-0A64-562E-DD2A-4887117F1DDA}"/>
              </a:ext>
            </a:extLst>
          </p:cNvPr>
          <p:cNvSpPr txBox="1"/>
          <p:nvPr/>
        </p:nvSpPr>
        <p:spPr>
          <a:xfrm>
            <a:off x="2841004" y="334386"/>
            <a:ext cx="6509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Statistical performance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E502BC-9614-1B50-87FF-0033C7BB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1AC3C2-FEBE-50C3-6228-9F13BDAA0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156295"/>
              </p:ext>
            </p:extLst>
          </p:nvPr>
        </p:nvGraphicFramePr>
        <p:xfrm>
          <a:off x="1540690" y="1978842"/>
          <a:ext cx="9110620" cy="290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655">
                  <a:extLst>
                    <a:ext uri="{9D8B030D-6E8A-4147-A177-3AD203B41FA5}">
                      <a16:colId xmlns:a16="http://schemas.microsoft.com/office/drawing/2014/main" val="1747214992"/>
                    </a:ext>
                  </a:extLst>
                </a:gridCol>
                <a:gridCol w="2277655">
                  <a:extLst>
                    <a:ext uri="{9D8B030D-6E8A-4147-A177-3AD203B41FA5}">
                      <a16:colId xmlns:a16="http://schemas.microsoft.com/office/drawing/2014/main" val="2085861457"/>
                    </a:ext>
                  </a:extLst>
                </a:gridCol>
                <a:gridCol w="2277655">
                  <a:extLst>
                    <a:ext uri="{9D8B030D-6E8A-4147-A177-3AD203B41FA5}">
                      <a16:colId xmlns:a16="http://schemas.microsoft.com/office/drawing/2014/main" val="4230564717"/>
                    </a:ext>
                  </a:extLst>
                </a:gridCol>
                <a:gridCol w="2277655">
                  <a:extLst>
                    <a:ext uri="{9D8B030D-6E8A-4147-A177-3AD203B41FA5}">
                      <a16:colId xmlns:a16="http://schemas.microsoft.com/office/drawing/2014/main" val="2255819184"/>
                    </a:ext>
                  </a:extLst>
                </a:gridCol>
              </a:tblGrid>
              <a:tr h="678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8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Engine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PR-AUC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Top-decile match rate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Lift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675636"/>
                  </a:ext>
                </a:extLst>
              </a:tr>
              <a:tr h="1016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Lasso logistic regression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0.228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1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29.8%</a:t>
                      </a:r>
                      <a:endParaRPr lang="en-FR" sz="1800" b="0" i="0">
                        <a:solidFill>
                          <a:srgbClr val="FFD709"/>
                        </a:solidFill>
                        <a:effectLst/>
                        <a:latin typeface="DIN Alternate" panose="020B0500000000000000" pitchFamily="34" charset="77"/>
                      </a:endParaRP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1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1.81x</a:t>
                      </a:r>
                      <a:endParaRPr lang="en-FR" sz="1800" b="0" i="0">
                        <a:solidFill>
                          <a:srgbClr val="FFD709"/>
                        </a:solidFill>
                        <a:effectLst/>
                        <a:latin typeface="DIN Alternate" panose="020B0500000000000000" pitchFamily="34" charset="77"/>
                      </a:endParaRP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473434"/>
                  </a:ext>
                </a:extLst>
              </a:tr>
              <a:tr h="603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XGBoost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0.218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28.6%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1.74x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169807"/>
                  </a:ext>
                </a:extLst>
              </a:tr>
              <a:tr h="603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TabPFN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1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0.234</a:t>
                      </a:r>
                      <a:endParaRPr lang="en-FR" sz="1800" b="0" i="0">
                        <a:solidFill>
                          <a:srgbClr val="FFD709"/>
                        </a:solidFill>
                        <a:effectLst/>
                        <a:latin typeface="DIN Alternate" panose="020B0500000000000000" pitchFamily="34" charset="77"/>
                      </a:endParaRP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28.9%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8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1.75x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045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8D3213-E197-8603-B811-33C874697369}"/>
              </a:ext>
            </a:extLst>
          </p:cNvPr>
          <p:cNvSpPr txBox="1"/>
          <p:nvPr/>
        </p:nvSpPr>
        <p:spPr>
          <a:xfrm>
            <a:off x="1332411" y="5384841"/>
            <a:ext cx="8640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</a:t>
            </a:r>
            <a:r>
              <a:rPr lang="en-FR"/>
              <a:t>eut-être plutot mttre le bar chart avc le threshold (ce que justin a fait sur le streamlit)</a:t>
            </a:r>
          </a:p>
        </p:txBody>
      </p:sp>
    </p:spTree>
    <p:extLst>
      <p:ext uri="{BB962C8B-B14F-4D97-AF65-F5344CB8AC3E}">
        <p14:creationId xmlns:p14="http://schemas.microsoft.com/office/powerpoint/2010/main" val="420951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4646-03CF-1F16-38E5-9B9B8A08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95F1D7-0156-6E53-19EF-CCBEB1AE75AF}"/>
              </a:ext>
            </a:extLst>
          </p:cNvPr>
          <p:cNvSpPr txBox="1"/>
          <p:nvPr/>
        </p:nvSpPr>
        <p:spPr>
          <a:xfrm>
            <a:off x="2101947" y="308260"/>
            <a:ext cx="7988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Business value of a shortlist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1BF42F-67A3-3FE2-6088-1F86CE2B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48D5E0-5BB9-51E9-0026-5234147AD3AE}"/>
              </a:ext>
            </a:extLst>
          </p:cNvPr>
          <p:cNvSpPr txBox="1"/>
          <p:nvPr/>
        </p:nvSpPr>
        <p:spPr>
          <a:xfrm>
            <a:off x="3029493" y="1779458"/>
            <a:ext cx="6133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>
                <a:solidFill>
                  <a:srgbClr val="1E33C8"/>
                </a:solidFill>
                <a:latin typeface="DIN Alternate" panose="020B0500000000000000" pitchFamily="34" charset="77"/>
              </a:rPr>
              <a:t>At a 10% shortlist, the engine creates approximately 133 additional matches per 1,000 recommendations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A9A2E9-78A7-569E-5659-6E5A2A1121F3}"/>
              </a:ext>
            </a:extLst>
          </p:cNvPr>
          <p:cNvCxnSpPr>
            <a:cxnSpLocks/>
          </p:cNvCxnSpPr>
          <p:nvPr/>
        </p:nvCxnSpPr>
        <p:spPr>
          <a:xfrm flipH="1">
            <a:off x="3222171" y="2612572"/>
            <a:ext cx="5747657" cy="0"/>
          </a:xfrm>
          <a:prstGeom prst="line">
            <a:avLst/>
          </a:prstGeom>
          <a:ln>
            <a:solidFill>
              <a:srgbClr val="FFD7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77243DB-8907-5511-44B6-8FC8F62ED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88848"/>
              </p:ext>
            </p:extLst>
          </p:nvPr>
        </p:nvGraphicFramePr>
        <p:xfrm>
          <a:off x="2679516" y="2982054"/>
          <a:ext cx="6832965" cy="290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655">
                  <a:extLst>
                    <a:ext uri="{9D8B030D-6E8A-4147-A177-3AD203B41FA5}">
                      <a16:colId xmlns:a16="http://schemas.microsoft.com/office/drawing/2014/main" val="1747214992"/>
                    </a:ext>
                  </a:extLst>
                </a:gridCol>
                <a:gridCol w="2277655">
                  <a:extLst>
                    <a:ext uri="{9D8B030D-6E8A-4147-A177-3AD203B41FA5}">
                      <a16:colId xmlns:a16="http://schemas.microsoft.com/office/drawing/2014/main" val="2085861457"/>
                    </a:ext>
                  </a:extLst>
                </a:gridCol>
                <a:gridCol w="2277655">
                  <a:extLst>
                    <a:ext uri="{9D8B030D-6E8A-4147-A177-3AD203B41FA5}">
                      <a16:colId xmlns:a16="http://schemas.microsoft.com/office/drawing/2014/main" val="4230564717"/>
                    </a:ext>
                  </a:extLst>
                </a:gridCol>
              </a:tblGrid>
              <a:tr h="678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6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Share of catalogue shown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Matches per 1,000 shown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1E33C8"/>
                          </a:solidFill>
                          <a:effectLst/>
                          <a:latin typeface="DIN Alternate" panose="020B0500000000000000" pitchFamily="34" charset="77"/>
                        </a:rPr>
                        <a:t>Extra matches vs random</a:t>
                      </a:r>
                    </a:p>
                  </a:txBody>
                  <a:tcPr marL="57150" marR="57150" marT="38100" marB="38100" anchor="ctr">
                    <a:solidFill>
                      <a:srgbClr val="FFD7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675636"/>
                  </a:ext>
                </a:extLst>
              </a:tr>
              <a:tr h="1016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Top 5%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314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+149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473434"/>
                  </a:ext>
                </a:extLst>
              </a:tr>
              <a:tr h="603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Top 10%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298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+133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169807"/>
                  </a:ext>
                </a:extLst>
              </a:tr>
              <a:tr h="603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Top 20%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235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1600" b="0" i="0">
                          <a:solidFill>
                            <a:srgbClr val="FFD709"/>
                          </a:solidFill>
                          <a:effectLst/>
                          <a:latin typeface="DIN Alternate" panose="020B0500000000000000" pitchFamily="34" charset="77"/>
                        </a:rPr>
                        <a:t>+70</a:t>
                      </a:r>
                    </a:p>
                  </a:txBody>
                  <a:tcPr marL="57150" marR="57150" marT="38100" marB="38100" anchor="ctr">
                    <a:solidFill>
                      <a:srgbClr val="1E3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04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98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C9A4-0D28-9906-583B-34CAD1D0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35F0E525-40F9-C9B7-5ECE-E77CBA36EDEF}"/>
              </a:ext>
            </a:extLst>
          </p:cNvPr>
          <p:cNvSpPr/>
          <p:nvPr/>
        </p:nvSpPr>
        <p:spPr>
          <a:xfrm>
            <a:off x="3986170" y="2675240"/>
            <a:ext cx="2264229" cy="1836797"/>
          </a:xfrm>
          <a:prstGeom prst="roundRect">
            <a:avLst>
              <a:gd name="adj" fmla="val 9746"/>
            </a:avLst>
          </a:prstGeom>
          <a:solidFill>
            <a:srgbClr val="1E3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400" b="1">
              <a:solidFill>
                <a:srgbClr val="FFD709"/>
              </a:solidFill>
              <a:latin typeface="DIN Alternate" panose="020B0500000000000000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416A7-2000-4A3B-749F-B5A68B2D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3D83E6-05CD-D5CD-C291-8DAB563EC156}"/>
              </a:ext>
            </a:extLst>
          </p:cNvPr>
          <p:cNvSpPr txBox="1"/>
          <p:nvPr/>
        </p:nvSpPr>
        <p:spPr>
          <a:xfrm>
            <a:off x="3858768" y="268224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Performance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1E366F85-162B-A753-3B75-22A587590B06}"/>
              </a:ext>
            </a:extLst>
          </p:cNvPr>
          <p:cNvSpPr/>
          <p:nvPr/>
        </p:nvSpPr>
        <p:spPr>
          <a:xfrm>
            <a:off x="771709" y="2675241"/>
            <a:ext cx="2264229" cy="1836797"/>
          </a:xfrm>
          <a:prstGeom prst="roundRect">
            <a:avLst>
              <a:gd name="adj" fmla="val 974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400" b="1">
              <a:solidFill>
                <a:srgbClr val="FFD709"/>
              </a:solidFill>
              <a:latin typeface="DIN Alternate" panose="020B0500000000000000" pitchFamily="34" charset="77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3173F4-B514-77EC-7E1C-0FF729809B57}"/>
              </a:ext>
            </a:extLst>
          </p:cNvPr>
          <p:cNvSpPr txBox="1"/>
          <p:nvPr/>
        </p:nvSpPr>
        <p:spPr>
          <a:xfrm>
            <a:off x="4024861" y="3618086"/>
            <a:ext cx="236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Top 10% Match Rate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545D0A7-D95E-7774-960B-534ECB5CBAB0}"/>
              </a:ext>
            </a:extLst>
          </p:cNvPr>
          <p:cNvSpPr txBox="1"/>
          <p:nvPr/>
        </p:nvSpPr>
        <p:spPr>
          <a:xfrm>
            <a:off x="4129362" y="2885419"/>
            <a:ext cx="2264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>
                <a:solidFill>
                  <a:srgbClr val="FFD709"/>
                </a:solidFill>
              </a:rPr>
              <a:t>29.4%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50A48F3-5B20-B585-EA18-9DEA302EA1D2}"/>
              </a:ext>
            </a:extLst>
          </p:cNvPr>
          <p:cNvSpPr txBox="1"/>
          <p:nvPr/>
        </p:nvSpPr>
        <p:spPr>
          <a:xfrm>
            <a:off x="7330262" y="3618086"/>
            <a:ext cx="226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Conversion Lift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54A60E6-D859-74D3-DE18-58411F400A37}"/>
              </a:ext>
            </a:extLst>
          </p:cNvPr>
          <p:cNvSpPr txBox="1"/>
          <p:nvPr/>
        </p:nvSpPr>
        <p:spPr>
          <a:xfrm>
            <a:off x="7434764" y="2884107"/>
            <a:ext cx="2264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>
                <a:solidFill>
                  <a:srgbClr val="FFD709"/>
                </a:solidFill>
              </a:rPr>
              <a:t>1.8x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E9885B8-1520-D54B-BA18-D00B4BA14577}"/>
              </a:ext>
            </a:extLst>
          </p:cNvPr>
          <p:cNvSpPr txBox="1"/>
          <p:nvPr/>
        </p:nvSpPr>
        <p:spPr>
          <a:xfrm>
            <a:off x="771709" y="2899097"/>
            <a:ext cx="22642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>
                <a:solidFill>
                  <a:srgbClr val="FFD709"/>
                </a:solidFill>
              </a:rPr>
              <a:t>16.5%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6197A5-56F8-656B-88DB-64D6C9FEA8CF}"/>
              </a:ext>
            </a:extLst>
          </p:cNvPr>
          <p:cNvSpPr txBox="1"/>
          <p:nvPr/>
        </p:nvSpPr>
        <p:spPr>
          <a:xfrm>
            <a:off x="903014" y="3797501"/>
            <a:ext cx="200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Baseline Match Rate</a:t>
            </a:r>
          </a:p>
        </p:txBody>
      </p:sp>
    </p:spTree>
    <p:extLst>
      <p:ext uri="{BB962C8B-B14F-4D97-AF65-F5344CB8AC3E}">
        <p14:creationId xmlns:p14="http://schemas.microsoft.com/office/powerpoint/2010/main" val="4031928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D292-3DCC-9E13-13C8-BE0CA804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CB6CE-362C-75F3-D903-C0A91F3E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2A7E50-FBB3-584B-5BD8-2160DC906EFB}"/>
              </a:ext>
            </a:extLst>
          </p:cNvPr>
          <p:cNvSpPr txBox="1"/>
          <p:nvPr/>
        </p:nvSpPr>
        <p:spPr>
          <a:xfrm>
            <a:off x="3858768" y="268224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Interpretability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5528689-9D25-62F9-3618-90E48608F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47810"/>
              </p:ext>
            </p:extLst>
          </p:nvPr>
        </p:nvGraphicFramePr>
        <p:xfrm>
          <a:off x="665334" y="1873637"/>
          <a:ext cx="7667898" cy="465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414">
                  <a:extLst>
                    <a:ext uri="{9D8B030D-6E8A-4147-A177-3AD203B41FA5}">
                      <a16:colId xmlns:a16="http://schemas.microsoft.com/office/drawing/2014/main" val="3404129432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942561102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1925860890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3507323252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2327959456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3878819390"/>
                    </a:ext>
                  </a:extLst>
                </a:gridCol>
                <a:gridCol w="1095414">
                  <a:extLst>
                    <a:ext uri="{9D8B030D-6E8A-4147-A177-3AD203B41FA5}">
                      <a16:colId xmlns:a16="http://schemas.microsoft.com/office/drawing/2014/main" val="2189891220"/>
                    </a:ext>
                  </a:extLst>
                </a:gridCol>
              </a:tblGrid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Feature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Coefficient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Std. Error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P-value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Odds Ratio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Marginal Effect (%)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Scale / Step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412607"/>
                  </a:ext>
                </a:extLst>
              </a:tr>
              <a:tr h="95726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female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-0.3142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0.0365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&lt; 0.0001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0.7304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-13.74%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889244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self_race=Black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0.1124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0.0259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&lt; 0.0001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1.1190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+11.40%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303440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self_goal=rare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-0.0497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0.0260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0.0563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0.9515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-10.68%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509407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other_field=social work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-0.1145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0.0281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&lt; 0.0001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0.8918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-10.41%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28694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self_field=social science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0.1023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0.0297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0.0006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1.1077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+8.17%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55182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self_goal=relationship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0.0668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0.0254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0.0086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1.0691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+7.95%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25143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other_field=education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-0.0956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0.0297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0.0013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0.9088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-7.72%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251486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self_field=education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0.0832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0.0299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0.0055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1.0867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+6.97%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632160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other_goal=rare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0.0293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0.0512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0.5670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1.0297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+6.69%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17356"/>
                  </a:ext>
                </a:extLst>
              </a:tr>
              <a:tr h="95726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samefield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0.0914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0.0260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0.0004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1.0957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+6.32%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80857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self_race=White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-0.1387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0.0309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&lt; 0.0001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0.8705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-6.12%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777898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other_field=social science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-0.0745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0.0293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0.0111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0.9282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-5.77%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006040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other_race=rare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0.0219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0.0518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0.6727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1.0221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+5.59%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258314"/>
                  </a:ext>
                </a:extLst>
              </a:tr>
              <a:tr h="163719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other_field=business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0.1031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0.0349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0.0031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1.1086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+5.38%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208811"/>
                  </a:ext>
                </a:extLst>
              </a:tr>
              <a:tr h="120970"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other_race=Asian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-0.1018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0.0398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0.0106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0.9032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-5.19%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Aft>
                          <a:spcPts val="2400"/>
                        </a:spcAft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0 to 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Google Sans Text"/>
                      </a:endParaRPr>
                    </a:p>
                  </a:txBody>
                  <a:tcPr marL="46621" marR="46621" marT="31081" marB="3108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468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59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27A6-5BE1-DAF9-C6B2-20223C758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AF280-8C69-0C7B-CA1D-53F62C67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E5E96-DF7E-964E-86F9-B4534304C71E}"/>
              </a:ext>
            </a:extLst>
          </p:cNvPr>
          <p:cNvSpPr txBox="1"/>
          <p:nvPr/>
        </p:nvSpPr>
        <p:spPr>
          <a:xfrm>
            <a:off x="3858768" y="268224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Stability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341C41-BB27-1A5C-D7CD-F57B8C15A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11406"/>
              </p:ext>
            </p:extLst>
          </p:nvPr>
        </p:nvGraphicFramePr>
        <p:xfrm>
          <a:off x="838200" y="1743869"/>
          <a:ext cx="3159034" cy="6743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9517">
                  <a:extLst>
                    <a:ext uri="{9D8B030D-6E8A-4147-A177-3AD203B41FA5}">
                      <a16:colId xmlns:a16="http://schemas.microsoft.com/office/drawing/2014/main" val="2206994392"/>
                    </a:ext>
                  </a:extLst>
                </a:gridCol>
                <a:gridCol w="1579517">
                  <a:extLst>
                    <a:ext uri="{9D8B030D-6E8A-4147-A177-3AD203B41FA5}">
                      <a16:colId xmlns:a16="http://schemas.microsoft.com/office/drawing/2014/main" val="11809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975">
                          <a:effectLst/>
                        </a:rPr>
                        <a:t>Engine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975">
                          <a:effectLst/>
                        </a:rPr>
                        <a:t>Model instability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61727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975">
                          <a:effectLst/>
                        </a:rPr>
                        <a:t>Logistic regression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975">
                          <a:effectLst/>
                        </a:rPr>
                        <a:t>0.56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5520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 sz="975">
                          <a:effectLst/>
                        </a:rPr>
                        <a:t>XGBoost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 sz="975">
                          <a:effectLst/>
                        </a:rPr>
                        <a:t>0.30</a:t>
                      </a:r>
                      <a:endParaRPr lang="en-FR" sz="975" b="0" i="0">
                        <a:solidFill>
                          <a:srgbClr val="BFBFBF"/>
                        </a:solidFill>
                        <a:effectLst/>
                        <a:latin typeface="-apple-system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117593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1E0A31-B838-BE9A-EE20-DBF5DE887B4D}"/>
              </a:ext>
            </a:extLst>
          </p:cNvPr>
          <p:cNvSpPr txBox="1"/>
          <p:nvPr/>
        </p:nvSpPr>
        <p:spPr>
          <a:xfrm>
            <a:off x="529045" y="2784593"/>
            <a:ext cx="6100354" cy="128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Only around half of the top-decile shortlist is retained after retraining.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Logistic regression: 48% retained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XGBoost: 44% retained</a:t>
            </a:r>
          </a:p>
          <a:p>
            <a:pPr>
              <a:buNone/>
            </a:pPr>
            <a:br>
              <a:rPr lang="en-FR"/>
            </a:br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F8677-3722-291E-C8F1-8BE5C7DE762E}"/>
              </a:ext>
            </a:extLst>
          </p:cNvPr>
          <p:cNvSpPr txBox="1"/>
          <p:nvPr/>
        </p:nvSpPr>
        <p:spPr>
          <a:xfrm>
            <a:off x="741994" y="4985411"/>
            <a:ext cx="6100354" cy="95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Accuracy can remain stable while the exact recommendations change.</a:t>
            </a:r>
          </a:p>
          <a:p>
            <a:pPr>
              <a:buNone/>
            </a:pPr>
            <a:br>
              <a:rPr lang="en-FR"/>
            </a:br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526B4-5ADB-F604-CAF0-50523CD2B3F6}"/>
              </a:ext>
            </a:extLst>
          </p:cNvPr>
          <p:cNvSpPr txBox="1"/>
          <p:nvPr/>
        </p:nvSpPr>
        <p:spPr>
          <a:xfrm>
            <a:off x="6613747" y="1967022"/>
            <a:ext cx="6100354" cy="329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Leave-one-wave-out PR-AUC range: approximately 0.10 to 0.46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Wave size explains much of the variation.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Anchoring the model to the previous version improves PR-AUC from 0.287 to 0.312.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FR"/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FR" sz="975" b="0" i="0">
              <a:solidFill>
                <a:srgbClr val="BFBFBF"/>
              </a:solidFill>
              <a:effectLst/>
              <a:latin typeface="-apple-system"/>
            </a:endParaRPr>
          </a:p>
          <a:p>
            <a:r>
              <a:rPr lang="en-FR" sz="975">
                <a:solidFill>
                  <a:srgbClr val="BFBFBF"/>
                </a:solidFill>
                <a:latin typeface="-apple-system"/>
                <a:sym typeface="Wingdings" pitchFamily="2" charset="2"/>
              </a:rPr>
              <a:t> </a:t>
            </a:r>
            <a:r>
              <a:rPr lang="en-FR"/>
              <a:t>Retrain with a stability constraint rather than replacing the model completely at every update.</a:t>
            </a:r>
          </a:p>
          <a:p>
            <a:br>
              <a:rPr lang="en-FR" sz="1000"/>
            </a:br>
            <a:endParaRPr lang="en-FR" sz="975" b="0" i="0">
              <a:solidFill>
                <a:srgbClr val="BFBFBF"/>
              </a:solidFill>
              <a:effectLst/>
              <a:latin typeface="-apple-system"/>
            </a:endParaRP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FR" sz="975" b="0" i="0">
              <a:solidFill>
                <a:srgbClr val="BFBFB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1131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BECA-53A4-373F-0185-F09AA401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68799-3C1D-DA7B-D426-81DABEBFB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F4EC61-51AC-BDF8-F6E3-41D1CAC13D67}"/>
              </a:ext>
            </a:extLst>
          </p:cNvPr>
          <p:cNvSpPr txBox="1"/>
          <p:nvPr/>
        </p:nvSpPr>
        <p:spPr>
          <a:xfrm>
            <a:off x="3858768" y="268224"/>
            <a:ext cx="4474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Fairness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6685A-5779-D7E8-F8C0-A5848F13C4AC}"/>
              </a:ext>
            </a:extLst>
          </p:cNvPr>
          <p:cNvSpPr txBox="1"/>
          <p:nvPr/>
        </p:nvSpPr>
        <p:spPr>
          <a:xfrm>
            <a:off x="3045823" y="1037665"/>
            <a:ext cx="6100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FR" sz="1800" b="1" i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FR" sz="2000">
                <a:solidFill>
                  <a:srgbClr val="1E33C8"/>
                </a:solidFill>
                <a:latin typeface="Impact" panose="020B0806030902050204" pitchFamily="34" charset="0"/>
              </a:rPr>
              <a:t>Descriptive preference vs algorithmic impact</a:t>
            </a:r>
            <a:endParaRPr lang="en-FR" sz="4400">
              <a:solidFill>
                <a:srgbClr val="1E33C8"/>
              </a:solidFill>
              <a:latin typeface="Impact" panose="020B080603090205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E43B20-37B6-9A39-852A-A71D71307F70}"/>
              </a:ext>
            </a:extLst>
          </p:cNvPr>
          <p:cNvSpPr/>
          <p:nvPr/>
        </p:nvSpPr>
        <p:spPr>
          <a:xfrm>
            <a:off x="578685" y="2434508"/>
            <a:ext cx="5615287" cy="1133856"/>
          </a:xfrm>
          <a:prstGeom prst="roundRect">
            <a:avLst/>
          </a:prstGeom>
          <a:solidFill>
            <a:srgbClr val="FFD7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rgbClr val="1E33C8"/>
                </a:solidFill>
                <a:latin typeface="DIN Alternate" panose="020B0500000000000000" pitchFamily="34" charset="77"/>
              </a:rPr>
              <a:t>Observed user preferences ≠ algorithmic fairness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54D29-FABC-D0B0-5718-D025155EE498}"/>
              </a:ext>
            </a:extLst>
          </p:cNvPr>
          <p:cNvSpPr txBox="1"/>
          <p:nvPr/>
        </p:nvSpPr>
        <p:spPr>
          <a:xfrm>
            <a:off x="686672" y="4073408"/>
            <a:ext cx="6100354" cy="128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Asian participants appear in 5.8% of shown pairs versus 11.3% for others.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Among actual matches, 10.5% of Asian pairs are surfaced versus 20.1% for others.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Four out of six tested gaps remain after conditioning on relevant variables.</a:t>
            </a:r>
          </a:p>
          <a:p>
            <a:pPr>
              <a:buNone/>
            </a:pPr>
            <a:br>
              <a:rPr lang="en-FR"/>
            </a:br>
            <a:endParaRPr lang="en-FR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8BF3CE1-05E2-52D4-F006-7A89D4605C9B}"/>
              </a:ext>
            </a:extLst>
          </p:cNvPr>
          <p:cNvSpPr/>
          <p:nvPr/>
        </p:nvSpPr>
        <p:spPr>
          <a:xfrm>
            <a:off x="7379974" y="3892923"/>
            <a:ext cx="795647" cy="360970"/>
          </a:xfrm>
          <a:prstGeom prst="rightArrow">
            <a:avLst/>
          </a:prstGeom>
          <a:solidFill>
            <a:srgbClr val="FFD709"/>
          </a:solidFill>
          <a:ln>
            <a:solidFill>
              <a:srgbClr val="FFD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0B8AF-BB84-0D84-C884-CE4BA2010AEB}"/>
              </a:ext>
            </a:extLst>
          </p:cNvPr>
          <p:cNvSpPr txBox="1"/>
          <p:nvPr/>
        </p:nvSpPr>
        <p:spPr>
          <a:xfrm>
            <a:off x="8489986" y="3693767"/>
            <a:ext cx="31555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The question is not whether users have preferences. The question is whether the engine amplifies them.</a:t>
            </a:r>
            <a:endParaRPr lang="en-FR"/>
          </a:p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5259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83AC-FAE1-6E5C-B2A4-3F7C288D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83D7B-FED8-4521-7052-5A8103B6F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A1975-9C01-A9BF-2E0D-67D1C8F182A4}"/>
              </a:ext>
            </a:extLst>
          </p:cNvPr>
          <p:cNvSpPr txBox="1"/>
          <p:nvPr/>
        </p:nvSpPr>
        <p:spPr>
          <a:xfrm>
            <a:off x="2341276" y="294350"/>
            <a:ext cx="7509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4400">
                <a:solidFill>
                  <a:srgbClr val="1E33C8"/>
                </a:solidFill>
                <a:latin typeface="Impact" panose="020B0806030902050204" pitchFamily="34" charset="0"/>
              </a:rPr>
              <a:t>Measuring amplification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6C42C-BD41-81B5-4C55-BAED65CFD134}"/>
              </a:ext>
            </a:extLst>
          </p:cNvPr>
          <p:cNvSpPr txBox="1"/>
          <p:nvPr/>
        </p:nvSpPr>
        <p:spPr>
          <a:xfrm>
            <a:off x="489857" y="1531264"/>
            <a:ext cx="610035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Amplification = share of same-background pairs shown ÷ share of same-background pairs that actually matched</a:t>
            </a:r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15C7F-F0F9-D634-DA17-194DA875716F}"/>
              </a:ext>
            </a:extLst>
          </p:cNvPr>
          <p:cNvSpPr txBox="1"/>
          <p:nvPr/>
        </p:nvSpPr>
        <p:spPr>
          <a:xfrm>
            <a:off x="359228" y="2378000"/>
            <a:ext cx="6100354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Same-background share among actual matches: 41%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Same-background share among recommendations: 48%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Amplification ratio: 1.16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95% confidence interval: [1.03, 1.30]</a:t>
            </a:r>
          </a:p>
          <a:p>
            <a:pPr>
              <a:buNone/>
            </a:pPr>
            <a:br>
              <a:rPr lang="en-FR"/>
            </a:br>
            <a:endParaRPr lang="en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54FD8-0384-3DC0-C5EE-4BA724EEA8D8}"/>
              </a:ext>
            </a:extLst>
          </p:cNvPr>
          <p:cNvSpPr txBox="1"/>
          <p:nvPr/>
        </p:nvSpPr>
        <p:spPr>
          <a:xfrm>
            <a:off x="6342017" y="1394326"/>
            <a:ext cx="6100354" cy="95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FR" sz="1800" b="1" i="0">
                <a:solidFill>
                  <a:schemeClr val="tx1"/>
                </a:solidFill>
                <a:effectLst/>
                <a:latin typeface="+mn-lt"/>
              </a:rPr>
              <a:t>The engine did not create the preference, but it amplified it.</a:t>
            </a:r>
            <a:endParaRPr lang="en-FR" sz="1800" b="0" i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FR"/>
            </a:br>
            <a:endParaRPr lang="en-FR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B8BC1E-8A18-8B5A-DE75-F214FED9D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009683"/>
              </p:ext>
            </p:extLst>
          </p:nvPr>
        </p:nvGraphicFramePr>
        <p:xfrm>
          <a:off x="8052163" y="1892766"/>
          <a:ext cx="3907972" cy="140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3986">
                  <a:extLst>
                    <a:ext uri="{9D8B030D-6E8A-4147-A177-3AD203B41FA5}">
                      <a16:colId xmlns:a16="http://schemas.microsoft.com/office/drawing/2014/main" val="425649210"/>
                    </a:ext>
                  </a:extLst>
                </a:gridCol>
                <a:gridCol w="1953986">
                  <a:extLst>
                    <a:ext uri="{9D8B030D-6E8A-4147-A177-3AD203B41FA5}">
                      <a16:colId xmlns:a16="http://schemas.microsoft.com/office/drawing/2014/main" val="3129881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Engine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Amplification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73755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XGBoost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1.01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9308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Logistic regression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1.16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86182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TabPFN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1.27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761042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E82E42-1C5B-3DFD-5B2F-686389755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30877"/>
              </p:ext>
            </p:extLst>
          </p:nvPr>
        </p:nvGraphicFramePr>
        <p:xfrm>
          <a:off x="5361215" y="3593632"/>
          <a:ext cx="6598920" cy="2301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1967793688"/>
                    </a:ext>
                  </a:extLst>
                </a:gridCol>
                <a:gridCol w="2199640">
                  <a:extLst>
                    <a:ext uri="{9D8B030D-6E8A-4147-A177-3AD203B41FA5}">
                      <a16:colId xmlns:a16="http://schemas.microsoft.com/office/drawing/2014/main" val="1541142715"/>
                    </a:ext>
                  </a:extLst>
                </a:gridCol>
                <a:gridCol w="2199640">
                  <a:extLst>
                    <a:ext uri="{9D8B030D-6E8A-4147-A177-3AD203B41FA5}">
                      <a16:colId xmlns:a16="http://schemas.microsoft.com/office/drawing/2014/main" val="3887293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Variant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Amplification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Top-decile match rate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5557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Full model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1.16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29.8%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92015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Without ethnicity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1.35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25.1%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5404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Ethnicity neutralised at prediction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1.57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24.8%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9640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FR">
                          <a:effectLst/>
                        </a:rPr>
                        <a:t>Full unawareness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1.07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FR">
                          <a:effectLst/>
                        </a:rPr>
                        <a:t>24.8%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9649132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0C8A5C-58C6-B5E9-70E3-D30DB185403E}"/>
              </a:ext>
            </a:extLst>
          </p:cNvPr>
          <p:cNvSpPr txBox="1"/>
          <p:nvPr/>
        </p:nvSpPr>
        <p:spPr>
          <a:xfrm>
            <a:off x="111035" y="5326736"/>
            <a:ext cx="81316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Removing ethnicity alone can make the outcome less fair, because proxy variables remain.</a:t>
            </a:r>
          </a:p>
          <a:p>
            <a:endParaRPr lang="en-FR"/>
          </a:p>
          <a:p>
            <a:r>
              <a:rPr lang="en-FR">
                <a:sym typeface="Wingdings" pitchFamily="2" charset="2"/>
              </a:rPr>
              <a:t> </a:t>
            </a:r>
            <a:r>
              <a:rPr lang="en-FR"/>
              <a:t>A less amplifying recommendation policy costs approximately 50 matches per 1,000 recommendations.</a:t>
            </a:r>
          </a:p>
          <a:p>
            <a:br>
              <a:rPr lang="en-FR"/>
            </a:b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75148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8B3FC-3D64-4A19-5078-A0442A3A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2C8A5A-0E4D-992A-C396-0A020F45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B1097A-C2A6-782B-54F8-D566A9F42F67}"/>
              </a:ext>
            </a:extLst>
          </p:cNvPr>
          <p:cNvSpPr txBox="1"/>
          <p:nvPr/>
        </p:nvSpPr>
        <p:spPr>
          <a:xfrm>
            <a:off x="2341276" y="294350"/>
            <a:ext cx="7509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Recommendation to the client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B5C59-20A4-1760-AB47-25A2E665A4BA}"/>
              </a:ext>
            </a:extLst>
          </p:cNvPr>
          <p:cNvSpPr txBox="1"/>
          <p:nvPr/>
        </p:nvSpPr>
        <p:spPr>
          <a:xfrm>
            <a:off x="2815045" y="1255258"/>
            <a:ext cx="610035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Deploy the two-stage lasso logistic regression as the transparent baseline.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Anchor retraining to the previous model to reduce model drift.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Use XGBoost as a serious alternative if fairness is prioritised above interpretability.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Do not remove ethnicity blindly; monitor proxy effects instead.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Let the client choose the shortlist length based on the business value of a match.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Collect user interaction data to improve cold-start recommendations.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FR" sz="1800" b="0" i="0">
                <a:solidFill>
                  <a:schemeClr val="tx1"/>
                </a:solidFill>
                <a:effectLst/>
                <a:latin typeface="+mn-lt"/>
              </a:rPr>
              <a:t>Re-run fairness tests as the user base grows.</a:t>
            </a:r>
          </a:p>
          <a:p>
            <a:pPr marL="342900" marR="0" lvl="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FR"/>
          </a:p>
          <a:p>
            <a:pPr marR="0" lvl="0" algn="l">
              <a:spcBef>
                <a:spcPts val="300"/>
              </a:spcBef>
              <a:spcAft>
                <a:spcPts val="300"/>
              </a:spcAft>
            </a:pPr>
            <a:r>
              <a:rPr lang="en-GB">
                <a:solidFill>
                  <a:srgbClr val="1E33C8"/>
                </a:solidFill>
                <a:latin typeface="Impact" panose="020B0806030902050204" pitchFamily="34" charset="0"/>
              </a:rPr>
              <a:t>P</a:t>
            </a:r>
            <a:r>
              <a:rPr lang="en-FR">
                <a:solidFill>
                  <a:srgbClr val="1E33C8"/>
                </a:solidFill>
                <a:latin typeface="Impact" panose="020B0806030902050204" pitchFamily="34" charset="0"/>
              </a:rPr>
              <a:t>as convaincu de cette slide de claude</a:t>
            </a:r>
          </a:p>
        </p:txBody>
      </p:sp>
    </p:spTree>
    <p:extLst>
      <p:ext uri="{BB962C8B-B14F-4D97-AF65-F5344CB8AC3E}">
        <p14:creationId xmlns:p14="http://schemas.microsoft.com/office/powerpoint/2010/main" val="173765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FA0D5-7D34-B388-2CDB-5CC45678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9C597-185B-8AC7-9F92-CD59B298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6" y="6193658"/>
            <a:ext cx="823784" cy="664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B1CA9-6289-6A32-4375-E1CA8814DC40}"/>
              </a:ext>
            </a:extLst>
          </p:cNvPr>
          <p:cNvSpPr txBox="1"/>
          <p:nvPr/>
        </p:nvSpPr>
        <p:spPr>
          <a:xfrm>
            <a:off x="2341276" y="294350"/>
            <a:ext cx="7509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>
                <a:solidFill>
                  <a:srgbClr val="1E33C8"/>
                </a:solidFill>
                <a:latin typeface="Impact" panose="020B0806030902050204" pitchFamily="34" charset="0"/>
              </a:rPr>
              <a:t>How the client can test the model</a:t>
            </a:r>
          </a:p>
        </p:txBody>
      </p:sp>
    </p:spTree>
    <p:extLst>
      <p:ext uri="{BB962C8B-B14F-4D97-AF65-F5344CB8AC3E}">
        <p14:creationId xmlns:p14="http://schemas.microsoft.com/office/powerpoint/2010/main" val="91081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Macintosh PowerPoint</Application>
  <PresentationFormat>Grand écran</PresentationFormat>
  <Paragraphs>297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-apple-system</vt:lpstr>
      <vt:lpstr>Aptos</vt:lpstr>
      <vt:lpstr>Aptos Display</vt:lpstr>
      <vt:lpstr>Arial</vt:lpstr>
      <vt:lpstr>DIN Alternate</vt:lpstr>
      <vt:lpstr>Google Sans Text</vt:lpstr>
      <vt:lpstr>Impact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Ithier D'ARAMON</dc:creator>
  <cp:lastModifiedBy>Justin MARTIN</cp:lastModifiedBy>
  <cp:revision>2</cp:revision>
  <dcterms:created xsi:type="dcterms:W3CDTF">2026-09-22T14:35:45Z</dcterms:created>
  <dcterms:modified xsi:type="dcterms:W3CDTF">2026-09-27T15:22:06Z</dcterms:modified>
</cp:coreProperties>
</file>